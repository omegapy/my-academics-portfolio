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Types>
</file>

<file path=_rels/.rels><?xml version='1.0' encoding='utf-8'?>
<Relationships xmlns="http://schemas.openxmlformats.org/package/2006/relationships"><Relationship Id="rId3"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68" r:id="rId4"/>
    <p:sldId id="260" r:id="rId5"/>
    <p:sldId id="261" r:id="rId6"/>
    <p:sldId id="262" r:id="rId7"/>
    <p:sldId id="263" r:id="rId8"/>
    <p:sldId id="264" r:id="rId9"/>
    <p:sldId id="265" r:id="rId10"/>
    <p:sldId id="270"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57539" autoAdjust="0"/>
  </p:normalViewPr>
  <p:slideViewPr>
    <p:cSldViewPr snapToGrid="0">
      <p:cViewPr varScale="1">
        <p:scale>
          <a:sx n="34" d="100"/>
          <a:sy n="34" d="100"/>
        </p:scale>
        <p:origin x="1392"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8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a:t>
            </a:r>
            <a:endParaRPr lang="en-US" dirty="0"/>
          </a:p>
          <a:p>
            <a:endParaRPr lang="en-US" dirty="0"/>
          </a:p>
          <a:p>
            <a:r>
              <a:rPr lang="en-US" dirty="0"/>
              <a:t>In this presentation, we are going to visit the </a:t>
            </a:r>
            <a:r>
              <a:rPr dirty="0"/>
              <a:t>main ethical and risk issues</a:t>
            </a:r>
            <a:r>
              <a:rPr lang="en-US" dirty="0"/>
              <a:t> associated with the </a:t>
            </a:r>
            <a:r>
              <a:rPr dirty="0"/>
              <a:t>use </a:t>
            </a:r>
            <a:r>
              <a:rPr lang="en-US" dirty="0"/>
              <a:t>of </a:t>
            </a:r>
            <a:r>
              <a:rPr dirty="0"/>
              <a:t>drones together with GIS (and, increasingly, AI-based analysis). </a:t>
            </a:r>
            <a:br>
              <a:rPr lang="en-US" dirty="0"/>
            </a:br>
            <a:r>
              <a:rPr dirty="0"/>
              <a:t>The </a:t>
            </a:r>
            <a:r>
              <a:rPr lang="en-US" dirty="0"/>
              <a:t>objective</a:t>
            </a:r>
            <a:r>
              <a:rPr dirty="0"/>
              <a:t> is to </a:t>
            </a:r>
            <a:r>
              <a:rPr lang="en-US" dirty="0"/>
              <a:t>inform you, the leadership of this great organization, to </a:t>
            </a:r>
            <a:r>
              <a:rPr dirty="0"/>
              <a:t>make informed decisions about </a:t>
            </a:r>
            <a:r>
              <a:rPr lang="en-US" dirty="0"/>
              <a:t>the </a:t>
            </a:r>
            <a:r>
              <a:rPr dirty="0"/>
              <a:t>deployment, governance, and security controls </a:t>
            </a:r>
            <a:r>
              <a:rPr lang="en-US" dirty="0"/>
              <a:t>related to drone usage for GIS purposes</a:t>
            </a:r>
            <a:r>
              <a:rPr dirty="0"/>
              <a:t>.</a:t>
            </a:r>
            <a:endParaRPr lang="en-US" dirty="0"/>
          </a:p>
          <a:p>
            <a:endParaRPr lang="en-US" dirty="0"/>
          </a:p>
          <a:p>
            <a:r>
              <a:rPr lang="en-US" dirty="0"/>
              <a:t>This presentation focuses</a:t>
            </a:r>
            <a:r>
              <a:rPr dirty="0"/>
              <a:t> on four areas: </a:t>
            </a:r>
            <a:endParaRPr lang="en-US" dirty="0"/>
          </a:p>
          <a:p>
            <a:pPr marL="171450" indent="-171450">
              <a:buFont typeface="Arial" panose="020B0604020202020204" pitchFamily="34" charset="0"/>
              <a:buChar char="•"/>
            </a:pPr>
            <a:r>
              <a:rPr dirty="0"/>
              <a:t>privacy/surveillance</a:t>
            </a:r>
            <a:r>
              <a:rPr lang="en-US" dirty="0"/>
              <a:t>.</a:t>
            </a:r>
          </a:p>
          <a:p>
            <a:pPr marL="171450" indent="-171450">
              <a:buFont typeface="Arial" panose="020B0604020202020204" pitchFamily="34" charset="0"/>
              <a:buChar char="•"/>
            </a:pPr>
            <a:r>
              <a:rPr dirty="0"/>
              <a:t>safety and environmental impact</a:t>
            </a:r>
            <a:r>
              <a:rPr lang="en-US" dirty="0"/>
              <a:t>.</a:t>
            </a:r>
          </a:p>
          <a:p>
            <a:pPr marL="171450" indent="-171450">
              <a:buFont typeface="Arial" panose="020B0604020202020204" pitchFamily="34" charset="0"/>
              <a:buChar char="•"/>
            </a:pPr>
            <a:r>
              <a:rPr dirty="0"/>
              <a:t>data security and integrity</a:t>
            </a:r>
            <a:r>
              <a:rPr lang="en-US" dirty="0"/>
              <a:t>.</a:t>
            </a:r>
          </a:p>
          <a:p>
            <a:pPr marL="171450" indent="-171450">
              <a:buFont typeface="Arial" panose="020B0604020202020204" pitchFamily="34" charset="0"/>
              <a:buChar char="•"/>
            </a:pPr>
            <a:r>
              <a:rPr dirty="0"/>
              <a:t>equity/justice</a:t>
            </a:r>
            <a:r>
              <a:rPr lang="en-US" dirty="0"/>
              <a:t>.</a:t>
            </a:r>
          </a:p>
          <a:p>
            <a:endParaRPr lang="en-US" dirty="0"/>
          </a:p>
          <a:p>
            <a:r>
              <a:rPr lang="en-US" dirty="0"/>
              <a:t>Then it describes </a:t>
            </a:r>
            <a:r>
              <a:rPr dirty="0"/>
              <a:t>guardrails</a:t>
            </a:r>
            <a:r>
              <a:rPr lang="en-US" dirty="0"/>
              <a:t> to mitigate harm and ensure the ethical use of the geospatial data collected using drones</a:t>
            </a:r>
            <a:r>
              <a:rPr dirty="0"/>
              <a:t>: </a:t>
            </a:r>
            <a:endParaRPr lang="en-US" dirty="0"/>
          </a:p>
          <a:p>
            <a:pPr marL="171450" indent="-171450">
              <a:buFont typeface="Arial" panose="020B0604020202020204" pitchFamily="34" charset="0"/>
              <a:buChar char="•"/>
            </a:pPr>
            <a:r>
              <a:rPr dirty="0"/>
              <a:t>what data to minimize</a:t>
            </a:r>
            <a:r>
              <a:rPr lang="en-US" dirty="0"/>
              <a:t>.</a:t>
            </a:r>
            <a:r>
              <a:rPr dirty="0"/>
              <a:t> </a:t>
            </a:r>
            <a:endParaRPr lang="en-US" dirty="0"/>
          </a:p>
          <a:p>
            <a:pPr marL="171450" indent="-171450">
              <a:buFont typeface="Arial" panose="020B0604020202020204" pitchFamily="34" charset="0"/>
              <a:buChar char="•"/>
            </a:pPr>
            <a:r>
              <a:rPr dirty="0"/>
              <a:t>how abuse can happen</a:t>
            </a:r>
            <a:r>
              <a:rPr lang="en-US" dirty="0"/>
              <a:t>.</a:t>
            </a:r>
            <a:r>
              <a:rPr dirty="0"/>
              <a:t> </a:t>
            </a:r>
            <a:endParaRPr lang="en-US" dirty="0"/>
          </a:p>
          <a:p>
            <a:pPr marL="171450" indent="-171450">
              <a:buFont typeface="Arial" panose="020B0604020202020204" pitchFamily="34" charset="0"/>
              <a:buChar char="•"/>
            </a:pPr>
            <a:r>
              <a:rPr dirty="0"/>
              <a:t>how </a:t>
            </a:r>
            <a:r>
              <a:rPr lang="en-US" dirty="0"/>
              <a:t>the organization</a:t>
            </a:r>
            <a:r>
              <a:rPr dirty="0"/>
              <a:t> should think about public access to publicly funded data</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are going to visit the content of this presentation following the following set of topics: (read the slide content list) </a:t>
            </a:r>
          </a:p>
          <a:p>
            <a:r>
              <a:rPr lang="en-US" dirty="0"/>
              <a:t>More broadly: </a:t>
            </a:r>
          </a:p>
          <a:p>
            <a:pPr marL="171450" indent="-171450">
              <a:buFont typeface="Arial" panose="020B0604020202020204" pitchFamily="34" charset="0"/>
              <a:buChar char="•"/>
            </a:pPr>
            <a:r>
              <a:rPr lang="en-US" dirty="0"/>
              <a:t>Topics 1</a:t>
            </a:r>
            <a:r>
              <a:rPr dirty="0"/>
              <a:t> through </a:t>
            </a:r>
            <a:r>
              <a:rPr lang="en-US" dirty="0"/>
              <a:t>5</a:t>
            </a:r>
            <a:r>
              <a:rPr dirty="0"/>
              <a:t> explain the four major risk categories and why</a:t>
            </a:r>
            <a:r>
              <a:rPr lang="en-US" dirty="0"/>
              <a:t> and how</a:t>
            </a:r>
            <a:r>
              <a:rPr dirty="0"/>
              <a:t> they matter to our organization. </a:t>
            </a:r>
            <a:endParaRPr lang="en-US" dirty="0"/>
          </a:p>
          <a:p>
            <a:pPr marL="171450" indent="-171450">
              <a:buFont typeface="Arial" panose="020B0604020202020204" pitchFamily="34" charset="0"/>
              <a:buChar char="•"/>
            </a:pPr>
            <a:r>
              <a:rPr lang="en-US" dirty="0"/>
              <a:t>Topic 6</a:t>
            </a:r>
            <a:r>
              <a:rPr dirty="0"/>
              <a:t> lists the types of data we should avoid collecting because they </a:t>
            </a:r>
            <a:r>
              <a:rPr lang="en-US" dirty="0"/>
              <a:t>are they have the </a:t>
            </a:r>
            <a:r>
              <a:rPr dirty="0"/>
              <a:t>highest risk</a:t>
            </a:r>
            <a:r>
              <a:rPr lang="en-US" dirty="0"/>
              <a:t> […]</a:t>
            </a:r>
            <a:r>
              <a:rPr dirty="0"/>
              <a:t>. </a:t>
            </a:r>
            <a:endParaRPr lang="en-US" dirty="0"/>
          </a:p>
          <a:p>
            <a:pPr marL="171450" indent="-171450">
              <a:buFont typeface="Arial" panose="020B0604020202020204" pitchFamily="34" charset="0"/>
              <a:buChar char="•"/>
            </a:pPr>
            <a:r>
              <a:rPr lang="en-US" dirty="0"/>
              <a:t>Topic</a:t>
            </a:r>
            <a:r>
              <a:rPr dirty="0"/>
              <a:t> </a:t>
            </a:r>
            <a:r>
              <a:rPr lang="en-US" dirty="0"/>
              <a:t>7 proposes</a:t>
            </a:r>
            <a:r>
              <a:rPr dirty="0"/>
              <a:t> a leadership policy decision</a:t>
            </a:r>
            <a:r>
              <a:rPr lang="en-US" dirty="0"/>
              <a:t> balancing the trade-offs between transparency and security</a:t>
            </a:r>
            <a:r>
              <a:rPr dirty="0"/>
              <a:t>: </a:t>
            </a:r>
            <a:endParaRPr lang="en-US" dirty="0"/>
          </a:p>
          <a:p>
            <a:pPr marL="628650" lvl="1" indent="-171450">
              <a:buFont typeface="Arial" panose="020B0604020202020204" pitchFamily="34" charset="0"/>
              <a:buChar char="•"/>
            </a:pPr>
            <a:r>
              <a:rPr dirty="0"/>
              <a:t>when data is publicly funded</a:t>
            </a:r>
            <a:r>
              <a:rPr lang="en-US" dirty="0"/>
              <a:t>.</a:t>
            </a:r>
            <a:r>
              <a:rPr dirty="0"/>
              <a:t> </a:t>
            </a:r>
            <a:endParaRPr lang="en-US" dirty="0"/>
          </a:p>
          <a:p>
            <a:pPr marL="628650" lvl="1" indent="-171450">
              <a:buFont typeface="Arial" panose="020B0604020202020204" pitchFamily="34" charset="0"/>
              <a:buChar char="•"/>
            </a:pPr>
            <a:r>
              <a:rPr lang="en-US" dirty="0"/>
              <a:t>Determining how</a:t>
            </a:r>
            <a:r>
              <a:rPr dirty="0"/>
              <a:t> open </a:t>
            </a:r>
            <a:r>
              <a:rPr lang="en-US" dirty="0"/>
              <a:t>and who </a:t>
            </a:r>
            <a:r>
              <a:rPr dirty="0"/>
              <a:t>should </a:t>
            </a:r>
            <a:r>
              <a:rPr lang="en-US" dirty="0"/>
              <a:t>have </a:t>
            </a:r>
            <a:r>
              <a:rPr dirty="0"/>
              <a:t>access </a:t>
            </a:r>
            <a:r>
              <a:rPr lang="en-US" dirty="0"/>
              <a:t>to geospatial datasets, by recognizing that widespread access</a:t>
            </a:r>
            <a:r>
              <a:rPr dirty="0"/>
              <a:t> can increase privacy, safety, and misuse risks</a:t>
            </a:r>
            <a:r>
              <a:rPr lang="en-US" dirty="0"/>
              <a:t>.</a:t>
            </a:r>
            <a:br>
              <a:rPr lang="en-US" dirty="0"/>
            </a:br>
            <a:endParaRPr lang="en-US" dirty="0"/>
          </a:p>
          <a:p>
            <a:pPr marL="0" indent="0">
              <a:buFont typeface="Arial" panose="020B0604020202020204" pitchFamily="34" charset="0"/>
              <a:buNone/>
            </a:pPr>
            <a:r>
              <a:rPr dirty="0"/>
              <a:t>As we go, listen for the concrete actions we can take: </a:t>
            </a:r>
            <a:endParaRPr lang="en-US" dirty="0"/>
          </a:p>
          <a:p>
            <a:pPr marL="171450" indent="-171450">
              <a:buFontTx/>
              <a:buChar char="-"/>
            </a:pPr>
            <a:r>
              <a:rPr dirty="0"/>
              <a:t>training and flight procedures, a security baseline for the drone stack</a:t>
            </a:r>
            <a:endParaRPr lang="en-US" dirty="0"/>
          </a:p>
          <a:p>
            <a:pPr marL="171450" indent="-171450">
              <a:buFontTx/>
              <a:buChar char="-"/>
            </a:pPr>
            <a:r>
              <a:rPr dirty="0"/>
              <a:t>and a data-governance policy that defines ownership</a:t>
            </a:r>
            <a:endParaRPr lang="en-US" dirty="0"/>
          </a:p>
          <a:p>
            <a:pPr marL="171450" indent="-171450">
              <a:buFontTx/>
              <a:buChar char="-"/>
            </a:pPr>
            <a:r>
              <a:rPr dirty="0"/>
              <a:t>retention, and access.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a:t>
            </a:r>
            <a:r>
              <a:rPr dirty="0"/>
              <a:t>rone-based GIS </a:t>
            </a:r>
            <a:r>
              <a:rPr lang="en-US" dirty="0"/>
              <a:t>has </a:t>
            </a:r>
            <a:r>
              <a:rPr dirty="0"/>
              <a:t>operational </a:t>
            </a:r>
            <a:r>
              <a:rPr lang="en-US" dirty="0"/>
              <a:t>benefits, such as providing </a:t>
            </a:r>
            <a:r>
              <a:rPr dirty="0"/>
              <a:t>high-resolution real-time data that supports planning, monitoring, and decision-making. </a:t>
            </a:r>
            <a:endParaRPr lang="en-US" dirty="0"/>
          </a:p>
          <a:p>
            <a:endParaRPr lang="en-US" dirty="0"/>
          </a:p>
          <a:p>
            <a:r>
              <a:rPr lang="en-US" dirty="0"/>
              <a:t>However,</a:t>
            </a:r>
            <a:r>
              <a:rPr dirty="0"/>
              <a:t> </a:t>
            </a:r>
            <a:r>
              <a:rPr lang="en-US" dirty="0"/>
              <a:t>this </a:t>
            </a:r>
            <a:r>
              <a:rPr dirty="0"/>
              <a:t>capability </a:t>
            </a:r>
            <a:r>
              <a:rPr lang="en-US" dirty="0"/>
              <a:t>of collecting high-resolution real-time data can also unintentionally gather</a:t>
            </a:r>
            <a:r>
              <a:rPr dirty="0"/>
              <a:t> personal data</a:t>
            </a:r>
            <a:r>
              <a:rPr lang="en-US" dirty="0"/>
              <a:t> in the form of </a:t>
            </a:r>
            <a:r>
              <a:rPr dirty="0"/>
              <a:t>faces, license plates, or activities on private property</a:t>
            </a:r>
            <a:r>
              <a:rPr lang="en-US" dirty="0"/>
              <a:t>. Moreover, the individuals affected often do not realize it happened.</a:t>
            </a:r>
          </a:p>
          <a:p>
            <a:endParaRPr lang="en-US" dirty="0"/>
          </a:p>
          <a:p>
            <a:r>
              <a:rPr lang="en-US" dirty="0"/>
              <a:t>This issue can be described as a ubiquitous observation issue. An ubiquitous observation can be defined as the ability of individuals or organizations to collect property and people data from angles or perspectives that were previously impossible, without providing clear notification to the individuals affected.</a:t>
            </a:r>
          </a:p>
          <a:p>
            <a:r>
              <a:rPr lang="en-US" dirty="0"/>
              <a:t>Resnik and Elliott (2019) explain that aerial data collection, such as that done by drones, can raise consent and privacy concerns, especially when people are identifiable or when the data could be repurposed later (Resnik &amp; Elliott, 2019). </a:t>
            </a:r>
          </a:p>
          <a:p>
            <a:r>
              <a:rPr lang="en-US" dirty="0"/>
              <a:t>Finn and Wright (2016) emphasize the importance of organizations establishing privacy and data-protection policies for drone operations, ensuring collection transparency, and limiting unnecessary data access.</a:t>
            </a:r>
          </a:p>
          <a:p>
            <a:br>
              <a:rPr dirty="0"/>
            </a:br>
            <a:r>
              <a:rPr dirty="0"/>
              <a:t>Ethically, </a:t>
            </a:r>
            <a:r>
              <a:rPr lang="en-US" dirty="0"/>
              <a:t>for our organization, </a:t>
            </a:r>
            <a:r>
              <a:rPr dirty="0"/>
              <a:t>this is </a:t>
            </a:r>
            <a:r>
              <a:rPr lang="en-US" dirty="0"/>
              <a:t>an issue that </a:t>
            </a:r>
            <a:r>
              <a:rPr dirty="0"/>
              <a:t>we need to </a:t>
            </a:r>
            <a:r>
              <a:rPr lang="en-US" dirty="0"/>
              <a:t>address by </a:t>
            </a:r>
            <a:r>
              <a:rPr dirty="0"/>
              <a:t>protecting individual rights</a:t>
            </a:r>
            <a:r>
              <a:rPr lang="en-US" dirty="0"/>
              <a:t> without minimizing the public and organizational value of the geospatial data collected.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Moreover, as we increase our reliance on AI systems to collect and analyze geospatial data, we must implement ethical guardrails for AI automated analysis and decision-making (Oluoch, 2024).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key idea of the “Privacy &amp; Surveillance” topic illustrated on this slide is that the </a:t>
            </a:r>
            <a:r>
              <a:rPr dirty="0"/>
              <a:t>privacy risk often comes from how easy it is to capture and share data at scale. </a:t>
            </a:r>
            <a:endParaRPr lang="en-US" dirty="0"/>
          </a:p>
          <a:p>
            <a:r>
              <a:rPr lang="en-US" dirty="0"/>
              <a:t>Drones often record data that extends beyond the original data collection intent.</a:t>
            </a:r>
            <a:br>
              <a:rPr lang="en-US" dirty="0"/>
            </a:br>
            <a:r>
              <a:rPr lang="en-US" dirty="0"/>
              <a:t>For example, collecting data from</a:t>
            </a:r>
            <a:r>
              <a:rPr dirty="0"/>
              <a:t>: </a:t>
            </a:r>
            <a:endParaRPr lang="en-US" dirty="0"/>
          </a:p>
          <a:p>
            <a:pPr marL="171450" indent="-171450">
              <a:buFont typeface="Arial" panose="020B0604020202020204" pitchFamily="34" charset="0"/>
              <a:buChar char="•"/>
            </a:pPr>
            <a:r>
              <a:rPr dirty="0"/>
              <a:t>nearby backyards</a:t>
            </a:r>
            <a:r>
              <a:rPr lang="en-US" dirty="0"/>
              <a:t>.</a:t>
            </a:r>
          </a:p>
          <a:p>
            <a:pPr marL="171450" indent="-171450">
              <a:buFont typeface="Arial" panose="020B0604020202020204" pitchFamily="34" charset="0"/>
              <a:buChar char="•"/>
            </a:pPr>
            <a:r>
              <a:rPr lang="en-US" dirty="0"/>
              <a:t>through w</a:t>
            </a:r>
            <a:r>
              <a:rPr dirty="0"/>
              <a:t>indows</a:t>
            </a:r>
            <a:r>
              <a:rPr lang="en-US" dirty="0"/>
              <a:t>. </a:t>
            </a:r>
          </a:p>
          <a:p>
            <a:pPr marL="171450" indent="-171450">
              <a:buFont typeface="Arial" panose="020B0604020202020204" pitchFamily="34" charset="0"/>
              <a:buChar char="•"/>
            </a:pPr>
            <a:r>
              <a:rPr lang="en-US" dirty="0"/>
              <a:t> bystanders’ locations and behaviors</a:t>
            </a:r>
            <a:r>
              <a:rPr dirty="0"/>
              <a:t>. </a:t>
            </a:r>
            <a:endParaRPr lang="en-US" dirty="0"/>
          </a:p>
          <a:p>
            <a:r>
              <a:rPr lang="en-US" dirty="0"/>
              <a:t>This highlights that even</a:t>
            </a:r>
            <a:r>
              <a:rPr dirty="0"/>
              <a:t> when the purpose </a:t>
            </a:r>
            <a:r>
              <a:rPr lang="en-US" dirty="0"/>
              <a:t>of collecting aerial data </a:t>
            </a:r>
            <a:r>
              <a:rPr dirty="0"/>
              <a:t>is legitimate, it </a:t>
            </a:r>
            <a:r>
              <a:rPr lang="en-US" dirty="0"/>
              <a:t>may end up looking</a:t>
            </a:r>
            <a:r>
              <a:rPr dirty="0"/>
              <a:t> like </a:t>
            </a:r>
            <a:r>
              <a:rPr lang="en-US" dirty="0"/>
              <a:t>a </a:t>
            </a:r>
            <a:r>
              <a:rPr dirty="0"/>
              <a:t>surveillance </a:t>
            </a:r>
            <a:r>
              <a:rPr lang="en-US" dirty="0"/>
              <a:t>operation </a:t>
            </a:r>
            <a:r>
              <a:rPr dirty="0"/>
              <a:t>if we cannot explain </a:t>
            </a:r>
            <a:r>
              <a:rPr lang="en-US" dirty="0"/>
              <a:t>to the public </a:t>
            </a:r>
            <a:r>
              <a:rPr dirty="0"/>
              <a:t>what was collected and why</a:t>
            </a:r>
            <a:r>
              <a:rPr lang="en-US" dirty="0"/>
              <a:t>. In other words, we need to be clear about our intentions</a:t>
            </a:r>
            <a:r>
              <a:rPr dirty="0"/>
              <a:t>.</a:t>
            </a:r>
            <a:endParaRPr lang="en-US" dirty="0"/>
          </a:p>
          <a:p>
            <a:br>
              <a:rPr dirty="0"/>
            </a:br>
            <a:r>
              <a:rPr dirty="0"/>
              <a:t>The </a:t>
            </a:r>
            <a:r>
              <a:rPr lang="en-US" dirty="0"/>
              <a:t>slide side cards </a:t>
            </a:r>
            <a:r>
              <a:rPr dirty="0"/>
              <a:t>summarize </a:t>
            </a:r>
            <a:r>
              <a:rPr lang="en-US" dirty="0"/>
              <a:t>the geospatial data </a:t>
            </a:r>
            <a:r>
              <a:rPr dirty="0"/>
              <a:t>privacy lifecycle: capture → store → share. </a:t>
            </a:r>
            <a:endParaRPr lang="en-US" dirty="0"/>
          </a:p>
          <a:p>
            <a:r>
              <a:rPr dirty="0"/>
              <a:t>Each step </a:t>
            </a:r>
            <a:r>
              <a:rPr lang="en-US" dirty="0"/>
              <a:t>is an operational checkpoint implementing a control</a:t>
            </a:r>
            <a:r>
              <a:rPr dirty="0"/>
              <a:t>. </a:t>
            </a:r>
            <a:endParaRPr lang="en-US" dirty="0"/>
          </a:p>
          <a:p>
            <a:pPr marL="171450" indent="-171450">
              <a:buFont typeface="Arial" panose="020B0604020202020204" pitchFamily="34" charset="0"/>
              <a:buChar char="•"/>
            </a:pPr>
            <a:r>
              <a:rPr dirty="0"/>
              <a:t>For capture, we should minimize collection</a:t>
            </a:r>
            <a:r>
              <a:rPr lang="en-US" dirty="0"/>
              <a:t> and </a:t>
            </a:r>
            <a:r>
              <a:rPr dirty="0"/>
              <a:t>only record what we truly need. </a:t>
            </a:r>
            <a:endParaRPr lang="en-US" dirty="0"/>
          </a:p>
          <a:p>
            <a:pPr marL="171450" indent="-171450">
              <a:buFont typeface="Arial" panose="020B0604020202020204" pitchFamily="34" charset="0"/>
              <a:buChar char="•"/>
            </a:pPr>
            <a:r>
              <a:rPr dirty="0"/>
              <a:t>For storage, we should set retention limits and protect data with access controls. </a:t>
            </a:r>
            <a:endParaRPr lang="en-US" dirty="0"/>
          </a:p>
          <a:p>
            <a:pPr marL="171450" indent="-171450">
              <a:buFont typeface="Arial" panose="020B0604020202020204" pitchFamily="34" charset="0"/>
              <a:buChar char="•"/>
            </a:pPr>
            <a:r>
              <a:rPr dirty="0"/>
              <a:t>For sharing, we should define who can access what, and under what conditions.</a:t>
            </a:r>
            <a:endParaRPr lang="en-US" dirty="0"/>
          </a:p>
          <a:p>
            <a:br>
              <a:rPr dirty="0"/>
            </a:br>
            <a:r>
              <a:rPr lang="en-US" dirty="0"/>
              <a:t>A consistent theme in data ethics is the establishment of Fair Information Practice Principles (FIPPs), which prioritize transparency, consent where feasible, and limiting the secondary use of data (Resnik &amp; Elliott, 2019; Finn &amp; Wright, 2016).</a:t>
            </a:r>
          </a:p>
          <a:p>
            <a:r>
              <a:rPr dirty="0"/>
              <a:t>For </a:t>
            </a:r>
            <a:r>
              <a:rPr lang="en-US" dirty="0"/>
              <a:t>our organization, this translates to leadership</a:t>
            </a:r>
            <a:r>
              <a:rPr dirty="0"/>
              <a:t> </a:t>
            </a:r>
            <a:r>
              <a:rPr lang="en-US" dirty="0"/>
              <a:t>deciding whether</a:t>
            </a:r>
            <a:r>
              <a:rPr dirty="0"/>
              <a:t> we require a short privacy impact review before a drone mission type is approved, especially for operations near homes or sensitive sites.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the context of drone usage, the risks associated with “</a:t>
            </a:r>
            <a:r>
              <a:rPr dirty="0"/>
              <a:t>Safety and environmental impact</a:t>
            </a:r>
            <a:r>
              <a:rPr lang="en-US" dirty="0"/>
              <a:t>"</a:t>
            </a:r>
            <a:r>
              <a:rPr dirty="0"/>
              <a:t> </a:t>
            </a:r>
            <a:r>
              <a:rPr lang="en-US" dirty="0"/>
              <a:t>often </a:t>
            </a:r>
            <a:r>
              <a:rPr dirty="0"/>
              <a:t>become visible if something goes wrong. </a:t>
            </a:r>
            <a:r>
              <a:rPr lang="en-US" dirty="0"/>
              <a:t>For example, drone c</a:t>
            </a:r>
            <a:r>
              <a:rPr dirty="0"/>
              <a:t>ollision risks include crashes into people, property, or (in rare cases) aircraft</a:t>
            </a:r>
            <a:r>
              <a:rPr lang="en-US" dirty="0"/>
              <a:t>.</a:t>
            </a:r>
          </a:p>
          <a:p>
            <a:r>
              <a:rPr dirty="0"/>
              <a:t>A </a:t>
            </a:r>
            <a:r>
              <a:rPr lang="en-US" dirty="0"/>
              <a:t>measure to mitigate such risk </a:t>
            </a:r>
            <a:r>
              <a:rPr dirty="0"/>
              <a:t>is </a:t>
            </a:r>
            <a:r>
              <a:rPr lang="en-US" dirty="0"/>
              <a:t>to enforce</a:t>
            </a:r>
            <a:r>
              <a:rPr dirty="0"/>
              <a:t> FAA-style </a:t>
            </a:r>
            <a:r>
              <a:rPr lang="en-US" dirty="0"/>
              <a:t>regulations</a:t>
            </a:r>
            <a:r>
              <a:rPr dirty="0"/>
              <a:t> like </a:t>
            </a:r>
            <a:r>
              <a:rPr lang="en-US" dirty="0"/>
              <a:t>requiring to maintaining a constant </a:t>
            </a:r>
            <a:r>
              <a:rPr dirty="0"/>
              <a:t>visual line-of-sight</a:t>
            </a:r>
            <a:r>
              <a:rPr lang="en-US" dirty="0"/>
              <a:t> with the drone</a:t>
            </a:r>
            <a:r>
              <a:rPr dirty="0"/>
              <a:t> and </a:t>
            </a:r>
            <a:r>
              <a:rPr lang="en-US" dirty="0"/>
              <a:t>avoiding</a:t>
            </a:r>
            <a:r>
              <a:rPr dirty="0"/>
              <a:t> </a:t>
            </a:r>
            <a:r>
              <a:rPr lang="en-US" dirty="0"/>
              <a:t>flying</a:t>
            </a:r>
            <a:r>
              <a:rPr dirty="0"/>
              <a:t> over crowds, along with training and checklists (Dempsey, 2015).</a:t>
            </a:r>
            <a:endParaRPr lang="en-US" dirty="0"/>
          </a:p>
          <a:p>
            <a:r>
              <a:rPr lang="en-US" dirty="0"/>
              <a:t>However, </a:t>
            </a:r>
            <a:r>
              <a:rPr dirty="0"/>
              <a:t>safety is </a:t>
            </a:r>
            <a:r>
              <a:rPr lang="en-US" dirty="0"/>
              <a:t>more than just not </a:t>
            </a:r>
            <a:r>
              <a:rPr dirty="0"/>
              <a:t>crash</a:t>
            </a:r>
            <a:r>
              <a:rPr lang="en-US" dirty="0"/>
              <a:t>ing; </a:t>
            </a:r>
            <a:r>
              <a:rPr dirty="0"/>
              <a:t>it</a:t>
            </a:r>
            <a:r>
              <a:rPr lang="en-US" dirty="0"/>
              <a:t> is</a:t>
            </a:r>
            <a:r>
              <a:rPr dirty="0"/>
              <a:t> also about </a:t>
            </a:r>
            <a:r>
              <a:rPr lang="en-US" dirty="0"/>
              <a:t>operating drones in a disciplined manner, such as </a:t>
            </a:r>
            <a:r>
              <a:rPr dirty="0"/>
              <a:t>keeping distance, managing batteries, and preventing injuries</a:t>
            </a:r>
            <a:r>
              <a:rPr lang="en-US" dirty="0"/>
              <a:t> or damage from blades</a:t>
            </a:r>
            <a:r>
              <a:rPr dirty="0"/>
              <a:t>. </a:t>
            </a:r>
            <a:endParaRPr lang="en-US" dirty="0"/>
          </a:p>
          <a:p>
            <a:endParaRPr lang="en-US" dirty="0"/>
          </a:p>
          <a:p>
            <a:r>
              <a:rPr dirty="0"/>
              <a:t>From </a:t>
            </a:r>
            <a:r>
              <a:rPr lang="en-US" dirty="0"/>
              <a:t>an</a:t>
            </a:r>
            <a:r>
              <a:rPr dirty="0"/>
              <a:t> environmental </a:t>
            </a:r>
            <a:r>
              <a:rPr lang="en-US" dirty="0"/>
              <a:t>perspective</a:t>
            </a:r>
            <a:r>
              <a:rPr dirty="0"/>
              <a:t>, </a:t>
            </a:r>
            <a:r>
              <a:rPr lang="en-US" dirty="0"/>
              <a:t>a well-documented observation is that drones negatively affect </a:t>
            </a:r>
            <a:r>
              <a:rPr dirty="0"/>
              <a:t>wild</a:t>
            </a:r>
            <a:r>
              <a:rPr lang="en-US" dirty="0"/>
              <a:t>life</a:t>
            </a:r>
            <a:r>
              <a:rPr dirty="0"/>
              <a:t>. Afridi </a:t>
            </a:r>
            <a:r>
              <a:rPr lang="en-US" dirty="0"/>
              <a:t>et al. (2025), after reviewing various </a:t>
            </a:r>
            <a:r>
              <a:rPr dirty="0"/>
              <a:t>research</a:t>
            </a:r>
            <a:r>
              <a:rPr lang="en-US" dirty="0"/>
              <a:t>, argue that done </a:t>
            </a:r>
            <a:r>
              <a:rPr dirty="0"/>
              <a:t>altitude, speed, approach distance, and noise </a:t>
            </a:r>
            <a:r>
              <a:rPr lang="en-US" dirty="0"/>
              <a:t>affect wildlife negatively; these factors </a:t>
            </a:r>
            <a:r>
              <a:rPr dirty="0"/>
              <a:t>can trigger vigilance, flight responses, and physiological stress; they also </a:t>
            </a:r>
            <a:r>
              <a:rPr lang="en-US" dirty="0"/>
              <a:t>note</a:t>
            </a:r>
            <a:r>
              <a:rPr dirty="0"/>
              <a:t> that long-term impacts of repeated exposure </a:t>
            </a:r>
            <a:r>
              <a:rPr lang="en-US" dirty="0"/>
              <a:t>on wildlife </a:t>
            </a:r>
            <a:r>
              <a:rPr dirty="0"/>
              <a:t>are still not well understood</a:t>
            </a:r>
            <a:r>
              <a:rPr lang="en-US" dirty="0"/>
              <a:t>.</a:t>
            </a:r>
          </a:p>
          <a:p>
            <a:endParaRPr lang="en-US" dirty="0"/>
          </a:p>
          <a:p>
            <a:r>
              <a:rPr lang="en-US" dirty="0"/>
              <a:t>This emphasizes that, as an organization,</a:t>
            </a:r>
            <a:r>
              <a:rPr dirty="0"/>
              <a:t> we should treat protected</a:t>
            </a:r>
            <a:r>
              <a:rPr lang="en-US" dirty="0"/>
              <a:t> wildlife </a:t>
            </a:r>
            <a:r>
              <a:rPr dirty="0"/>
              <a:t>areas and sensitive habitats as high-risk zones and default to higher altitudes and conservative flight parameters.</a:t>
            </a:r>
            <a:r>
              <a:rPr lang="en-US" dirty="0"/>
              <a:t> This also applies to rural areas where drones might disturb livestock. </a:t>
            </a:r>
            <a:br>
              <a:rPr dirty="0"/>
            </a:br>
            <a:r>
              <a:rPr lang="en-US" dirty="0"/>
              <a:t>This requires the organization’s leadership to ensure that </a:t>
            </a:r>
            <a:r>
              <a:rPr dirty="0"/>
              <a:t>pilot qualification</a:t>
            </a:r>
            <a:r>
              <a:rPr lang="en-US" dirty="0"/>
              <a:t> remains current</a:t>
            </a:r>
            <a:r>
              <a:rPr dirty="0"/>
              <a:t>, mission risk assessments, and a </a:t>
            </a:r>
            <a:r>
              <a:rPr lang="en-US" dirty="0"/>
              <a:t>"</a:t>
            </a:r>
            <a:r>
              <a:rPr dirty="0"/>
              <a:t>no-fly / restricted</a:t>
            </a:r>
            <a:r>
              <a:rPr lang="en-US" dirty="0"/>
              <a:t>"</a:t>
            </a:r>
            <a:r>
              <a:rPr dirty="0"/>
              <a:t> list </a:t>
            </a:r>
            <a:r>
              <a:rPr lang="en-US" dirty="0"/>
              <a:t>is maintained </a:t>
            </a:r>
            <a:r>
              <a:rPr dirty="0"/>
              <a:t>for sensitive locations.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the context of </a:t>
            </a:r>
            <a:r>
              <a:rPr dirty="0"/>
              <a:t>IT leadership</a:t>
            </a:r>
            <a:r>
              <a:rPr lang="en-US" dirty="0"/>
              <a:t>,</a:t>
            </a:r>
            <a:r>
              <a:rPr dirty="0"/>
              <a:t> </a:t>
            </a:r>
            <a:r>
              <a:rPr lang="en-US" dirty="0"/>
              <a:t>"Data Security and Integrity” is where we have </a:t>
            </a:r>
            <a:r>
              <a:rPr dirty="0"/>
              <a:t>the strongest</a:t>
            </a:r>
            <a:r>
              <a:rPr lang="en-US" dirty="0"/>
              <a:t> impact, as we have the agency to implement standardized measures that can </a:t>
            </a:r>
            <a:r>
              <a:rPr dirty="0"/>
              <a:t>reduce risk. </a:t>
            </a:r>
            <a:endParaRPr lang="en-US" dirty="0"/>
          </a:p>
          <a:p>
            <a:endParaRPr lang="en-US" dirty="0"/>
          </a:p>
          <a:p>
            <a:pPr marL="0" indent="0">
              <a:buFont typeface="Arial" panose="020B0604020202020204" pitchFamily="34" charset="0"/>
              <a:buNone/>
            </a:pPr>
            <a:r>
              <a:rPr dirty="0"/>
              <a:t>This slide </a:t>
            </a:r>
            <a:r>
              <a:rPr lang="en-US" dirty="0"/>
              <a:t>illustrates </a:t>
            </a:r>
            <a:r>
              <a:rPr dirty="0"/>
              <a:t>three </a:t>
            </a:r>
            <a:r>
              <a:rPr lang="en-US" dirty="0"/>
              <a:t>IT-related</a:t>
            </a:r>
            <a:r>
              <a:rPr dirty="0"/>
              <a:t> issues: cybersecurity threats, confidentiality, and decision quality.</a:t>
            </a:r>
            <a:endParaRPr lang="en-US" dirty="0"/>
          </a:p>
          <a:p>
            <a:pPr marL="171450" indent="-171450">
              <a:buFont typeface="Arial" panose="020B0604020202020204" pitchFamily="34" charset="0"/>
              <a:buChar char="•"/>
            </a:pPr>
            <a:r>
              <a:rPr dirty="0"/>
              <a:t>First, drones and their </a:t>
            </a:r>
            <a:r>
              <a:rPr lang="en-US" dirty="0"/>
              <a:t>operating software </a:t>
            </a:r>
            <a:r>
              <a:rPr dirty="0"/>
              <a:t>systems can be attacked </a:t>
            </a:r>
            <a:r>
              <a:rPr lang="en-US" dirty="0"/>
              <a:t>by</a:t>
            </a:r>
            <a:r>
              <a:rPr dirty="0"/>
              <a:t> malware, interception, or GPS spoofing. </a:t>
            </a:r>
            <a:r>
              <a:rPr dirty="0" err="1"/>
              <a:t>Tychola</a:t>
            </a:r>
            <a:r>
              <a:rPr dirty="0"/>
              <a:t> and </a:t>
            </a:r>
            <a:r>
              <a:rPr dirty="0" err="1"/>
              <a:t>Rantos</a:t>
            </a:r>
            <a:r>
              <a:rPr lang="en-US" dirty="0"/>
              <a:t> (2025)</a:t>
            </a:r>
            <a:r>
              <a:rPr dirty="0"/>
              <a:t> describe how cyberthreats </a:t>
            </a:r>
            <a:r>
              <a:rPr lang="en-US" dirty="0"/>
              <a:t>have the capacity to </a:t>
            </a:r>
            <a:r>
              <a:rPr dirty="0"/>
              <a:t>compromise drone operations </a:t>
            </a:r>
            <a:r>
              <a:rPr lang="en-US" dirty="0"/>
              <a:t>as well as</a:t>
            </a:r>
            <a:r>
              <a:rPr dirty="0"/>
              <a:t> the data they collect, especially </a:t>
            </a:r>
            <a:r>
              <a:rPr lang="en-US" dirty="0"/>
              <a:t>when</a:t>
            </a:r>
            <a:r>
              <a:rPr dirty="0"/>
              <a:t> drones </a:t>
            </a:r>
            <a:r>
              <a:rPr lang="en-US" dirty="0"/>
              <a:t>are </a:t>
            </a:r>
            <a:r>
              <a:rPr dirty="0"/>
              <a:t>connected to networks and cloud services</a:t>
            </a:r>
            <a:r>
              <a:rPr lang="en-US" dirty="0"/>
              <a:t>.</a:t>
            </a:r>
          </a:p>
          <a:p>
            <a:pPr marL="171450" indent="-171450">
              <a:buFont typeface="Arial" panose="020B0604020202020204" pitchFamily="34" charset="0"/>
              <a:buChar char="•"/>
            </a:pPr>
            <a:r>
              <a:rPr dirty="0"/>
              <a:t>Second, </a:t>
            </a:r>
            <a:r>
              <a:rPr lang="en-US" dirty="0"/>
              <a:t>if the data is breached or shared incorrectly, collected geospatial data can accidentally expose sensitive locations, private land use, critical infrastructure, or sensitive species habitats </a:t>
            </a:r>
            <a:r>
              <a:rPr dirty="0"/>
              <a:t>(Finn &amp; Wright, 2016; Resnik &amp; Elliott, 2019).</a:t>
            </a:r>
            <a:r>
              <a:rPr lang="en-US" dirty="0"/>
              <a:t> This highlights the importance of maintaining confidentiality using tools such as encryption and access management.</a:t>
            </a:r>
          </a:p>
          <a:p>
            <a:pPr marL="171450" indent="-171450">
              <a:buFont typeface="Arial" panose="020B0604020202020204" pitchFamily="34" charset="0"/>
              <a:buChar char="•"/>
            </a:pPr>
            <a:r>
              <a:rPr dirty="0"/>
              <a:t>Third, </a:t>
            </a:r>
            <a:r>
              <a:rPr lang="en-US" dirty="0"/>
              <a:t>in</a:t>
            </a:r>
            <a:r>
              <a:rPr dirty="0"/>
              <a:t> the geospatial AI context, privacy and security concerns increase </a:t>
            </a:r>
            <a:r>
              <a:rPr lang="en-US" dirty="0"/>
              <a:t>as automated</a:t>
            </a:r>
            <a:r>
              <a:rPr dirty="0"/>
              <a:t> analytics can identify people or infer sensitive patterns (</a:t>
            </a:r>
            <a:r>
              <a:rPr dirty="0" err="1"/>
              <a:t>Abiala</a:t>
            </a:r>
            <a:r>
              <a:rPr dirty="0"/>
              <a:t>, 2023)</a:t>
            </a:r>
            <a:r>
              <a:rPr lang="en-US" dirty="0"/>
              <a:t>. Additionally, we must account for accuracy and bias, such as sensor errors or biased models, which can produce incorrect maps and poor decisions. This highlights the importance of applying AI ethics guidelines to how we design and validate these AI–driven GIS systems (Oluoch, 2024). </a:t>
            </a:r>
            <a:br>
              <a:rPr dirty="0"/>
            </a:br>
            <a:endParaRPr lang="en-US" dirty="0"/>
          </a:p>
          <a:p>
            <a:pPr marL="0" indent="0">
              <a:buFontTx/>
              <a:buNone/>
            </a:pPr>
            <a:r>
              <a:rPr lang="en-US" dirty="0"/>
              <a:t>As an organization, we should implement systems that include </a:t>
            </a:r>
            <a:r>
              <a:rPr dirty="0"/>
              <a:t>encryption in transit/at rest, strong authentication, audit logs, patching, and a clear data-governance policy for ownership, retention, and access.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Equity and justice risks show up when benefits and burdens are not shared fairly.</a:t>
            </a:r>
          </a:p>
          <a:p>
            <a:r>
              <a:rPr lang="en-US" dirty="0"/>
              <a:t>The combination of drone and GIS is often used by organizations that have financial and political influences, giving them leverage to dictate how data is collected, interpreted, and used. This can create power imbalances, as poor communities do not have the resources to challenge or dictate how their data is collected, mapped, and analyzed. By definition, the above reflects equity and justice issues.</a:t>
            </a:r>
          </a:p>
          <a:p>
            <a:endParaRPr lang="en-US" dirty="0"/>
          </a:p>
          <a:p>
            <a:r>
              <a:rPr lang="en-US" dirty="0"/>
              <a:t>To minimize equity and justice risks, we must adopt an </a:t>
            </a:r>
            <a:r>
              <a:rPr dirty="0"/>
              <a:t>ethical </a:t>
            </a:r>
            <a:r>
              <a:rPr lang="en-US" dirty="0"/>
              <a:t>approach to drone and GIS operations that focuses</a:t>
            </a:r>
            <a:r>
              <a:rPr dirty="0"/>
              <a:t> </a:t>
            </a:r>
            <a:r>
              <a:rPr lang="en-US" dirty="0"/>
              <a:t>on </a:t>
            </a:r>
            <a:r>
              <a:rPr dirty="0"/>
              <a:t>participation and consent</a:t>
            </a:r>
            <a:r>
              <a:rPr lang="en-US" dirty="0"/>
              <a:t> from </a:t>
            </a:r>
            <a:r>
              <a:rPr dirty="0"/>
              <a:t>communities</a:t>
            </a:r>
            <a:r>
              <a:rPr lang="en-US" dirty="0"/>
              <a:t>. The GIS survey communities</a:t>
            </a:r>
            <a:r>
              <a:rPr dirty="0"/>
              <a:t> should have a voice in what is collected, what is published, and what decisions are made from the data.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aspect of drone and GIS operations that can introduce inequities is the prioritization of high-value areas to the detriment of marginalized neighborhoods. These communities can be underrepresented in the data, leading to inequities and injustices.</a:t>
            </a:r>
          </a:p>
          <a:p>
            <a:r>
              <a:rPr dirty="0"/>
              <a:t>Paneque-Gálvez </a:t>
            </a:r>
            <a:r>
              <a:rPr lang="en-US" dirty="0"/>
              <a:t>et al. (2024) provide a useful </a:t>
            </a:r>
            <a:r>
              <a:rPr dirty="0"/>
              <a:t>counterexample</a:t>
            </a:r>
            <a:r>
              <a:rPr lang="en-US" dirty="0"/>
              <a:t> illustrating how, when used ethically, drone and GIS operations </a:t>
            </a:r>
            <a:r>
              <a:rPr dirty="0"/>
              <a:t>can also empower communities </a:t>
            </a:r>
            <a:r>
              <a:rPr lang="en-US" dirty="0"/>
              <a:t>by training</a:t>
            </a:r>
            <a:r>
              <a:rPr dirty="0"/>
              <a:t> local people to map and monitor their own land and resources, supporting land claims and</a:t>
            </a:r>
            <a:r>
              <a:rPr lang="en-US" dirty="0"/>
              <a:t> the environment.</a:t>
            </a:r>
          </a:p>
          <a:p>
            <a:r>
              <a:rPr lang="en-US" dirty="0"/>
              <a:t>This also applies to AI-driven and GSI operations, or any </a:t>
            </a:r>
            <a:r>
              <a:rPr dirty="0"/>
              <a:t>geographic technologies</a:t>
            </a:r>
            <a:r>
              <a:rPr lang="en-US" dirty="0"/>
              <a:t>, as geographic information ethics principles</a:t>
            </a:r>
            <a:r>
              <a:rPr dirty="0"/>
              <a:t> </a:t>
            </a:r>
            <a:r>
              <a:rPr lang="en-US" dirty="0"/>
              <a:t>emphasize</a:t>
            </a:r>
            <a:r>
              <a:rPr dirty="0"/>
              <a:t> fairness and accountability when automated tools influence decisions (Oluoch, 2024).</a:t>
            </a:r>
            <a:endParaRPr lang="en-US" dirty="0"/>
          </a:p>
          <a:p>
            <a:br>
              <a:rPr dirty="0"/>
            </a:br>
            <a:r>
              <a:rPr lang="en-US" dirty="0"/>
              <a:t>As an organization, we should implement systems that </a:t>
            </a:r>
            <a:r>
              <a:rPr dirty="0"/>
              <a:t>require stakeholder engagement when projects affect communities, and review models for bias before operational use.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The “</a:t>
            </a:r>
            <a:r>
              <a:rPr lang="en-US" sz="1200" dirty="0">
                <a:solidFill>
                  <a:srgbClr val="1E1E1E"/>
                </a:solidFill>
                <a:latin typeface="+mn-lt"/>
              </a:rPr>
              <a:t>What to Keep Out &amp; How It Can Be Abused”</a:t>
            </a:r>
            <a:r>
              <a:rPr lang="en-US" dirty="0">
                <a:latin typeface="+mn-lt"/>
              </a:rPr>
              <a:t> topic’s primary goal is document risks and advocate for turning</a:t>
            </a:r>
            <a:r>
              <a:rPr dirty="0">
                <a:latin typeface="+mn-lt"/>
              </a:rPr>
              <a:t> risks</a:t>
            </a:r>
            <a:r>
              <a:rPr lang="en-US" dirty="0">
                <a:latin typeface="+mn-lt"/>
              </a:rPr>
              <a:t> from the beginning of any project </a:t>
            </a:r>
            <a:r>
              <a:rPr dirty="0">
                <a:latin typeface="+mn-lt"/>
              </a:rPr>
              <a:t>into a practical checklist. </a:t>
            </a:r>
            <a:br>
              <a:rPr lang="en-US" dirty="0">
                <a:latin typeface="+mn-lt"/>
              </a:rPr>
            </a:br>
            <a:r>
              <a:rPr lang="en-US" dirty="0">
                <a:latin typeface="+mn-lt"/>
              </a:rPr>
              <a:t>From the start of any drone and GSI project, when</a:t>
            </a:r>
            <a:r>
              <a:rPr dirty="0">
                <a:latin typeface="+mn-lt"/>
              </a:rPr>
              <a:t> </a:t>
            </a:r>
            <a:r>
              <a:rPr lang="en-US" dirty="0">
                <a:latin typeface="+mn-lt"/>
              </a:rPr>
              <a:t>possible</a:t>
            </a:r>
            <a:r>
              <a:rPr dirty="0">
                <a:latin typeface="+mn-lt"/>
              </a:rPr>
              <a:t>, we should avoid collecting data that is highly identifying or easily misused. </a:t>
            </a:r>
            <a:r>
              <a:rPr lang="en-US" dirty="0">
                <a:latin typeface="+mn-lt"/>
              </a:rPr>
              <a:t>Data includes, for example,</a:t>
            </a:r>
            <a:r>
              <a:rPr dirty="0">
                <a:latin typeface="+mn-lt"/>
              </a:rPr>
              <a:t> facial imagery, license plates, health-related activities, and precise location data that could expose sensitive sites.</a:t>
            </a:r>
            <a:endParaRPr lang="en-US" dirty="0">
              <a:latin typeface="+mn-lt"/>
            </a:endParaRPr>
          </a:p>
          <a:p>
            <a:br>
              <a:rPr dirty="0">
                <a:latin typeface="+mn-lt"/>
              </a:rPr>
            </a:br>
            <a:r>
              <a:rPr dirty="0">
                <a:latin typeface="+mn-lt"/>
              </a:rPr>
              <a:t>Why</a:t>
            </a:r>
            <a:r>
              <a:rPr lang="en-US" dirty="0">
                <a:latin typeface="+mn-lt"/>
              </a:rPr>
              <a:t> document risk early</a:t>
            </a:r>
            <a:r>
              <a:rPr dirty="0">
                <a:latin typeface="+mn-lt"/>
              </a:rPr>
              <a:t>? </a:t>
            </a:r>
            <a:r>
              <a:rPr lang="en-US" dirty="0">
                <a:latin typeface="+mn-lt"/>
              </a:rPr>
              <a:t>To implement measures to prevent misuse!</a:t>
            </a:r>
          </a:p>
          <a:p>
            <a:r>
              <a:rPr lang="en-US" dirty="0">
                <a:latin typeface="+mn-lt"/>
              </a:rPr>
              <a:t>GIS </a:t>
            </a:r>
            <a:r>
              <a:rPr dirty="0">
                <a:latin typeface="+mn-lt"/>
              </a:rPr>
              <a:t>misuse scenarios are common</a:t>
            </a:r>
            <a:r>
              <a:rPr lang="en-US" dirty="0">
                <a:latin typeface="+mn-lt"/>
              </a:rPr>
              <a:t> and often underestimated, especially when combined with drone technologies.</a:t>
            </a:r>
            <a:r>
              <a:rPr dirty="0">
                <a:latin typeface="+mn-lt"/>
              </a:rPr>
              <a:t> </a:t>
            </a:r>
            <a:r>
              <a:rPr lang="en-US" dirty="0">
                <a:latin typeface="+mn-lt"/>
              </a:rPr>
              <a:t>These misuses can include one or more of the following: </a:t>
            </a:r>
            <a:r>
              <a:rPr dirty="0">
                <a:latin typeface="+mn-lt"/>
              </a:rPr>
              <a:t>non-consensual surveillance, repurposing data beyond the original mission,</a:t>
            </a:r>
            <a:r>
              <a:rPr lang="en-US" dirty="0">
                <a:latin typeface="+mn-lt"/>
              </a:rPr>
              <a:t> and </a:t>
            </a:r>
            <a:r>
              <a:rPr dirty="0">
                <a:latin typeface="+mn-lt"/>
              </a:rPr>
              <a:t>targeting vulnerable groups. </a:t>
            </a:r>
            <a:br>
              <a:rPr lang="en-US" dirty="0">
                <a:latin typeface="+mn-lt"/>
              </a:rPr>
            </a:br>
            <a:r>
              <a:rPr dirty="0">
                <a:latin typeface="+mn-lt"/>
              </a:rPr>
              <a:t>Resnik and Elliott </a:t>
            </a:r>
            <a:r>
              <a:rPr lang="en-US" dirty="0">
                <a:latin typeface="+mn-lt"/>
              </a:rPr>
              <a:t>(2019) </a:t>
            </a:r>
            <a:r>
              <a:rPr dirty="0">
                <a:latin typeface="+mn-lt"/>
              </a:rPr>
              <a:t>highlight </a:t>
            </a:r>
            <a:r>
              <a:rPr lang="en-US" dirty="0">
                <a:latin typeface="+mn-lt"/>
              </a:rPr>
              <a:t>these misuse </a:t>
            </a:r>
            <a:r>
              <a:rPr dirty="0">
                <a:latin typeface="+mn-lt"/>
              </a:rPr>
              <a:t>concerns </a:t>
            </a:r>
            <a:r>
              <a:rPr lang="en-US" dirty="0">
                <a:latin typeface="+mn-lt"/>
              </a:rPr>
              <a:t>in their study, such as </a:t>
            </a:r>
            <a:r>
              <a:rPr dirty="0">
                <a:latin typeface="+mn-lt"/>
              </a:rPr>
              <a:t>identifiability and secondary use, </a:t>
            </a:r>
            <a:r>
              <a:rPr lang="en-US" dirty="0">
                <a:latin typeface="+mn-lt"/>
              </a:rPr>
              <a:t>especially </a:t>
            </a:r>
            <a:r>
              <a:rPr dirty="0">
                <a:latin typeface="+mn-lt"/>
              </a:rPr>
              <a:t>where consent is limited (Resnik &amp; Elliott, 2019). </a:t>
            </a:r>
            <a:br>
              <a:rPr lang="en-US" dirty="0">
                <a:latin typeface="+mn-lt"/>
              </a:rPr>
            </a:br>
            <a:r>
              <a:rPr lang="en-US" dirty="0">
                <a:latin typeface="+mn-lt"/>
              </a:rPr>
              <a:t>To mitigate these risks, Finn and Wright (2016) propose the use of data minimization and data protection regulations as essential components of responsible civil drone practice.</a:t>
            </a:r>
            <a:br>
              <a:rPr dirty="0">
                <a:latin typeface="+mn-lt"/>
              </a:rPr>
            </a:br>
            <a:r>
              <a:rPr dirty="0">
                <a:latin typeface="+mn-lt"/>
              </a:rPr>
              <a:t>On the</a:t>
            </a:r>
            <a:r>
              <a:rPr lang="en-US" dirty="0">
                <a:latin typeface="+mn-lt"/>
              </a:rPr>
              <a:t> IT </a:t>
            </a:r>
            <a:r>
              <a:rPr dirty="0">
                <a:latin typeface="+mn-lt"/>
              </a:rPr>
              <a:t>security side, </a:t>
            </a:r>
            <a:r>
              <a:rPr lang="en-US" dirty="0">
                <a:latin typeface="+mn-lt"/>
              </a:rPr>
              <a:t>the combination of drones and GSI technology</a:t>
            </a:r>
            <a:r>
              <a:rPr dirty="0">
                <a:latin typeface="+mn-lt"/>
              </a:rPr>
              <a:t> </a:t>
            </a:r>
            <a:r>
              <a:rPr lang="en-US" dirty="0">
                <a:latin typeface="+mn-lt"/>
              </a:rPr>
              <a:t>is susceptible to cyber attacks,</a:t>
            </a:r>
            <a:r>
              <a:rPr dirty="0">
                <a:latin typeface="+mn-lt"/>
              </a:rPr>
              <a:t> </a:t>
            </a:r>
            <a:r>
              <a:rPr lang="en-US" dirty="0">
                <a:latin typeface="+mn-lt"/>
              </a:rPr>
              <a:t>which can include </a:t>
            </a:r>
            <a:r>
              <a:rPr dirty="0">
                <a:latin typeface="+mn-lt"/>
              </a:rPr>
              <a:t>hacking, spoofing, or data tampering that leads to misinformation or operational disruption. This is why cybersecurity controls need to be part of the baseline, not an add-on (</a:t>
            </a:r>
            <a:r>
              <a:rPr dirty="0" err="1">
                <a:latin typeface="+mn-lt"/>
              </a:rPr>
              <a:t>Tychola</a:t>
            </a:r>
            <a:r>
              <a:rPr dirty="0">
                <a:latin typeface="+mn-lt"/>
              </a:rPr>
              <a:t> &amp; </a:t>
            </a:r>
            <a:r>
              <a:rPr dirty="0" err="1">
                <a:latin typeface="+mn-lt"/>
              </a:rPr>
              <a:t>Rantos</a:t>
            </a:r>
            <a:r>
              <a:rPr dirty="0">
                <a:latin typeface="+mn-lt"/>
              </a:rPr>
              <a:t>, 2025).</a:t>
            </a:r>
            <a:endParaRPr lang="en-US" dirty="0">
              <a:latin typeface="+mn-lt"/>
            </a:endParaRPr>
          </a:p>
          <a:p>
            <a:br>
              <a:rPr dirty="0">
                <a:latin typeface="+mn-lt"/>
              </a:rPr>
            </a:br>
            <a:r>
              <a:rPr lang="en-US" dirty="0">
                <a:latin typeface="+mn-lt"/>
              </a:rPr>
              <a:t>As an organization, we should identify risks early and document them within a practical checklist, and adopt a default “collect the minimum” policy and require exception approval for high-risk data categories.</a:t>
            </a:r>
            <a:endParaRPr dirty="0">
              <a:latin typeface="+mn-lt"/>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a:t>
            </a:r>
            <a:r>
              <a:rPr dirty="0"/>
              <a:t>f GIS data is collected at public expense, should it be accessible</a:t>
            </a:r>
            <a:r>
              <a:rPr lang="en-US" dirty="0"/>
              <a:t> to the public</a:t>
            </a:r>
            <a:r>
              <a:rPr dirty="0"/>
              <a:t>? </a:t>
            </a:r>
            <a:br>
              <a:rPr lang="en-US" dirty="0"/>
            </a:br>
            <a:r>
              <a:rPr lang="en-US" dirty="0"/>
              <a:t>This question is a leadership policy question</a:t>
            </a:r>
          </a:p>
          <a:p>
            <a:endParaRPr lang="en-US" dirty="0"/>
          </a:p>
          <a:p>
            <a:r>
              <a:rPr lang="en-US" dirty="0"/>
              <a:t>There </a:t>
            </a:r>
            <a:r>
              <a:rPr dirty="0"/>
              <a:t>is a</a:t>
            </a:r>
            <a:r>
              <a:rPr lang="en-US" dirty="0"/>
              <a:t> strong </a:t>
            </a:r>
            <a:r>
              <a:rPr dirty="0"/>
              <a:t>public-good argument for</a:t>
            </a:r>
            <a:r>
              <a:rPr lang="en-US" dirty="0"/>
              <a:t> public access to collected at public expense GIS data.</a:t>
            </a:r>
          </a:p>
          <a:p>
            <a:r>
              <a:rPr lang="en-US" dirty="0"/>
              <a:t>Shared</a:t>
            </a:r>
            <a:r>
              <a:rPr dirty="0"/>
              <a:t> data can support planning, transparency, research, and community benefits. </a:t>
            </a:r>
            <a:endParaRPr lang="en-US" dirty="0"/>
          </a:p>
          <a:p>
            <a:r>
              <a:rPr lang="en-US" dirty="0"/>
              <a:t>However</a:t>
            </a:r>
            <a:r>
              <a:rPr dirty="0"/>
              <a:t>, open and unrestricted access can </a:t>
            </a:r>
            <a:r>
              <a:rPr lang="en-US" dirty="0"/>
              <a:t>also </a:t>
            </a:r>
            <a:r>
              <a:rPr dirty="0"/>
              <a:t>increase risk</a:t>
            </a:r>
            <a:r>
              <a:rPr lang="en-US" dirty="0"/>
              <a:t>, </a:t>
            </a:r>
            <a:r>
              <a:rPr dirty="0"/>
              <a:t>especially if the data contains identifiable details, sensitive locations, or information that can be </a:t>
            </a:r>
            <a:r>
              <a:rPr lang="en-US" dirty="0"/>
              <a:t>misused.</a:t>
            </a:r>
          </a:p>
          <a:p>
            <a:br>
              <a:rPr dirty="0"/>
            </a:br>
            <a:r>
              <a:rPr dirty="0"/>
              <a:t>A practical approach is </a:t>
            </a:r>
            <a:r>
              <a:rPr lang="en-US" dirty="0"/>
              <a:t>to back access into access tiers</a:t>
            </a:r>
            <a:r>
              <a:rPr dirty="0"/>
              <a:t>.</a:t>
            </a:r>
            <a:endParaRPr lang="en-US" dirty="0"/>
          </a:p>
          <a:p>
            <a:r>
              <a:rPr lang="en-US" dirty="0"/>
              <a:t>For example, in data access tier 1, w</a:t>
            </a:r>
            <a:r>
              <a:rPr dirty="0"/>
              <a:t>e can </a:t>
            </a:r>
            <a:r>
              <a:rPr lang="en-US" dirty="0"/>
              <a:t>give public access to </a:t>
            </a:r>
            <a:r>
              <a:rPr dirty="0"/>
              <a:t>aggregated or de-identified </a:t>
            </a:r>
            <a:r>
              <a:rPr lang="en-US" dirty="0"/>
              <a:t>data; in data access tier 2, we can</a:t>
            </a:r>
            <a:r>
              <a:rPr dirty="0"/>
              <a:t> </a:t>
            </a:r>
            <a:r>
              <a:rPr lang="en-US" dirty="0"/>
              <a:t>restrict</a:t>
            </a:r>
            <a:r>
              <a:rPr dirty="0"/>
              <a:t> </a:t>
            </a:r>
            <a:r>
              <a:rPr lang="en-US" dirty="0"/>
              <a:t>data with </a:t>
            </a:r>
            <a:r>
              <a:rPr dirty="0"/>
              <a:t>raw imagery, precise coordinates for sensitive sites, or datasets that could expose individuals. </a:t>
            </a:r>
            <a:endParaRPr lang="en-US" dirty="0"/>
          </a:p>
          <a:p>
            <a:endParaRPr lang="en-US" dirty="0"/>
          </a:p>
          <a:p>
            <a:r>
              <a:rPr dirty="0"/>
              <a:t>This </a:t>
            </a:r>
            <a:r>
              <a:rPr lang="en-US" dirty="0"/>
              <a:t>approach </a:t>
            </a:r>
            <a:r>
              <a:rPr dirty="0"/>
              <a:t>aligns with data-protection principles that emphasize limiting exposure and controlling secondary use (Finn &amp; Wright, 2016) and with ethical concerns about identifiability and harm (Resnik &amp; Elliott, 2019).</a:t>
            </a:r>
            <a:br>
              <a:rPr dirty="0"/>
            </a:br>
            <a:endParaRPr lang="en-US" dirty="0"/>
          </a:p>
          <a:p>
            <a:r>
              <a:rPr lang="en-US" dirty="0"/>
              <a:t>As an organization, we should </a:t>
            </a:r>
            <a:r>
              <a:rPr dirty="0"/>
              <a:t>set an access policy that defines what is open by default, what requires review, and what is never released publicly.</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02F4-83CF-75EF-CC1B-6BB1B497C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330C8-53F0-39F9-BCC0-736582491E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B99CE6-A00D-BA5C-9E90-7E83E4FA7030}"/>
              </a:ext>
            </a:extLst>
          </p:cNvPr>
          <p:cNvSpPr>
            <a:spLocks noGrp="1"/>
          </p:cNvSpPr>
          <p:nvPr>
            <p:ph type="body" sz="quarter" idx="3"/>
          </p:nvPr>
        </p:nvSpPr>
        <p:spPr/>
        <p:txBody>
          <a:bodyPr/>
          <a:lstStyle/>
          <a:p>
            <a:r>
              <a:rPr lang="en-US" dirty="0"/>
              <a:t>In conclusion, the main message is that drones and GIS can deliver real operational value, but it needs ethical governance.</a:t>
            </a:r>
          </a:p>
          <a:p>
            <a:r>
              <a:rPr lang="en-US" dirty="0"/>
              <a:t> </a:t>
            </a:r>
          </a:p>
          <a:p>
            <a:r>
              <a:rPr lang="en-US" dirty="0"/>
              <a:t>The controls we recommend are practical: </a:t>
            </a:r>
          </a:p>
          <a:p>
            <a:pPr marL="171450" indent="-171450">
              <a:buFont typeface="Arial" panose="020B0604020202020204" pitchFamily="34" charset="0"/>
              <a:buChar char="•"/>
            </a:pPr>
            <a:r>
              <a:rPr lang="en-US" dirty="0"/>
              <a:t>pilot training and mission risk assessments.</a:t>
            </a:r>
          </a:p>
          <a:p>
            <a:pPr marL="171450" indent="-171450">
              <a:buFont typeface="Arial" panose="020B0604020202020204" pitchFamily="34" charset="0"/>
              <a:buChar char="•"/>
            </a:pPr>
            <a:r>
              <a:rPr lang="en-US" dirty="0"/>
              <a:t>privacy-by-design steps like data minimization and retention limits.</a:t>
            </a:r>
          </a:p>
          <a:p>
            <a:pPr marL="171450" indent="-171450">
              <a:buFont typeface="Arial" panose="020B0604020202020204" pitchFamily="34" charset="0"/>
              <a:buChar char="•"/>
            </a:pPr>
            <a:r>
              <a:rPr lang="en-US" dirty="0"/>
              <a:t>a security baseline (encryption, authentication, patching, logging).</a:t>
            </a:r>
          </a:p>
          <a:p>
            <a:pPr marL="171450" indent="-171450">
              <a:buFont typeface="Arial" panose="020B0604020202020204" pitchFamily="34" charset="0"/>
              <a:buChar char="•"/>
            </a:pPr>
            <a:r>
              <a:rPr lang="en-US" dirty="0"/>
              <a:t>an equity review when projects affect communities.</a:t>
            </a:r>
          </a:p>
          <a:p>
            <a:endParaRPr lang="en-US" dirty="0"/>
          </a:p>
          <a:p>
            <a:r>
              <a:rPr lang="en-US" dirty="0"/>
              <a:t>If leadership approves, the next step is to formalize these controls into a short ethical policy and checklist that teams must complete before recurring drone missions. </a:t>
            </a:r>
          </a:p>
          <a:p>
            <a:r>
              <a:rPr lang="en-US" dirty="0"/>
              <a:t>That gives us a repeatable process and reduces the risk of incidents that harm the public or our reputation.</a:t>
            </a:r>
          </a:p>
          <a:p>
            <a:endParaRPr lang="en-US" dirty="0"/>
          </a:p>
          <a:p>
            <a:r>
              <a:rPr lang="en-US" dirty="0"/>
              <a:t>Any questions?</a:t>
            </a:r>
          </a:p>
          <a:p>
            <a:endParaRPr dirty="0"/>
          </a:p>
        </p:txBody>
      </p:sp>
      <p:sp>
        <p:nvSpPr>
          <p:cNvPr id="4" name="Slide Number Placeholder 3">
            <a:extLst>
              <a:ext uri="{FF2B5EF4-FFF2-40B4-BE49-F238E27FC236}">
                <a16:creationId xmlns:a16="http://schemas.microsoft.com/office/drawing/2014/main" id="{E5F9C049-A68D-3CB4-55BE-6DF522FFF323}"/>
              </a:ext>
            </a:extLst>
          </p:cNvPr>
          <p:cNvSpPr>
            <a:spLocks noGrp="1"/>
          </p:cNvSpPr>
          <p:nvPr>
            <p:ph type="sldNum" sz="quarter" idx="5"/>
          </p:nvPr>
        </p:nvSpPr>
        <p:spPr/>
      </p:sp>
    </p:spTree>
    <p:extLst>
      <p:ext uri="{BB962C8B-B14F-4D97-AF65-F5344CB8AC3E}">
        <p14:creationId xmlns:p14="http://schemas.microsoft.com/office/powerpoint/2010/main" val="3382784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D7CC5-C569-93B6-392C-3F9D2F6048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61AB0B-5D49-5392-63E0-6EDCF25B6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01C096-0F77-D023-ADAE-0E2D785AF237}"/>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34348E6D-BF26-D1DD-B872-6983847F9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20FB0-C4D8-846C-002B-E115AA80E518}"/>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124153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F8E5-9F50-655F-1CF2-D76293EE67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16064-B29D-1422-8769-A4C7E34261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360993-572A-D695-1190-E75EB187D5AD}"/>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51570508-B58F-7C1F-7CE4-7C7AD660E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192BB-B5DE-8920-FEFB-0361420A8885}"/>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49525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E248-CC3A-2259-D866-965AB01CF4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A515F9-1F69-2BB1-8126-3D18DEC026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025367-37F9-17EC-FB4F-C7A4DFA4CE4E}"/>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E5982D17-C89C-522A-A88C-505630B338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D0A0F-5A54-8F77-0673-78A5E7D49C7A}"/>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164821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FB824-EB9C-7D92-68DF-D7C69DD6A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0CD47-2C05-DA11-B696-B252743034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9B7745-3C9F-1119-34FB-7F3DF3B60F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A54276-0759-2724-B79F-105C42B1790B}"/>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6" name="Footer Placeholder 5">
            <a:extLst>
              <a:ext uri="{FF2B5EF4-FFF2-40B4-BE49-F238E27FC236}">
                <a16:creationId xmlns:a16="http://schemas.microsoft.com/office/drawing/2014/main" id="{205912FE-8946-72B1-A121-4A580F8D40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E2B02-F7F3-27EA-F9BE-97052308DB0A}"/>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2428547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2426-FD84-3513-96CD-2F47C39840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18C836-1297-47D1-9E51-E251D29A87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ADBE5-C70C-DC01-699A-731F5280EC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3A710D-6500-6FD7-8135-1D5135E6E0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CF57E1-3D9E-8B3D-3EE7-6AE8FECC7D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F30623-C19E-0EBC-3622-9B3C5E2D241B}"/>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8" name="Footer Placeholder 7">
            <a:extLst>
              <a:ext uri="{FF2B5EF4-FFF2-40B4-BE49-F238E27FC236}">
                <a16:creationId xmlns:a16="http://schemas.microsoft.com/office/drawing/2014/main" id="{5F2FFE60-E4E0-AE65-EF4B-C52344BCAD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CCA4E9-7E81-820D-577F-5B8F8DB049F7}"/>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424794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B6924-6360-2049-30E9-011B33CA5B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13D177-B98E-E960-EAFE-F3D85ED44220}"/>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4" name="Footer Placeholder 3">
            <a:extLst>
              <a:ext uri="{FF2B5EF4-FFF2-40B4-BE49-F238E27FC236}">
                <a16:creationId xmlns:a16="http://schemas.microsoft.com/office/drawing/2014/main" id="{206A4ECE-9303-0938-FC98-2B16A89DE8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62D406-C00E-8550-4069-043FFE700691}"/>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2292277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7FA3EF-1E59-F216-7406-959F6B74850B}"/>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3" name="Footer Placeholder 2">
            <a:extLst>
              <a:ext uri="{FF2B5EF4-FFF2-40B4-BE49-F238E27FC236}">
                <a16:creationId xmlns:a16="http://schemas.microsoft.com/office/drawing/2014/main" id="{CB25F396-029C-8B28-F517-578123CB21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335E8F-3A72-FDF8-D358-31FE2B991EB0}"/>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2719782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7098-7BD1-6502-89C4-B4341F865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1DD17F-DDAC-0CC7-2574-27CDC1A6B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347728-064C-9776-08E7-D57E88524B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CAF3D5-A5B3-A9BB-DD69-D051F23A1576}"/>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6" name="Footer Placeholder 5">
            <a:extLst>
              <a:ext uri="{FF2B5EF4-FFF2-40B4-BE49-F238E27FC236}">
                <a16:creationId xmlns:a16="http://schemas.microsoft.com/office/drawing/2014/main" id="{F08FEF6F-6954-342A-A397-3AE82ADFFB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6A9565-B43F-D856-F6EA-A28D43CF22E1}"/>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3693984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7878-6272-55A7-8134-0AF4C582E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99A24C-C1B1-FE54-8284-5E47BB251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6810E4-4DA2-660C-1DAE-5C1A7D78A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F8BB9-6985-B90B-939C-B8734B0EACCF}"/>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6" name="Footer Placeholder 5">
            <a:extLst>
              <a:ext uri="{FF2B5EF4-FFF2-40B4-BE49-F238E27FC236}">
                <a16:creationId xmlns:a16="http://schemas.microsoft.com/office/drawing/2014/main" id="{1710323B-DD37-C455-076B-880E534C0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0532C7-69CE-99CD-3495-5E7EF9D7E31C}"/>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3196205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4FBF-7C09-7F07-7E32-4590F65D27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5B613A-D50F-8EBD-D111-BBBB792482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A188AB-E990-C7C3-D82D-32471C4763B3}"/>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C9A90F84-FEEB-D67D-100B-3722D6759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F448B-E328-384A-DE67-D7E7E241A8BD}"/>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200289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091DB3-8E9D-6BB3-7374-B653677C2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E9E80C-7900-8D76-5B4B-A92C00E0DC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3C37C-B301-E1D5-C714-07F0F2AF25DE}"/>
              </a:ext>
            </a:extLst>
          </p:cNvPr>
          <p:cNvSpPr>
            <a:spLocks noGrp="1"/>
          </p:cNvSpPr>
          <p:nvPr>
            <p:ph type="dt" sz="half" idx="10"/>
          </p:nvPr>
        </p:nvSpPr>
        <p:spPr/>
        <p:txBody>
          <a:body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5D5D0C9F-66A6-FF65-0E9A-0687697BBB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23A0-8664-8CB7-FDBD-4459017A86CA}"/>
              </a:ext>
            </a:extLst>
          </p:cNvPr>
          <p:cNvSpPr>
            <a:spLocks noGrp="1"/>
          </p:cNvSpPr>
          <p:nvPr>
            <p:ph type="sldNum" sz="quarter" idx="12"/>
          </p:nvPr>
        </p:nvSpPr>
        <p:spPr/>
        <p:txBody>
          <a:bodyPr/>
          <a:lstStyle/>
          <a:p>
            <a:fld id="{DCA0548C-F932-4371-A524-71AAF9BFAA20}" type="slidenum">
              <a:rPr lang="en-US" smtClean="0"/>
              <a:t>‹#›</a:t>
            </a:fld>
            <a:endParaRPr lang="en-US"/>
          </a:p>
        </p:txBody>
      </p:sp>
    </p:spTree>
    <p:extLst>
      <p:ext uri="{BB962C8B-B14F-4D97-AF65-F5344CB8AC3E}">
        <p14:creationId xmlns:p14="http://schemas.microsoft.com/office/powerpoint/2010/main" val="2250523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AB4DF1-391C-6F50-8DEA-B4B07C962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769F30-A86B-4350-8242-6808B2C09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F5761-0D2A-22C3-588D-F7D9AE395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A819ED-B6A0-47BC-8167-48F19BEB334F}" type="datetimeFigureOut">
              <a:rPr lang="en-US" smtClean="0"/>
              <a:t>2/8/2026</a:t>
            </a:fld>
            <a:endParaRPr lang="en-US"/>
          </a:p>
        </p:txBody>
      </p:sp>
      <p:sp>
        <p:nvSpPr>
          <p:cNvPr id="5" name="Footer Placeholder 4">
            <a:extLst>
              <a:ext uri="{FF2B5EF4-FFF2-40B4-BE49-F238E27FC236}">
                <a16:creationId xmlns:a16="http://schemas.microsoft.com/office/drawing/2014/main" id="{25CF874A-B144-511E-B12C-837EE664A2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BE37F3-42E7-E5E3-C6A3-56A4F908A6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A0548C-F932-4371-A524-71AAF9BFAA20}" type="slidenum">
              <a:rPr lang="en-US" smtClean="0"/>
              <a:t>‹#›</a:t>
            </a:fld>
            <a:endParaRPr lang="en-US"/>
          </a:p>
        </p:txBody>
      </p:sp>
    </p:spTree>
    <p:extLst>
      <p:ext uri="{BB962C8B-B14F-4D97-AF65-F5344CB8AC3E}">
        <p14:creationId xmlns:p14="http://schemas.microsoft.com/office/powerpoint/2010/main" val="1315562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8.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_slide_0_el_2.png"/>
          <p:cNvPicPr>
            <a:picLocks noChangeAspect="1"/>
          </p:cNvPicPr>
          <p:nvPr/>
        </p:nvPicPr>
        <p:blipFill>
          <a:blip r:embed="rId3"/>
          <a:stretch>
            <a:fillRect/>
          </a:stretch>
        </p:blipFill>
        <p:spPr>
          <a:xfrm>
            <a:off x="11906250" y="-285750"/>
            <a:ext cx="285750" cy="4000500"/>
          </a:xfrm>
          <a:prstGeom prst="rect">
            <a:avLst/>
          </a:prstGeom>
        </p:spPr>
      </p:pic>
      <p:sp>
        <p:nvSpPr>
          <p:cNvPr id="5" name="Rectangle 4"/>
          <p:cNvSpPr/>
          <p:nvPr/>
        </p:nvSpPr>
        <p:spPr>
          <a:xfrm>
            <a:off x="0" y="3429000"/>
            <a:ext cx="12192000" cy="3429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419100" y="4421980"/>
            <a:ext cx="6927101" cy="1031053"/>
          </a:xfrm>
          <a:prstGeom prst="rect">
            <a:avLst/>
          </a:prstGeom>
          <a:noFill/>
        </p:spPr>
        <p:txBody>
          <a:bodyPr wrap="square" lIns="0" tIns="0" rIns="0" bIns="0" anchor="t">
            <a:spAutoFit/>
          </a:bodyPr>
          <a:lstStyle/>
          <a:p>
            <a:pPr algn="l">
              <a:lnSpc>
                <a:spcPct val="90000"/>
              </a:lnSpc>
            </a:pPr>
            <a:r>
              <a:rPr lang="en-US" sz="7500" dirty="0">
                <a:solidFill>
                  <a:srgbClr val="1E1E1E"/>
                </a:solidFill>
                <a:latin typeface="Times New Roman" panose="02020603050405020304" pitchFamily="18" charset="0"/>
                <a:cs typeface="Times New Roman" panose="02020603050405020304" pitchFamily="18" charset="0"/>
              </a:rPr>
              <a:t>Drone </a:t>
            </a:r>
            <a:r>
              <a:rPr sz="7500" dirty="0">
                <a:solidFill>
                  <a:srgbClr val="1E1E1E"/>
                </a:solidFill>
                <a:latin typeface="Times New Roman" panose="02020603050405020304" pitchFamily="18" charset="0"/>
                <a:cs typeface="Times New Roman" panose="02020603050405020304" pitchFamily="18" charset="0"/>
              </a:rPr>
              <a:t>GIS Ethics</a:t>
            </a:r>
          </a:p>
        </p:txBody>
      </p:sp>
      <p:sp>
        <p:nvSpPr>
          <p:cNvPr id="7" name="TextBox 6"/>
          <p:cNvSpPr txBox="1"/>
          <p:nvPr/>
        </p:nvSpPr>
        <p:spPr>
          <a:xfrm>
            <a:off x="454671" y="5416496"/>
            <a:ext cx="7060850" cy="342466"/>
          </a:xfrm>
          <a:prstGeom prst="rect">
            <a:avLst/>
          </a:prstGeom>
          <a:noFill/>
        </p:spPr>
        <p:txBody>
          <a:bodyPr wrap="square" lIns="0" tIns="0" rIns="0" bIns="0" anchor="t">
            <a:spAutoFit/>
          </a:bodyPr>
          <a:lstStyle/>
          <a:p>
            <a:pPr algn="l">
              <a:lnSpc>
                <a:spcPct val="106250"/>
              </a:lnSpc>
            </a:pPr>
            <a:r>
              <a:rPr sz="2250" dirty="0">
                <a:solidFill>
                  <a:srgbClr val="808080"/>
                </a:solidFill>
                <a:latin typeface="Times New Roman" panose="02020603050405020304" pitchFamily="18" charset="0"/>
                <a:cs typeface="Times New Roman" panose="02020603050405020304" pitchFamily="18" charset="0"/>
              </a:rPr>
              <a:t>Privacy, Safety, Security, and Equity in GIS </a:t>
            </a:r>
            <a:r>
              <a:rPr sz="2250" dirty="0">
                <a:solidFill>
                  <a:srgbClr val="808080"/>
                </a:solidFill>
                <a:latin typeface="Arial" panose="020B0604020202020204" pitchFamily="34" charset="0"/>
                <a:cs typeface="Arial" panose="020B0604020202020204" pitchFamily="34" charset="0"/>
              </a:rPr>
              <a:t>Technologies</a:t>
            </a:r>
          </a:p>
        </p:txBody>
      </p:sp>
      <p:sp>
        <p:nvSpPr>
          <p:cNvPr id="8" name="Rectangle 7"/>
          <p:cNvSpPr/>
          <p:nvPr/>
        </p:nvSpPr>
        <p:spPr>
          <a:xfrm>
            <a:off x="8595270" y="4408884"/>
            <a:ext cx="3215580" cy="14692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7604669" y="4294523"/>
            <a:ext cx="0" cy="1469231"/>
          </a:xfrm>
          <a:prstGeom prst="line">
            <a:avLst/>
          </a:prstGeom>
          <a:ln w="9525">
            <a:solidFill>
              <a:srgbClr val="D1D5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02178" y="4248798"/>
            <a:ext cx="3819524" cy="1789401"/>
          </a:xfrm>
          <a:prstGeom prst="rect">
            <a:avLst/>
          </a:prstGeom>
          <a:noFill/>
        </p:spPr>
        <p:txBody>
          <a:bodyPr wrap="square" lIns="0" tIns="0" rIns="0" bIns="0" anchor="t">
            <a:spAutoFit/>
          </a:bodyPr>
          <a:lstStyle/>
          <a:p>
            <a:pPr algn="ctr">
              <a:lnSpc>
                <a:spcPct val="200000"/>
              </a:lnSpc>
            </a:pPr>
            <a:r>
              <a:rPr lang="en-US" sz="1200" dirty="0">
                <a:latin typeface="Arial" panose="020B0604020202020204" pitchFamily="34" charset="0"/>
                <a:cs typeface="Arial" panose="020B0604020202020204" pitchFamily="34" charset="0"/>
              </a:rPr>
              <a:t>Alexander</a:t>
            </a:r>
            <a:r>
              <a:rPr lang="en-US" sz="1200" dirty="0">
                <a:latin typeface="Times New Roman" panose="02020603050405020304" pitchFamily="18" charset="0"/>
                <a:cs typeface="Times New Roman" panose="02020603050405020304" pitchFamily="18" charset="0"/>
              </a:rPr>
              <a:t> Ricciardi</a:t>
            </a:r>
          </a:p>
          <a:p>
            <a:pPr algn="ctr">
              <a:lnSpc>
                <a:spcPct val="200000"/>
              </a:lnSpc>
            </a:pPr>
            <a:r>
              <a:rPr lang="en-US" sz="1200" dirty="0">
                <a:latin typeface="Arial" panose="020B0604020202020204" pitchFamily="34" charset="0"/>
                <a:cs typeface="Arial" panose="020B0604020202020204" pitchFamily="34" charset="0"/>
              </a:rPr>
              <a:t>Colorado State University Global</a:t>
            </a:r>
          </a:p>
          <a:p>
            <a:pPr algn="ctr">
              <a:lnSpc>
                <a:spcPct val="200000"/>
              </a:lnSpc>
            </a:pPr>
            <a:r>
              <a:rPr lang="en-US" sz="1200" dirty="0">
                <a:latin typeface="Arial" panose="020B0604020202020204" pitchFamily="34" charset="0"/>
                <a:cs typeface="Arial" panose="020B0604020202020204" pitchFamily="34" charset="0"/>
              </a:rPr>
              <a:t>CSC502: Ethical Leadership in Software Development</a:t>
            </a:r>
          </a:p>
          <a:p>
            <a:pPr algn="ctr">
              <a:lnSpc>
                <a:spcPct val="200000"/>
              </a:lnSpc>
            </a:pPr>
            <a:r>
              <a:rPr lang="en-US" sz="1200" dirty="0">
                <a:latin typeface="Arial" panose="020B0604020202020204" pitchFamily="34" charset="0"/>
                <a:cs typeface="Arial" panose="020B0604020202020204" pitchFamily="34" charset="0"/>
              </a:rPr>
              <a:t>Professor: Dr. Steven Evans</a:t>
            </a:r>
          </a:p>
          <a:p>
            <a:pPr algn="ctr">
              <a:lnSpc>
                <a:spcPct val="200000"/>
              </a:lnSpc>
            </a:pPr>
            <a:r>
              <a:rPr lang="en-US" sz="1200" dirty="0">
                <a:latin typeface="Arial" panose="020B0604020202020204" pitchFamily="34" charset="0"/>
                <a:cs typeface="Arial" panose="020B0604020202020204" pitchFamily="34" charset="0"/>
              </a:rPr>
              <a:t>February 8, 2026</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rcRect/>
          <a:stretch/>
        </p:blipFill>
        <p:spPr>
          <a:xfrm>
            <a:off x="1" y="0"/>
            <a:ext cx="12191999" cy="3457780"/>
          </a:xfrm>
          <a:prstGeom prst="rect">
            <a:avLst/>
          </a:prstGeom>
        </p:spPr>
      </p:pic>
      <p:sp>
        <p:nvSpPr>
          <p:cNvPr id="3" name="TextBox 2">
            <a:extLst>
              <a:ext uri="{FF2B5EF4-FFF2-40B4-BE49-F238E27FC236}">
                <a16:creationId xmlns:a16="http://schemas.microsoft.com/office/drawing/2014/main" id="{D2028B15-51E0-D419-5CF2-A9FFDCDA1575}"/>
              </a:ext>
            </a:extLst>
          </p:cNvPr>
          <p:cNvSpPr txBox="1"/>
          <p:nvPr/>
        </p:nvSpPr>
        <p:spPr>
          <a:xfrm>
            <a:off x="210122" y="3514450"/>
            <a:ext cx="1941730"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Image credit: </a:t>
            </a:r>
            <a:r>
              <a:rPr lang="en-US" sz="900" dirty="0" err="1">
                <a:solidFill>
                  <a:srgbClr val="808080"/>
                </a:solidFill>
                <a:latin typeface="Arial"/>
              </a:rPr>
              <a:t>Sumerling</a:t>
            </a:r>
            <a:r>
              <a:rPr lang="en-US" sz="900" dirty="0">
                <a:solidFill>
                  <a:srgbClr val="808080"/>
                </a:solidFill>
                <a:latin typeface="Arial"/>
              </a:rPr>
              <a:t> (2017)</a:t>
            </a:r>
            <a:endParaRPr sz="900" dirty="0">
              <a:solidFill>
                <a:srgbClr val="80808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06550"/>
            <a:ext cx="3357562"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Contents</a:t>
            </a:r>
          </a:p>
        </p:txBody>
      </p:sp>
      <p:sp>
        <p:nvSpPr>
          <p:cNvPr id="4" name="TextBox 3"/>
          <p:cNvSpPr txBox="1"/>
          <p:nvPr/>
        </p:nvSpPr>
        <p:spPr>
          <a:xfrm>
            <a:off x="2462208" y="1453648"/>
            <a:ext cx="3405192"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1 - </a:t>
            </a:r>
            <a:r>
              <a:rPr sz="2000" dirty="0"/>
              <a:t>Why Ethics in GIS</a:t>
            </a:r>
          </a:p>
        </p:txBody>
      </p:sp>
      <p:sp>
        <p:nvSpPr>
          <p:cNvPr id="6" name="TextBox 5"/>
          <p:cNvSpPr txBox="1"/>
          <p:nvPr/>
        </p:nvSpPr>
        <p:spPr>
          <a:xfrm>
            <a:off x="2462208" y="2071401"/>
            <a:ext cx="3543303" cy="312393"/>
          </a:xfrm>
          <a:prstGeom prst="rect">
            <a:avLst/>
          </a:prstGeom>
          <a:noFill/>
        </p:spPr>
        <p:txBody>
          <a:bodyPr wrap="square" lIns="0" tIns="0" rIns="0" bIns="0" anchor="ctr">
            <a:spAutoFit/>
          </a:bodyPr>
          <a:lstStyle/>
          <a:p>
            <a:pPr>
              <a:lnSpc>
                <a:spcPct val="106250"/>
              </a:lnSpc>
              <a:defRPr sz="1500">
                <a:solidFill>
                  <a:srgbClr val="1A1A1A"/>
                </a:solidFill>
                <a:latin typeface="Area Normal"/>
              </a:defRPr>
            </a:pPr>
            <a:r>
              <a:rPr lang="en-US" sz="2000" b="1" dirty="0"/>
              <a:t>2 -</a:t>
            </a:r>
            <a:r>
              <a:rPr lang="en-US" sz="2000" dirty="0"/>
              <a:t> </a:t>
            </a:r>
            <a:r>
              <a:rPr sz="2000" dirty="0"/>
              <a:t>Privacy &amp; Surveillance</a:t>
            </a:r>
          </a:p>
        </p:txBody>
      </p:sp>
      <p:sp>
        <p:nvSpPr>
          <p:cNvPr id="8" name="TextBox 7"/>
          <p:cNvSpPr txBox="1"/>
          <p:nvPr/>
        </p:nvSpPr>
        <p:spPr>
          <a:xfrm>
            <a:off x="2462208" y="2689154"/>
            <a:ext cx="3833817"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3 - </a:t>
            </a:r>
            <a:r>
              <a:rPr sz="2000" dirty="0"/>
              <a:t>Safety &amp; Environmental Impact</a:t>
            </a:r>
          </a:p>
        </p:txBody>
      </p:sp>
      <p:sp>
        <p:nvSpPr>
          <p:cNvPr id="10" name="TextBox 9"/>
          <p:cNvSpPr txBox="1"/>
          <p:nvPr/>
        </p:nvSpPr>
        <p:spPr>
          <a:xfrm>
            <a:off x="2462208" y="3169201"/>
            <a:ext cx="3543303"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4 - </a:t>
            </a:r>
            <a:r>
              <a:rPr lang="en-US" sz="2000" dirty="0"/>
              <a:t> </a:t>
            </a:r>
            <a:r>
              <a:rPr sz="2000" dirty="0"/>
              <a:t>Data Security &amp; Integrity</a:t>
            </a:r>
          </a:p>
        </p:txBody>
      </p:sp>
      <p:sp>
        <p:nvSpPr>
          <p:cNvPr id="12" name="TextBox 11"/>
          <p:cNvSpPr txBox="1"/>
          <p:nvPr/>
        </p:nvSpPr>
        <p:spPr>
          <a:xfrm>
            <a:off x="2462208" y="3678772"/>
            <a:ext cx="4709018"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5 - </a:t>
            </a:r>
            <a:r>
              <a:rPr sz="2000" dirty="0"/>
              <a:t>Equity &amp; Justice</a:t>
            </a:r>
          </a:p>
        </p:txBody>
      </p:sp>
      <p:sp>
        <p:nvSpPr>
          <p:cNvPr id="14" name="TextBox 13"/>
          <p:cNvSpPr txBox="1"/>
          <p:nvPr/>
        </p:nvSpPr>
        <p:spPr>
          <a:xfrm>
            <a:off x="2462208" y="4261506"/>
            <a:ext cx="5086350"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6 - </a:t>
            </a:r>
            <a:r>
              <a:rPr sz="2000" dirty="0"/>
              <a:t>What to Keep Out, How It Can Be Abused</a:t>
            </a:r>
          </a:p>
        </p:txBody>
      </p:sp>
      <p:sp>
        <p:nvSpPr>
          <p:cNvPr id="16" name="TextBox 15"/>
          <p:cNvSpPr txBox="1"/>
          <p:nvPr/>
        </p:nvSpPr>
        <p:spPr>
          <a:xfrm>
            <a:off x="2462208" y="4968254"/>
            <a:ext cx="6223031"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7 - </a:t>
            </a:r>
            <a:r>
              <a:rPr sz="2000" dirty="0"/>
              <a:t>Public Access vs. Inaccessibility (Public Expense)</a:t>
            </a:r>
          </a:p>
        </p:txBody>
      </p:sp>
      <p:sp>
        <p:nvSpPr>
          <p:cNvPr id="18" name="TextBox 17"/>
          <p:cNvSpPr txBox="1"/>
          <p:nvPr/>
        </p:nvSpPr>
        <p:spPr>
          <a:xfrm>
            <a:off x="2462208" y="5589310"/>
            <a:ext cx="3028956" cy="312393"/>
          </a:xfrm>
          <a:prstGeom prst="rect">
            <a:avLst/>
          </a:prstGeom>
          <a:noFill/>
        </p:spPr>
        <p:txBody>
          <a:bodyPr wrap="square" lIns="0" tIns="0" rIns="0" bIns="0" anchor="ctr">
            <a:spAutoFit/>
          </a:bodyPr>
          <a:lstStyle/>
          <a:p>
            <a:pPr algn="l">
              <a:lnSpc>
                <a:spcPct val="106250"/>
              </a:lnSpc>
              <a:defRPr sz="1500">
                <a:solidFill>
                  <a:srgbClr val="1A1A1A"/>
                </a:solidFill>
                <a:latin typeface="Area Normal"/>
              </a:defRPr>
            </a:pPr>
            <a:r>
              <a:rPr lang="en-US" sz="2000" b="1" dirty="0"/>
              <a:t>8 - </a:t>
            </a:r>
            <a:r>
              <a:rPr sz="2000" dirty="0"/>
              <a:t>References</a:t>
            </a:r>
          </a:p>
        </p:txBody>
      </p:sp>
      <p:pic>
        <p:nvPicPr>
          <p:cNvPr id="19" name="Picture 18" descr="temp_slide_0_el_9.png"/>
          <p:cNvPicPr>
            <a:picLocks noChangeAspect="1"/>
          </p:cNvPicPr>
          <p:nvPr/>
        </p:nvPicPr>
        <p:blipFill>
          <a:blip r:embed="rId3"/>
          <a:stretch>
            <a:fillRect/>
          </a:stretch>
        </p:blipFill>
        <p:spPr>
          <a:xfrm>
            <a:off x="285750" y="6057900"/>
            <a:ext cx="800100" cy="800100"/>
          </a:xfrm>
          <a:prstGeom prst="rect">
            <a:avLst/>
          </a:prstGeom>
        </p:spPr>
      </p:pic>
      <p:sp>
        <p:nvSpPr>
          <p:cNvPr id="20" name="TextBox 19"/>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dirty="0">
                <a:solidFill>
                  <a:srgbClr val="808080"/>
                </a:solidFill>
                <a:latin typeface="Arial"/>
              </a:rPr>
              <a:t>Ethical Issues in GIS Technologies</a:t>
            </a:r>
          </a:p>
        </p:txBody>
      </p:sp>
      <p:sp>
        <p:nvSpPr>
          <p:cNvPr id="21" name="TextBox 20"/>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476250"/>
            <a:ext cx="22098000" cy="571500"/>
          </a:xfrm>
          <a:prstGeom prst="rect">
            <a:avLst/>
          </a:prstGeom>
          <a:noFill/>
        </p:spPr>
        <p:txBody>
          <a:bodyPr wrap="square" lIns="0" tIns="0" rIns="0" bIns="0" anchor="t">
            <a:spAutoFit/>
          </a:bodyPr>
          <a:lstStyle/>
          <a:p>
            <a:pPr algn="l">
              <a:lnSpc>
                <a:spcPct val="90000"/>
              </a:lnSpc>
            </a:pPr>
            <a:r>
              <a:rPr sz="4500">
                <a:solidFill>
                  <a:srgbClr val="1E1E1E"/>
                </a:solidFill>
                <a:latin typeface="Century Gothic"/>
              </a:rPr>
              <a:t>Why Ethics in GIS</a:t>
            </a:r>
          </a:p>
        </p:txBody>
      </p:sp>
      <p:grpSp>
        <p:nvGrpSpPr>
          <p:cNvPr id="30" name="Group 29">
            <a:extLst>
              <a:ext uri="{FF2B5EF4-FFF2-40B4-BE49-F238E27FC236}">
                <a16:creationId xmlns:a16="http://schemas.microsoft.com/office/drawing/2014/main" id="{EF250CC1-A571-6853-4725-65A8F7F51C5B}"/>
              </a:ext>
            </a:extLst>
          </p:cNvPr>
          <p:cNvGrpSpPr/>
          <p:nvPr/>
        </p:nvGrpSpPr>
        <p:grpSpPr>
          <a:xfrm>
            <a:off x="152400" y="1252538"/>
            <a:ext cx="5791200" cy="1924050"/>
            <a:chOff x="314325" y="1519238"/>
            <a:chExt cx="5791200" cy="1924050"/>
          </a:xfrm>
        </p:grpSpPr>
        <p:pic>
          <p:nvPicPr>
            <p:cNvPr id="3" name="Picture 2" descr="temp_slide_0_el_1.png"/>
            <p:cNvPicPr>
              <a:picLocks noChangeAspect="1"/>
            </p:cNvPicPr>
            <p:nvPr/>
          </p:nvPicPr>
          <p:blipFill>
            <a:blip r:embed="rId3"/>
            <a:stretch>
              <a:fillRect/>
            </a:stretch>
          </p:blipFill>
          <p:spPr>
            <a:xfrm>
              <a:off x="314325" y="1519238"/>
              <a:ext cx="5791200" cy="1924050"/>
            </a:xfrm>
            <a:prstGeom prst="rect">
              <a:avLst/>
            </a:prstGeom>
          </p:spPr>
        </p:pic>
        <p:sp>
          <p:nvSpPr>
            <p:cNvPr id="4" name="TextBox 3"/>
            <p:cNvSpPr txBox="1"/>
            <p:nvPr/>
          </p:nvSpPr>
          <p:spPr>
            <a:xfrm>
              <a:off x="933450" y="2114550"/>
              <a:ext cx="4552950" cy="742950"/>
            </a:xfrm>
            <a:prstGeom prst="rect">
              <a:avLst/>
            </a:prstGeom>
            <a:noFill/>
          </p:spPr>
          <p:txBody>
            <a:bodyPr wrap="square" lIns="0" tIns="0" rIns="0" bIns="0" anchor="t">
              <a:spAutoFit/>
            </a:bodyPr>
            <a:lstStyle/>
            <a:p>
              <a:pPr algn="l">
                <a:lnSpc>
                  <a:spcPct val="138125"/>
                </a:lnSpc>
              </a:pPr>
              <a:r>
                <a:rPr sz="1800" dirty="0">
                  <a:solidFill>
                    <a:srgbClr val="1E1E1E"/>
                  </a:solidFill>
                  <a:latin typeface="Arial"/>
                </a:rPr>
                <a:t>GIS enables public benefits but can harm individual rights when data is misused.</a:t>
              </a:r>
            </a:p>
          </p:txBody>
        </p:sp>
      </p:grpSp>
      <p:sp>
        <p:nvSpPr>
          <p:cNvPr id="5" name="TextBox 4"/>
          <p:cNvSpPr txBox="1"/>
          <p:nvPr/>
        </p:nvSpPr>
        <p:spPr>
          <a:xfrm>
            <a:off x="585788" y="3374231"/>
            <a:ext cx="10287000" cy="266700"/>
          </a:xfrm>
          <a:prstGeom prst="rect">
            <a:avLst/>
          </a:prstGeom>
          <a:noFill/>
        </p:spPr>
        <p:txBody>
          <a:bodyPr wrap="square" lIns="0" tIns="0" rIns="0" bIns="0" anchor="t">
            <a:spAutoFit/>
          </a:bodyPr>
          <a:lstStyle/>
          <a:p>
            <a:pPr algn="l">
              <a:lnSpc>
                <a:spcPct val="119000"/>
              </a:lnSpc>
            </a:pPr>
            <a:r>
              <a:rPr sz="1500" dirty="0">
                <a:solidFill>
                  <a:srgbClr val="A67C6D"/>
                </a:solidFill>
                <a:latin typeface="Arial"/>
              </a:rPr>
              <a:t>Common good</a:t>
            </a:r>
          </a:p>
        </p:txBody>
      </p:sp>
      <p:sp>
        <p:nvSpPr>
          <p:cNvPr id="6" name="TextBox 5"/>
          <p:cNvSpPr txBox="1"/>
          <p:nvPr/>
        </p:nvSpPr>
        <p:spPr>
          <a:xfrm>
            <a:off x="585788" y="3709987"/>
            <a:ext cx="3943350" cy="557212"/>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High-resolution, real-time geospatial data supports mapping/monitoring and decision-making.</a:t>
            </a:r>
          </a:p>
        </p:txBody>
      </p:sp>
      <p:sp>
        <p:nvSpPr>
          <p:cNvPr id="7" name="TextBox 6"/>
          <p:cNvSpPr txBox="1"/>
          <p:nvPr/>
        </p:nvSpPr>
        <p:spPr>
          <a:xfrm>
            <a:off x="585788" y="4510087"/>
            <a:ext cx="10287000" cy="266700"/>
          </a:xfrm>
          <a:prstGeom prst="rect">
            <a:avLst/>
          </a:prstGeom>
          <a:noFill/>
        </p:spPr>
        <p:txBody>
          <a:bodyPr wrap="square" lIns="0" tIns="0" rIns="0" bIns="0" anchor="t">
            <a:spAutoFit/>
          </a:bodyPr>
          <a:lstStyle/>
          <a:p>
            <a:pPr algn="l">
              <a:lnSpc>
                <a:spcPct val="119000"/>
              </a:lnSpc>
            </a:pPr>
            <a:r>
              <a:rPr sz="1500" dirty="0">
                <a:solidFill>
                  <a:srgbClr val="A67C6D"/>
                </a:solidFill>
                <a:latin typeface="Arial"/>
              </a:rPr>
              <a:t>Individual rights</a:t>
            </a:r>
          </a:p>
        </p:txBody>
      </p:sp>
      <p:sp>
        <p:nvSpPr>
          <p:cNvPr id="8" name="TextBox 7"/>
          <p:cNvSpPr txBox="1"/>
          <p:nvPr/>
        </p:nvSpPr>
        <p:spPr>
          <a:xfrm>
            <a:off x="571500" y="4857749"/>
            <a:ext cx="4752975" cy="557212"/>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Drone/GIS data can capture identifiable details (faces, license plates, private activities) without awareness or consent.</a:t>
            </a:r>
          </a:p>
        </p:txBody>
      </p:sp>
      <p:pic>
        <p:nvPicPr>
          <p:cNvPr id="9" name="Picture 8" descr="temp_slide_0_el_7.png"/>
          <p:cNvPicPr>
            <a:picLocks noChangeAspect="1"/>
          </p:cNvPicPr>
          <p:nvPr/>
        </p:nvPicPr>
        <p:blipFill>
          <a:blip r:embed="rId4"/>
          <a:stretch>
            <a:fillRect/>
          </a:stretch>
        </p:blipFill>
        <p:spPr>
          <a:xfrm>
            <a:off x="6072188" y="535781"/>
            <a:ext cx="3067050" cy="2600325"/>
          </a:xfrm>
          <a:prstGeom prst="rect">
            <a:avLst/>
          </a:prstGeom>
        </p:spPr>
      </p:pic>
      <p:pic>
        <p:nvPicPr>
          <p:cNvPr id="11" name="Picture 10" descr="temp_icon_slide_0_el_9.png"/>
          <p:cNvPicPr>
            <a:picLocks noChangeAspect="1"/>
          </p:cNvPicPr>
          <p:nvPr/>
        </p:nvPicPr>
        <p:blipFill>
          <a:blip r:embed="rId5"/>
          <a:stretch>
            <a:fillRect/>
          </a:stretch>
        </p:blipFill>
        <p:spPr>
          <a:xfrm>
            <a:off x="7481888" y="1476375"/>
            <a:ext cx="247650" cy="285750"/>
          </a:xfrm>
          <a:prstGeom prst="rect">
            <a:avLst/>
          </a:prstGeom>
        </p:spPr>
      </p:pic>
      <p:sp>
        <p:nvSpPr>
          <p:cNvPr id="12" name="TextBox 11"/>
          <p:cNvSpPr txBox="1"/>
          <p:nvPr/>
        </p:nvSpPr>
        <p:spPr>
          <a:xfrm>
            <a:off x="5729288" y="2147888"/>
            <a:ext cx="3752850" cy="266700"/>
          </a:xfrm>
          <a:prstGeom prst="rect">
            <a:avLst/>
          </a:prstGeom>
          <a:noFill/>
        </p:spPr>
        <p:txBody>
          <a:bodyPr wrap="square" lIns="0" tIns="0" rIns="0" bIns="0" anchor="t">
            <a:spAutoFit/>
          </a:bodyPr>
          <a:lstStyle/>
          <a:p>
            <a:pPr algn="ctr">
              <a:lnSpc>
                <a:spcPct val="119000"/>
              </a:lnSpc>
            </a:pPr>
            <a:r>
              <a:rPr sz="1500" dirty="0">
                <a:solidFill>
                  <a:srgbClr val="1E1E1E"/>
                </a:solidFill>
                <a:latin typeface="Arial"/>
              </a:rPr>
              <a:t>Privacy &amp; surveillance</a:t>
            </a:r>
          </a:p>
        </p:txBody>
      </p:sp>
      <p:pic>
        <p:nvPicPr>
          <p:cNvPr id="13" name="Picture 12" descr="temp_slide_0_el_11.png"/>
          <p:cNvPicPr>
            <a:picLocks noChangeAspect="1"/>
          </p:cNvPicPr>
          <p:nvPr/>
        </p:nvPicPr>
        <p:blipFill>
          <a:blip r:embed="rId6"/>
          <a:stretch>
            <a:fillRect/>
          </a:stretch>
        </p:blipFill>
        <p:spPr>
          <a:xfrm>
            <a:off x="8839200" y="1097757"/>
            <a:ext cx="3067050" cy="2600325"/>
          </a:xfrm>
          <a:prstGeom prst="rect">
            <a:avLst/>
          </a:prstGeom>
        </p:spPr>
      </p:pic>
      <p:pic>
        <p:nvPicPr>
          <p:cNvPr id="15" name="Picture 14" descr="temp_icon_slide_0_el_13.png"/>
          <p:cNvPicPr>
            <a:picLocks noChangeAspect="1"/>
          </p:cNvPicPr>
          <p:nvPr/>
        </p:nvPicPr>
        <p:blipFill>
          <a:blip r:embed="rId7"/>
          <a:stretch>
            <a:fillRect/>
          </a:stretch>
        </p:blipFill>
        <p:spPr>
          <a:xfrm>
            <a:off x="10229850" y="1933576"/>
            <a:ext cx="285750" cy="285750"/>
          </a:xfrm>
          <a:prstGeom prst="rect">
            <a:avLst/>
          </a:prstGeom>
        </p:spPr>
      </p:pic>
      <p:sp>
        <p:nvSpPr>
          <p:cNvPr id="16" name="TextBox 15"/>
          <p:cNvSpPr txBox="1"/>
          <p:nvPr/>
        </p:nvSpPr>
        <p:spPr>
          <a:xfrm>
            <a:off x="9329737" y="2521745"/>
            <a:ext cx="2019300" cy="533400"/>
          </a:xfrm>
          <a:prstGeom prst="rect">
            <a:avLst/>
          </a:prstGeom>
          <a:noFill/>
        </p:spPr>
        <p:txBody>
          <a:bodyPr wrap="square" lIns="0" tIns="0" rIns="0" bIns="0" anchor="t">
            <a:spAutoFit/>
          </a:bodyPr>
          <a:lstStyle/>
          <a:p>
            <a:pPr algn="ctr">
              <a:lnSpc>
                <a:spcPct val="119000"/>
              </a:lnSpc>
            </a:pPr>
            <a:r>
              <a:rPr sz="1500" dirty="0">
                <a:solidFill>
                  <a:srgbClr val="1E1E1E"/>
                </a:solidFill>
                <a:latin typeface="Arial"/>
              </a:rPr>
              <a:t>Safety &amp; environmental impact</a:t>
            </a:r>
          </a:p>
        </p:txBody>
      </p:sp>
      <p:pic>
        <p:nvPicPr>
          <p:cNvPr id="17" name="Picture 16" descr="temp_slide_0_el_15.png"/>
          <p:cNvPicPr>
            <a:picLocks noChangeAspect="1"/>
          </p:cNvPicPr>
          <p:nvPr/>
        </p:nvPicPr>
        <p:blipFill>
          <a:blip r:embed="rId8"/>
          <a:stretch>
            <a:fillRect/>
          </a:stretch>
        </p:blipFill>
        <p:spPr>
          <a:xfrm>
            <a:off x="6167438" y="3038476"/>
            <a:ext cx="3067050" cy="2600325"/>
          </a:xfrm>
          <a:prstGeom prst="rect">
            <a:avLst/>
          </a:prstGeom>
        </p:spPr>
      </p:pic>
      <p:pic>
        <p:nvPicPr>
          <p:cNvPr id="19" name="Picture 18" descr="temp_icon_slide_0_el_17.png"/>
          <p:cNvPicPr>
            <a:picLocks noChangeAspect="1"/>
          </p:cNvPicPr>
          <p:nvPr/>
        </p:nvPicPr>
        <p:blipFill>
          <a:blip r:embed="rId9"/>
          <a:stretch>
            <a:fillRect/>
          </a:stretch>
        </p:blipFill>
        <p:spPr>
          <a:xfrm>
            <a:off x="7558088" y="3850481"/>
            <a:ext cx="285750" cy="285750"/>
          </a:xfrm>
          <a:prstGeom prst="rect">
            <a:avLst/>
          </a:prstGeom>
        </p:spPr>
      </p:pic>
      <p:sp>
        <p:nvSpPr>
          <p:cNvPr id="20" name="TextBox 19"/>
          <p:cNvSpPr txBox="1"/>
          <p:nvPr/>
        </p:nvSpPr>
        <p:spPr>
          <a:xfrm>
            <a:off x="6691313" y="4505325"/>
            <a:ext cx="2019300" cy="533400"/>
          </a:xfrm>
          <a:prstGeom prst="rect">
            <a:avLst/>
          </a:prstGeom>
          <a:noFill/>
        </p:spPr>
        <p:txBody>
          <a:bodyPr wrap="square" lIns="0" tIns="0" rIns="0" bIns="0" anchor="t">
            <a:spAutoFit/>
          </a:bodyPr>
          <a:lstStyle/>
          <a:p>
            <a:pPr algn="ctr">
              <a:lnSpc>
                <a:spcPct val="119000"/>
              </a:lnSpc>
            </a:pPr>
            <a:r>
              <a:rPr sz="1500" dirty="0">
                <a:solidFill>
                  <a:srgbClr val="1E1E1E"/>
                </a:solidFill>
                <a:latin typeface="Arial"/>
              </a:rPr>
              <a:t>Data security &amp; integrity</a:t>
            </a:r>
          </a:p>
        </p:txBody>
      </p:sp>
      <p:pic>
        <p:nvPicPr>
          <p:cNvPr id="21" name="Picture 20" descr="temp_slide_0_el_19.png"/>
          <p:cNvPicPr>
            <a:picLocks noChangeAspect="1"/>
          </p:cNvPicPr>
          <p:nvPr/>
        </p:nvPicPr>
        <p:blipFill>
          <a:blip r:embed="rId10"/>
          <a:stretch>
            <a:fillRect/>
          </a:stretch>
        </p:blipFill>
        <p:spPr>
          <a:xfrm>
            <a:off x="8839200" y="3557587"/>
            <a:ext cx="3067050" cy="2600325"/>
          </a:xfrm>
          <a:prstGeom prst="rect">
            <a:avLst/>
          </a:prstGeom>
        </p:spPr>
      </p:pic>
      <p:pic>
        <p:nvPicPr>
          <p:cNvPr id="23" name="Picture 22" descr="temp_icon_slide_0_el_21.png"/>
          <p:cNvPicPr>
            <a:picLocks noChangeAspect="1"/>
          </p:cNvPicPr>
          <p:nvPr/>
        </p:nvPicPr>
        <p:blipFill>
          <a:blip r:embed="rId11"/>
          <a:stretch>
            <a:fillRect/>
          </a:stretch>
        </p:blipFill>
        <p:spPr>
          <a:xfrm>
            <a:off x="10191750" y="4510086"/>
            <a:ext cx="361950" cy="285750"/>
          </a:xfrm>
          <a:prstGeom prst="rect">
            <a:avLst/>
          </a:prstGeom>
        </p:spPr>
      </p:pic>
      <p:sp>
        <p:nvSpPr>
          <p:cNvPr id="24" name="TextBox 23"/>
          <p:cNvSpPr txBox="1"/>
          <p:nvPr/>
        </p:nvSpPr>
        <p:spPr>
          <a:xfrm>
            <a:off x="9058275" y="5167313"/>
            <a:ext cx="2628900" cy="266700"/>
          </a:xfrm>
          <a:prstGeom prst="rect">
            <a:avLst/>
          </a:prstGeom>
          <a:noFill/>
        </p:spPr>
        <p:txBody>
          <a:bodyPr wrap="square" lIns="0" tIns="0" rIns="0" bIns="0" anchor="t">
            <a:spAutoFit/>
          </a:bodyPr>
          <a:lstStyle/>
          <a:p>
            <a:pPr algn="ctr">
              <a:lnSpc>
                <a:spcPct val="119000"/>
              </a:lnSpc>
            </a:pPr>
            <a:r>
              <a:rPr sz="1500">
                <a:solidFill>
                  <a:srgbClr val="1E1E1E"/>
                </a:solidFill>
                <a:latin typeface="Arial"/>
              </a:rPr>
              <a:t>Equity &amp; justice</a:t>
            </a:r>
          </a:p>
        </p:txBody>
      </p:sp>
      <p:sp>
        <p:nvSpPr>
          <p:cNvPr id="25" name="Rectangle 24"/>
          <p:cNvSpPr/>
          <p:nvPr/>
        </p:nvSpPr>
        <p:spPr>
          <a:xfrm>
            <a:off x="571500" y="6181725"/>
            <a:ext cx="11049000" cy="3905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571500" y="6181725"/>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27" name="Picture 26" descr="temp_slide_0_el_24.png"/>
          <p:cNvPicPr>
            <a:picLocks noChangeAspect="1"/>
          </p:cNvPicPr>
          <p:nvPr/>
        </p:nvPicPr>
        <p:blipFill>
          <a:blip r:embed="rId12"/>
          <a:stretch>
            <a:fillRect/>
          </a:stretch>
        </p:blipFill>
        <p:spPr>
          <a:xfrm>
            <a:off x="285750" y="6057900"/>
            <a:ext cx="800100" cy="800100"/>
          </a:xfrm>
          <a:prstGeom prst="rect">
            <a:avLst/>
          </a:prstGeom>
        </p:spPr>
      </p:pic>
      <p:sp>
        <p:nvSpPr>
          <p:cNvPr id="28" name="TextBox 27"/>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29" name="TextBox 28"/>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03</a:t>
            </a:r>
          </a:p>
        </p:txBody>
      </p:sp>
      <p:sp>
        <p:nvSpPr>
          <p:cNvPr id="10" name="TextBox 9">
            <a:extLst>
              <a:ext uri="{FF2B5EF4-FFF2-40B4-BE49-F238E27FC236}">
                <a16:creationId xmlns:a16="http://schemas.microsoft.com/office/drawing/2014/main" id="{C3DAC5C6-42D3-8D8C-CA6F-BB1DE357A868}"/>
              </a:ext>
            </a:extLst>
          </p:cNvPr>
          <p:cNvSpPr txBox="1"/>
          <p:nvPr/>
        </p:nvSpPr>
        <p:spPr>
          <a:xfrm>
            <a:off x="571500" y="5664616"/>
            <a:ext cx="3067050"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Resnik &amp; Elliott, 2019; Finn &amp; Wright, 2016; Oluoch, 2024)</a:t>
            </a:r>
            <a:endParaRPr sz="900" dirty="0">
              <a:solidFill>
                <a:srgbClr val="80808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546485"/>
            <a:ext cx="6586538"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Privacy &amp; Surveillance</a:t>
            </a:r>
          </a:p>
        </p:txBody>
      </p:sp>
      <p:sp>
        <p:nvSpPr>
          <p:cNvPr id="3" name="Oval 2"/>
          <p:cNvSpPr/>
          <p:nvPr/>
        </p:nvSpPr>
        <p:spPr>
          <a:xfrm>
            <a:off x="571500" y="1630778"/>
            <a:ext cx="76200" cy="76200"/>
          </a:xfrm>
          <a:prstGeom prst="ellipse">
            <a:avLst/>
          </a:prstGeom>
          <a:solidFill>
            <a:srgbClr val="A67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1564481"/>
            <a:ext cx="11952088"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Ubiquitous observation</a:t>
            </a:r>
          </a:p>
        </p:txBody>
      </p:sp>
      <p:sp>
        <p:nvSpPr>
          <p:cNvPr id="5" name="TextBox 4"/>
          <p:cNvSpPr txBox="1"/>
          <p:nvPr/>
        </p:nvSpPr>
        <p:spPr>
          <a:xfrm>
            <a:off x="735359" y="1809373"/>
            <a:ext cx="5724525" cy="447675"/>
          </a:xfrm>
          <a:prstGeom prst="rect">
            <a:avLst/>
          </a:prstGeom>
          <a:noFill/>
        </p:spPr>
        <p:txBody>
          <a:bodyPr wrap="square" lIns="0" tIns="0" rIns="0" bIns="0" anchor="t">
            <a:spAutoFit/>
          </a:bodyPr>
          <a:lstStyle/>
          <a:p>
            <a:pPr algn="l">
              <a:lnSpc>
                <a:spcPct val="138125"/>
              </a:lnSpc>
            </a:pPr>
            <a:r>
              <a:rPr sz="1200" dirty="0">
                <a:solidFill>
                  <a:srgbClr val="808080"/>
                </a:solidFill>
                <a:latin typeface="Arial"/>
              </a:rPr>
              <a:t>Drones can record people/property from unexpected angles (e.g., backyards, through windows).</a:t>
            </a:r>
          </a:p>
        </p:txBody>
      </p:sp>
      <p:sp>
        <p:nvSpPr>
          <p:cNvPr id="6" name="Oval 5"/>
          <p:cNvSpPr/>
          <p:nvPr/>
        </p:nvSpPr>
        <p:spPr>
          <a:xfrm>
            <a:off x="571500" y="2526129"/>
            <a:ext cx="76200" cy="76200"/>
          </a:xfrm>
          <a:prstGeom prst="ellipse">
            <a:avLst/>
          </a:prstGeom>
          <a:solidFill>
            <a:srgbClr val="8B9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2466220"/>
            <a:ext cx="9163050"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Consent &amp; notice</a:t>
            </a:r>
          </a:p>
        </p:txBody>
      </p:sp>
      <p:sp>
        <p:nvSpPr>
          <p:cNvPr id="8" name="TextBox 7"/>
          <p:cNvSpPr txBox="1"/>
          <p:nvPr/>
        </p:nvSpPr>
        <p:spPr>
          <a:xfrm>
            <a:off x="762000" y="2738437"/>
            <a:ext cx="9163050" cy="200025"/>
          </a:xfrm>
          <a:prstGeom prst="rect">
            <a:avLst/>
          </a:prstGeom>
          <a:noFill/>
        </p:spPr>
        <p:txBody>
          <a:bodyPr wrap="square" lIns="0" tIns="0" rIns="0" bIns="0" anchor="t">
            <a:spAutoFit/>
          </a:bodyPr>
          <a:lstStyle/>
          <a:p>
            <a:pPr algn="l">
              <a:lnSpc>
                <a:spcPct val="138125"/>
              </a:lnSpc>
            </a:pPr>
            <a:r>
              <a:rPr sz="1200" dirty="0">
                <a:solidFill>
                  <a:srgbClr val="808080"/>
                </a:solidFill>
                <a:latin typeface="Arial"/>
              </a:rPr>
              <a:t>Often impractical to notify/obtain consent from all those captured.</a:t>
            </a:r>
          </a:p>
        </p:txBody>
      </p:sp>
      <p:sp>
        <p:nvSpPr>
          <p:cNvPr id="9" name="Oval 8"/>
          <p:cNvSpPr/>
          <p:nvPr/>
        </p:nvSpPr>
        <p:spPr>
          <a:xfrm>
            <a:off x="571500" y="3173829"/>
            <a:ext cx="76200" cy="76200"/>
          </a:xfrm>
          <a:prstGeom prst="ellipse">
            <a:avLst/>
          </a:prstGeom>
          <a:solidFill>
            <a:srgbClr val="B8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 y="3135729"/>
            <a:ext cx="11952088"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Data sharing risks</a:t>
            </a:r>
          </a:p>
        </p:txBody>
      </p:sp>
      <p:sp>
        <p:nvSpPr>
          <p:cNvPr id="11" name="TextBox 10"/>
          <p:cNvSpPr txBox="1"/>
          <p:nvPr/>
        </p:nvSpPr>
        <p:spPr>
          <a:xfrm>
            <a:off x="756344" y="3421102"/>
            <a:ext cx="5143500" cy="447675"/>
          </a:xfrm>
          <a:prstGeom prst="rect">
            <a:avLst/>
          </a:prstGeom>
          <a:noFill/>
        </p:spPr>
        <p:txBody>
          <a:bodyPr wrap="square" lIns="0" tIns="0" rIns="0" bIns="0" anchor="t">
            <a:spAutoFit/>
          </a:bodyPr>
          <a:lstStyle/>
          <a:p>
            <a:pPr algn="l">
              <a:lnSpc>
                <a:spcPct val="138125"/>
              </a:lnSpc>
            </a:pPr>
            <a:r>
              <a:rPr sz="1200" dirty="0">
                <a:solidFill>
                  <a:srgbClr val="808080"/>
                </a:solidFill>
                <a:latin typeface="Arial"/>
              </a:rPr>
              <a:t>Imagery/metadata may be repurposed without consent (commercial or law-enforcement uses).</a:t>
            </a:r>
          </a:p>
        </p:txBody>
      </p:sp>
      <p:sp>
        <p:nvSpPr>
          <p:cNvPr id="12" name="Oval 11"/>
          <p:cNvSpPr/>
          <p:nvPr/>
        </p:nvSpPr>
        <p:spPr>
          <a:xfrm>
            <a:off x="571500" y="4069179"/>
            <a:ext cx="76200" cy="76200"/>
          </a:xfrm>
          <a:prstGeom prst="ellipse">
            <a:avLst/>
          </a:prstGeom>
          <a:solidFill>
            <a:srgbClr val="8E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2000" y="3992979"/>
            <a:ext cx="10096500" cy="228600"/>
          </a:xfrm>
          <a:prstGeom prst="rect">
            <a:avLst/>
          </a:prstGeom>
          <a:noFill/>
        </p:spPr>
        <p:txBody>
          <a:bodyPr wrap="square" lIns="0" tIns="0" rIns="0" bIns="0" anchor="t">
            <a:spAutoFit/>
          </a:bodyPr>
          <a:lstStyle/>
          <a:p>
            <a:pPr algn="l">
              <a:lnSpc>
                <a:spcPct val="127500"/>
              </a:lnSpc>
            </a:pPr>
            <a:r>
              <a:rPr sz="1200">
                <a:solidFill>
                  <a:srgbClr val="1E1E1E"/>
                </a:solidFill>
                <a:latin typeface="Arial"/>
              </a:rPr>
              <a:t>Expectation gaps</a:t>
            </a:r>
          </a:p>
        </p:txBody>
      </p:sp>
      <p:sp>
        <p:nvSpPr>
          <p:cNvPr id="14" name="TextBox 13"/>
          <p:cNvSpPr txBox="1"/>
          <p:nvPr/>
        </p:nvSpPr>
        <p:spPr>
          <a:xfrm>
            <a:off x="756344" y="4312820"/>
            <a:ext cx="10096500" cy="200025"/>
          </a:xfrm>
          <a:prstGeom prst="rect">
            <a:avLst/>
          </a:prstGeom>
          <a:noFill/>
        </p:spPr>
        <p:txBody>
          <a:bodyPr wrap="square" lIns="0" tIns="0" rIns="0" bIns="0" anchor="t">
            <a:spAutoFit/>
          </a:bodyPr>
          <a:lstStyle/>
          <a:p>
            <a:pPr algn="l">
              <a:lnSpc>
                <a:spcPct val="138125"/>
              </a:lnSpc>
            </a:pPr>
            <a:r>
              <a:rPr sz="1200" dirty="0">
                <a:solidFill>
                  <a:srgbClr val="808080"/>
                </a:solidFill>
                <a:latin typeface="Arial"/>
              </a:rPr>
              <a:t>Legal treatment of aerial imagery vs. ethically warranted higher standards.</a:t>
            </a:r>
          </a:p>
        </p:txBody>
      </p:sp>
      <p:sp>
        <p:nvSpPr>
          <p:cNvPr id="20" name="TextBox 19"/>
          <p:cNvSpPr txBox="1"/>
          <p:nvPr/>
        </p:nvSpPr>
        <p:spPr>
          <a:xfrm>
            <a:off x="571500" y="4774784"/>
            <a:ext cx="2932079"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a:t>
            </a:r>
            <a:r>
              <a:rPr sz="900" dirty="0">
                <a:solidFill>
                  <a:srgbClr val="808080"/>
                </a:solidFill>
                <a:latin typeface="Arial"/>
              </a:rPr>
              <a:t>Resnik &amp; Elliott</a:t>
            </a:r>
            <a:r>
              <a:rPr lang="en-US" sz="900" dirty="0">
                <a:solidFill>
                  <a:srgbClr val="808080"/>
                </a:solidFill>
                <a:latin typeface="Arial"/>
              </a:rPr>
              <a:t>, </a:t>
            </a:r>
            <a:r>
              <a:rPr sz="900" dirty="0">
                <a:solidFill>
                  <a:srgbClr val="808080"/>
                </a:solidFill>
                <a:latin typeface="Arial"/>
              </a:rPr>
              <a:t>2019; Finn &amp; Wright</a:t>
            </a:r>
            <a:r>
              <a:rPr lang="en-US" sz="900" dirty="0">
                <a:solidFill>
                  <a:srgbClr val="808080"/>
                </a:solidFill>
                <a:latin typeface="Arial"/>
              </a:rPr>
              <a:t>, </a:t>
            </a:r>
            <a:r>
              <a:rPr sz="900" dirty="0">
                <a:solidFill>
                  <a:srgbClr val="808080"/>
                </a:solidFill>
                <a:latin typeface="Arial"/>
              </a:rPr>
              <a:t>2016)</a:t>
            </a:r>
          </a:p>
        </p:txBody>
      </p:sp>
      <p:sp>
        <p:nvSpPr>
          <p:cNvPr id="21" name="Rectangle 20"/>
          <p:cNvSpPr/>
          <p:nvPr/>
        </p:nvSpPr>
        <p:spPr>
          <a:xfrm>
            <a:off x="7195244" y="1200150"/>
            <a:ext cx="4425255" cy="49053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7195244" y="1200150"/>
            <a:ext cx="0" cy="4905375"/>
          </a:xfrm>
          <a:prstGeom prst="line">
            <a:avLst/>
          </a:prstGeom>
          <a:ln w="9525">
            <a:solidFill>
              <a:srgbClr val="F3F4F6"/>
            </a:solidFill>
          </a:ln>
        </p:spPr>
        <p:style>
          <a:lnRef idx="2">
            <a:schemeClr val="accent1"/>
          </a:lnRef>
          <a:fillRef idx="0">
            <a:schemeClr val="accent1"/>
          </a:fillRef>
          <a:effectRef idx="1">
            <a:schemeClr val="accent1"/>
          </a:effectRef>
          <a:fontRef idx="minor">
            <a:schemeClr val="tx1"/>
          </a:fontRef>
        </p:style>
      </p:cxnSp>
      <p:pic>
        <p:nvPicPr>
          <p:cNvPr id="23" name="Picture 22" descr="temp_slide_0_el_20.png"/>
          <p:cNvPicPr>
            <a:picLocks noChangeAspect="1"/>
          </p:cNvPicPr>
          <p:nvPr/>
        </p:nvPicPr>
        <p:blipFill>
          <a:blip r:embed="rId3"/>
          <a:stretch>
            <a:fillRect/>
          </a:stretch>
        </p:blipFill>
        <p:spPr>
          <a:xfrm>
            <a:off x="7755284" y="1037144"/>
            <a:ext cx="3619500" cy="1885950"/>
          </a:xfrm>
          <a:prstGeom prst="rect">
            <a:avLst/>
          </a:prstGeom>
        </p:spPr>
      </p:pic>
      <p:sp>
        <p:nvSpPr>
          <p:cNvPr id="26" name="TextBox 25"/>
          <p:cNvSpPr txBox="1"/>
          <p:nvPr/>
        </p:nvSpPr>
        <p:spPr>
          <a:xfrm>
            <a:off x="8545858" y="2040296"/>
            <a:ext cx="2131666" cy="212366"/>
          </a:xfrm>
          <a:prstGeom prst="rect">
            <a:avLst/>
          </a:prstGeom>
          <a:noFill/>
        </p:spPr>
        <p:txBody>
          <a:bodyPr wrap="square" lIns="0" tIns="0" rIns="0" bIns="0" anchor="t">
            <a:spAutoFit/>
          </a:bodyPr>
          <a:lstStyle/>
          <a:p>
            <a:pPr algn="ctr">
              <a:lnSpc>
                <a:spcPct val="127500"/>
              </a:lnSpc>
            </a:pPr>
            <a:r>
              <a:rPr sz="1200" dirty="0">
                <a:solidFill>
                  <a:srgbClr val="1E1E1E"/>
                </a:solidFill>
                <a:latin typeface="Arial"/>
              </a:rPr>
              <a:t>Capture</a:t>
            </a:r>
          </a:p>
        </p:txBody>
      </p:sp>
      <p:sp>
        <p:nvSpPr>
          <p:cNvPr id="27" name="TextBox 26"/>
          <p:cNvSpPr txBox="1"/>
          <p:nvPr/>
        </p:nvSpPr>
        <p:spPr>
          <a:xfrm>
            <a:off x="8366372" y="2320587"/>
            <a:ext cx="2433638" cy="177293"/>
          </a:xfrm>
          <a:prstGeom prst="rect">
            <a:avLst/>
          </a:prstGeom>
          <a:noFill/>
        </p:spPr>
        <p:txBody>
          <a:bodyPr wrap="square" lIns="0" tIns="0" rIns="0" bIns="0" anchor="t">
            <a:spAutoFit/>
          </a:bodyPr>
          <a:lstStyle/>
          <a:p>
            <a:pPr algn="ctr">
              <a:lnSpc>
                <a:spcPct val="121429"/>
              </a:lnSpc>
            </a:pPr>
            <a:r>
              <a:rPr sz="1050" dirty="0">
                <a:solidFill>
                  <a:srgbClr val="808080"/>
                </a:solidFill>
                <a:latin typeface="Arial"/>
              </a:rPr>
              <a:t>Unchecked surveillance from above</a:t>
            </a:r>
          </a:p>
        </p:txBody>
      </p:sp>
      <p:pic>
        <p:nvPicPr>
          <p:cNvPr id="28" name="Picture 27" descr="temp_icon_slide_0_el_25.png"/>
          <p:cNvPicPr>
            <a:picLocks noChangeAspect="1"/>
          </p:cNvPicPr>
          <p:nvPr/>
        </p:nvPicPr>
        <p:blipFill>
          <a:blip r:embed="rId4"/>
          <a:stretch>
            <a:fillRect/>
          </a:stretch>
        </p:blipFill>
        <p:spPr>
          <a:xfrm>
            <a:off x="9493597" y="2728912"/>
            <a:ext cx="142875" cy="190500"/>
          </a:xfrm>
          <a:prstGeom prst="rect">
            <a:avLst/>
          </a:prstGeom>
        </p:spPr>
      </p:pic>
      <p:pic>
        <p:nvPicPr>
          <p:cNvPr id="29" name="Picture 28" descr="temp_slide_0_el_26.png"/>
          <p:cNvPicPr>
            <a:picLocks noChangeAspect="1"/>
          </p:cNvPicPr>
          <p:nvPr/>
        </p:nvPicPr>
        <p:blipFill>
          <a:blip r:embed="rId5"/>
          <a:stretch>
            <a:fillRect/>
          </a:stretch>
        </p:blipFill>
        <p:spPr>
          <a:xfrm>
            <a:off x="7755284" y="2709862"/>
            <a:ext cx="3619500" cy="1885950"/>
          </a:xfrm>
          <a:prstGeom prst="rect">
            <a:avLst/>
          </a:prstGeom>
        </p:spPr>
      </p:pic>
      <p:sp>
        <p:nvSpPr>
          <p:cNvPr id="32" name="TextBox 31"/>
          <p:cNvSpPr txBox="1"/>
          <p:nvPr/>
        </p:nvSpPr>
        <p:spPr>
          <a:xfrm>
            <a:off x="8164932" y="3642064"/>
            <a:ext cx="2731741" cy="212366"/>
          </a:xfrm>
          <a:prstGeom prst="rect">
            <a:avLst/>
          </a:prstGeom>
          <a:noFill/>
        </p:spPr>
        <p:txBody>
          <a:bodyPr wrap="square" lIns="0" tIns="0" rIns="0" bIns="0" anchor="t">
            <a:spAutoFit/>
          </a:bodyPr>
          <a:lstStyle/>
          <a:p>
            <a:pPr algn="ctr">
              <a:lnSpc>
                <a:spcPct val="127500"/>
              </a:lnSpc>
            </a:pPr>
            <a:r>
              <a:rPr sz="1200" dirty="0">
                <a:solidFill>
                  <a:srgbClr val="1E1E1E"/>
                </a:solidFill>
                <a:latin typeface="Arial"/>
              </a:rPr>
              <a:t>Store</a:t>
            </a:r>
          </a:p>
        </p:txBody>
      </p:sp>
      <p:sp>
        <p:nvSpPr>
          <p:cNvPr id="33" name="TextBox 32"/>
          <p:cNvSpPr txBox="1"/>
          <p:nvPr/>
        </p:nvSpPr>
        <p:spPr>
          <a:xfrm>
            <a:off x="8147297" y="3945191"/>
            <a:ext cx="2652713" cy="177293"/>
          </a:xfrm>
          <a:prstGeom prst="rect">
            <a:avLst/>
          </a:prstGeom>
          <a:noFill/>
        </p:spPr>
        <p:txBody>
          <a:bodyPr wrap="square" lIns="0" tIns="0" rIns="0" bIns="0" anchor="t">
            <a:spAutoFit/>
          </a:bodyPr>
          <a:lstStyle/>
          <a:p>
            <a:pPr algn="ctr">
              <a:lnSpc>
                <a:spcPct val="121429"/>
              </a:lnSpc>
            </a:pPr>
            <a:r>
              <a:rPr sz="1050" dirty="0">
                <a:solidFill>
                  <a:srgbClr val="808080"/>
                </a:solidFill>
                <a:latin typeface="Arial"/>
              </a:rPr>
              <a:t>Retention of sensitive personal data</a:t>
            </a:r>
          </a:p>
        </p:txBody>
      </p:sp>
      <p:pic>
        <p:nvPicPr>
          <p:cNvPr id="34" name="Picture 33" descr="temp_icon_slide_0_el_25.png"/>
          <p:cNvPicPr>
            <a:picLocks noChangeAspect="1"/>
          </p:cNvPicPr>
          <p:nvPr/>
        </p:nvPicPr>
        <p:blipFill>
          <a:blip r:embed="rId4"/>
          <a:stretch>
            <a:fillRect/>
          </a:stretch>
        </p:blipFill>
        <p:spPr>
          <a:xfrm>
            <a:off x="9493597" y="4386262"/>
            <a:ext cx="142875" cy="190500"/>
          </a:xfrm>
          <a:prstGeom prst="rect">
            <a:avLst/>
          </a:prstGeom>
        </p:spPr>
      </p:pic>
      <p:pic>
        <p:nvPicPr>
          <p:cNvPr id="35" name="Picture 34" descr="temp_slide_0_el_32.png"/>
          <p:cNvPicPr>
            <a:picLocks noChangeAspect="1"/>
          </p:cNvPicPr>
          <p:nvPr/>
        </p:nvPicPr>
        <p:blipFill>
          <a:blip r:embed="rId6"/>
          <a:stretch>
            <a:fillRect/>
          </a:stretch>
        </p:blipFill>
        <p:spPr>
          <a:xfrm>
            <a:off x="7755284" y="4367212"/>
            <a:ext cx="3619500" cy="1885950"/>
          </a:xfrm>
          <a:prstGeom prst="rect">
            <a:avLst/>
          </a:prstGeom>
        </p:spPr>
      </p:pic>
      <p:sp>
        <p:nvSpPr>
          <p:cNvPr id="38" name="TextBox 37"/>
          <p:cNvSpPr txBox="1"/>
          <p:nvPr/>
        </p:nvSpPr>
        <p:spPr>
          <a:xfrm>
            <a:off x="8629649" y="5344469"/>
            <a:ext cx="1964084" cy="212366"/>
          </a:xfrm>
          <a:prstGeom prst="rect">
            <a:avLst/>
          </a:prstGeom>
          <a:noFill/>
        </p:spPr>
        <p:txBody>
          <a:bodyPr wrap="square" lIns="0" tIns="0" rIns="0" bIns="0" anchor="t">
            <a:spAutoFit/>
          </a:bodyPr>
          <a:lstStyle/>
          <a:p>
            <a:pPr algn="ctr">
              <a:lnSpc>
                <a:spcPct val="127500"/>
              </a:lnSpc>
            </a:pPr>
            <a:r>
              <a:rPr sz="1200" dirty="0">
                <a:solidFill>
                  <a:srgbClr val="1E1E1E"/>
                </a:solidFill>
                <a:latin typeface="Arial"/>
              </a:rPr>
              <a:t>Share / Reuse</a:t>
            </a:r>
          </a:p>
        </p:txBody>
      </p:sp>
      <p:sp>
        <p:nvSpPr>
          <p:cNvPr id="39" name="TextBox 38"/>
          <p:cNvSpPr txBox="1"/>
          <p:nvPr/>
        </p:nvSpPr>
        <p:spPr>
          <a:xfrm>
            <a:off x="8746857" y="5643563"/>
            <a:ext cx="1779229" cy="177293"/>
          </a:xfrm>
          <a:prstGeom prst="rect">
            <a:avLst/>
          </a:prstGeom>
          <a:noFill/>
        </p:spPr>
        <p:txBody>
          <a:bodyPr wrap="square" lIns="0" tIns="0" rIns="0" bIns="0" anchor="t">
            <a:spAutoFit/>
          </a:bodyPr>
          <a:lstStyle/>
          <a:p>
            <a:pPr algn="ctr">
              <a:lnSpc>
                <a:spcPct val="121429"/>
              </a:lnSpc>
            </a:pPr>
            <a:r>
              <a:rPr sz="1050" dirty="0">
                <a:solidFill>
                  <a:srgbClr val="808080"/>
                </a:solidFill>
                <a:latin typeface="Arial"/>
              </a:rPr>
              <a:t>Repurposing without consent</a:t>
            </a:r>
          </a:p>
        </p:txBody>
      </p:sp>
      <p:sp>
        <p:nvSpPr>
          <p:cNvPr id="40" name="Rectangle 39"/>
          <p:cNvSpPr/>
          <p:nvPr/>
        </p:nvSpPr>
        <p:spPr>
          <a:xfrm>
            <a:off x="571500" y="6181725"/>
            <a:ext cx="11049000" cy="3905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571500" y="6181725"/>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42" name="Picture 41" descr="temp_slide_0_el_38.png"/>
          <p:cNvPicPr>
            <a:picLocks noChangeAspect="1"/>
          </p:cNvPicPr>
          <p:nvPr/>
        </p:nvPicPr>
        <p:blipFill>
          <a:blip r:embed="rId7"/>
          <a:stretch>
            <a:fillRect/>
          </a:stretch>
        </p:blipFill>
        <p:spPr>
          <a:xfrm>
            <a:off x="285750" y="6057900"/>
            <a:ext cx="800100" cy="800100"/>
          </a:xfrm>
          <a:prstGeom prst="rect">
            <a:avLst/>
          </a:prstGeom>
        </p:spPr>
      </p:pic>
      <p:sp>
        <p:nvSpPr>
          <p:cNvPr id="43" name="TextBox 42"/>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dirty="0">
                <a:solidFill>
                  <a:srgbClr val="808080"/>
                </a:solidFill>
                <a:latin typeface="Arial"/>
              </a:rPr>
              <a:t>Ethical Issues in GIS Technologies</a:t>
            </a:r>
          </a:p>
        </p:txBody>
      </p:sp>
      <p:sp>
        <p:nvSpPr>
          <p:cNvPr id="44" name="TextBox 43"/>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7713" y="635373"/>
            <a:ext cx="8867773"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Safety &amp; Environmental Impact</a:t>
            </a:r>
          </a:p>
        </p:txBody>
      </p:sp>
      <p:sp>
        <p:nvSpPr>
          <p:cNvPr id="3" name="Oval 2"/>
          <p:cNvSpPr/>
          <p:nvPr/>
        </p:nvSpPr>
        <p:spPr>
          <a:xfrm>
            <a:off x="838200" y="1626017"/>
            <a:ext cx="76200" cy="76200"/>
          </a:xfrm>
          <a:prstGeom prst="ellipse">
            <a:avLst/>
          </a:prstGeom>
          <a:solidFill>
            <a:srgbClr val="A67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28700" y="1568867"/>
            <a:ext cx="11769030"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Collision risks</a:t>
            </a:r>
          </a:p>
        </p:txBody>
      </p:sp>
      <p:sp>
        <p:nvSpPr>
          <p:cNvPr id="5" name="TextBox 4"/>
          <p:cNvSpPr txBox="1"/>
          <p:nvPr/>
        </p:nvSpPr>
        <p:spPr>
          <a:xfrm>
            <a:off x="1028700" y="1854617"/>
            <a:ext cx="5534025" cy="507206"/>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Drones can crash into people/property/aircraft; oversight highlighted via FAA constraints (no flights over crowds; visual line-of-sight).</a:t>
            </a:r>
          </a:p>
        </p:txBody>
      </p:sp>
      <p:sp>
        <p:nvSpPr>
          <p:cNvPr id="6" name="Oval 5"/>
          <p:cNvSpPr/>
          <p:nvPr/>
        </p:nvSpPr>
        <p:spPr>
          <a:xfrm>
            <a:off x="838200" y="2678529"/>
            <a:ext cx="76200" cy="76200"/>
          </a:xfrm>
          <a:prstGeom prst="ellipse">
            <a:avLst/>
          </a:prstGeom>
          <a:solidFill>
            <a:srgbClr val="8B9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8700" y="2588416"/>
            <a:ext cx="9124950"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Human safety</a:t>
            </a:r>
          </a:p>
        </p:txBody>
      </p:sp>
      <p:sp>
        <p:nvSpPr>
          <p:cNvPr id="8" name="TextBox 7"/>
          <p:cNvSpPr txBox="1"/>
          <p:nvPr/>
        </p:nvSpPr>
        <p:spPr>
          <a:xfrm>
            <a:off x="1028700" y="2887704"/>
            <a:ext cx="4750891" cy="257924"/>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Untrained operators can cause injuries (e.g., blade injuries).</a:t>
            </a:r>
          </a:p>
        </p:txBody>
      </p:sp>
      <p:sp>
        <p:nvSpPr>
          <p:cNvPr id="9" name="Oval 8"/>
          <p:cNvSpPr/>
          <p:nvPr/>
        </p:nvSpPr>
        <p:spPr>
          <a:xfrm>
            <a:off x="838200" y="3452435"/>
            <a:ext cx="76200" cy="76200"/>
          </a:xfrm>
          <a:prstGeom prst="ellipse">
            <a:avLst/>
          </a:prstGeom>
          <a:solidFill>
            <a:srgbClr val="B8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8700" y="3385761"/>
            <a:ext cx="8858250" cy="228600"/>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Wildlife disturbance</a:t>
            </a:r>
          </a:p>
        </p:txBody>
      </p:sp>
      <p:sp>
        <p:nvSpPr>
          <p:cNvPr id="11" name="TextBox 10"/>
          <p:cNvSpPr txBox="1"/>
          <p:nvPr/>
        </p:nvSpPr>
        <p:spPr>
          <a:xfrm>
            <a:off x="1028700" y="3607965"/>
            <a:ext cx="4576763"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Lower altitude/faster drones can trigger stress responses.</a:t>
            </a:r>
          </a:p>
        </p:txBody>
      </p:sp>
      <p:sp>
        <p:nvSpPr>
          <p:cNvPr id="12" name="Oval 11"/>
          <p:cNvSpPr/>
          <p:nvPr/>
        </p:nvSpPr>
        <p:spPr>
          <a:xfrm>
            <a:off x="838200" y="4226342"/>
            <a:ext cx="76200" cy="76200"/>
          </a:xfrm>
          <a:prstGeom prst="ellipse">
            <a:avLst/>
          </a:prstGeom>
          <a:solidFill>
            <a:srgbClr val="8E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8700" y="4169192"/>
            <a:ext cx="9906000" cy="228600"/>
          </a:xfrm>
          <a:prstGeom prst="rect">
            <a:avLst/>
          </a:prstGeom>
          <a:noFill/>
        </p:spPr>
        <p:txBody>
          <a:bodyPr wrap="square" lIns="0" tIns="0" rIns="0" bIns="0" anchor="t">
            <a:spAutoFit/>
          </a:bodyPr>
          <a:lstStyle/>
          <a:p>
            <a:pPr algn="l">
              <a:lnSpc>
                <a:spcPct val="127500"/>
              </a:lnSpc>
            </a:pPr>
            <a:r>
              <a:rPr sz="1200">
                <a:solidFill>
                  <a:srgbClr val="1E1E1E"/>
                </a:solidFill>
                <a:latin typeface="Arial"/>
              </a:rPr>
              <a:t>Environmental noise</a:t>
            </a:r>
          </a:p>
        </p:txBody>
      </p:sp>
      <p:sp>
        <p:nvSpPr>
          <p:cNvPr id="14" name="TextBox 13"/>
          <p:cNvSpPr txBox="1"/>
          <p:nvPr/>
        </p:nvSpPr>
        <p:spPr>
          <a:xfrm>
            <a:off x="1028700" y="4371596"/>
            <a:ext cx="5348288"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Noise pollution contributes to restrictions (e.g., protected areas).</a:t>
            </a:r>
          </a:p>
        </p:txBody>
      </p:sp>
      <p:sp>
        <p:nvSpPr>
          <p:cNvPr id="15" name="TextBox 14"/>
          <p:cNvSpPr txBox="1"/>
          <p:nvPr/>
        </p:nvSpPr>
        <p:spPr>
          <a:xfrm>
            <a:off x="838200" y="4891088"/>
            <a:ext cx="3295650"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a:t>
            </a:r>
            <a:r>
              <a:rPr sz="900" dirty="0">
                <a:solidFill>
                  <a:srgbClr val="808080"/>
                </a:solidFill>
                <a:latin typeface="Arial"/>
              </a:rPr>
              <a:t>Afridi et al.</a:t>
            </a:r>
            <a:r>
              <a:rPr lang="en-US" sz="900" dirty="0">
                <a:solidFill>
                  <a:srgbClr val="808080"/>
                </a:solidFill>
                <a:latin typeface="Arial"/>
              </a:rPr>
              <a:t>,</a:t>
            </a:r>
            <a:r>
              <a:rPr sz="900" dirty="0">
                <a:solidFill>
                  <a:srgbClr val="808080"/>
                </a:solidFill>
                <a:latin typeface="Arial"/>
              </a:rPr>
              <a:t> 2025</a:t>
            </a:r>
            <a:r>
              <a:rPr lang="en-US" sz="900" dirty="0">
                <a:solidFill>
                  <a:srgbClr val="808080"/>
                </a:solidFill>
                <a:latin typeface="Arial"/>
              </a:rPr>
              <a:t>; Dempsey, 2015; Resnik &amp; Elliott, 2019)</a:t>
            </a:r>
            <a:endParaRPr sz="900" dirty="0">
              <a:solidFill>
                <a:srgbClr val="808080"/>
              </a:solidFill>
              <a:latin typeface="Arial"/>
            </a:endParaRPr>
          </a:p>
        </p:txBody>
      </p:sp>
      <p:sp>
        <p:nvSpPr>
          <p:cNvPr id="16" name="Rectangle 15"/>
          <p:cNvSpPr/>
          <p:nvPr/>
        </p:nvSpPr>
        <p:spPr>
          <a:xfrm>
            <a:off x="7256115" y="1276350"/>
            <a:ext cx="4364384" cy="4829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7256115" y="1276350"/>
            <a:ext cx="0" cy="4829175"/>
          </a:xfrm>
          <a:prstGeom prst="line">
            <a:avLst/>
          </a:prstGeom>
          <a:ln w="9525">
            <a:solidFill>
              <a:srgbClr val="F3F4F6"/>
            </a:solidFill>
          </a:ln>
        </p:spPr>
        <p:style>
          <a:lnRef idx="2">
            <a:schemeClr val="accent1"/>
          </a:lnRef>
          <a:fillRef idx="0">
            <a:schemeClr val="accent1"/>
          </a:fillRef>
          <a:effectRef idx="1">
            <a:schemeClr val="accent1"/>
          </a:effectRef>
          <a:fontRef idx="minor">
            <a:schemeClr val="tx1"/>
          </a:fontRef>
        </p:style>
      </p:cxnSp>
      <p:pic>
        <p:nvPicPr>
          <p:cNvPr id="18" name="Picture 17" descr="temp_slide_0_el_15.png"/>
          <p:cNvPicPr>
            <a:picLocks noChangeAspect="1"/>
          </p:cNvPicPr>
          <p:nvPr/>
        </p:nvPicPr>
        <p:blipFill>
          <a:blip r:embed="rId3"/>
          <a:stretch>
            <a:fillRect/>
          </a:stretch>
        </p:blipFill>
        <p:spPr>
          <a:xfrm>
            <a:off x="7595145" y="1690687"/>
            <a:ext cx="2209800" cy="2209800"/>
          </a:xfrm>
          <a:prstGeom prst="rect">
            <a:avLst/>
          </a:prstGeom>
        </p:spPr>
      </p:pic>
      <p:pic>
        <p:nvPicPr>
          <p:cNvPr id="19" name="Picture 18" descr="temp_slide_0_el_16.png"/>
          <p:cNvPicPr>
            <a:picLocks noChangeAspect="1"/>
          </p:cNvPicPr>
          <p:nvPr/>
        </p:nvPicPr>
        <p:blipFill>
          <a:blip r:embed="rId4"/>
          <a:stretch>
            <a:fillRect/>
          </a:stretch>
        </p:blipFill>
        <p:spPr>
          <a:xfrm>
            <a:off x="8185695" y="2090737"/>
            <a:ext cx="1028700" cy="1028700"/>
          </a:xfrm>
          <a:prstGeom prst="rect">
            <a:avLst/>
          </a:prstGeom>
        </p:spPr>
      </p:pic>
      <p:sp>
        <p:nvSpPr>
          <p:cNvPr id="21" name="TextBox 20"/>
          <p:cNvSpPr txBox="1"/>
          <p:nvPr/>
        </p:nvSpPr>
        <p:spPr>
          <a:xfrm>
            <a:off x="7623720" y="2974180"/>
            <a:ext cx="2152650" cy="266700"/>
          </a:xfrm>
          <a:prstGeom prst="rect">
            <a:avLst/>
          </a:prstGeom>
          <a:noFill/>
        </p:spPr>
        <p:txBody>
          <a:bodyPr wrap="square" lIns="0" tIns="0" rIns="0" bIns="0" anchor="t">
            <a:spAutoFit/>
          </a:bodyPr>
          <a:lstStyle/>
          <a:p>
            <a:pPr algn="ctr">
              <a:lnSpc>
                <a:spcPct val="132222"/>
              </a:lnSpc>
            </a:pPr>
            <a:r>
              <a:rPr sz="1350" dirty="0">
                <a:solidFill>
                  <a:srgbClr val="1E1E1E"/>
                </a:solidFill>
                <a:latin typeface="Arial"/>
              </a:rPr>
              <a:t>Human safety</a:t>
            </a:r>
          </a:p>
        </p:txBody>
      </p:sp>
      <p:pic>
        <p:nvPicPr>
          <p:cNvPr id="22" name="Picture 21" descr="temp_slide_0_el_19.png"/>
          <p:cNvPicPr>
            <a:picLocks noChangeAspect="1"/>
          </p:cNvPicPr>
          <p:nvPr/>
        </p:nvPicPr>
        <p:blipFill>
          <a:blip r:embed="rId5"/>
          <a:stretch>
            <a:fillRect/>
          </a:stretch>
        </p:blipFill>
        <p:spPr>
          <a:xfrm>
            <a:off x="9376320" y="1247774"/>
            <a:ext cx="2209800" cy="2209800"/>
          </a:xfrm>
          <a:prstGeom prst="rect">
            <a:avLst/>
          </a:prstGeom>
        </p:spPr>
      </p:pic>
      <p:sp>
        <p:nvSpPr>
          <p:cNvPr id="25" name="TextBox 24"/>
          <p:cNvSpPr txBox="1"/>
          <p:nvPr/>
        </p:nvSpPr>
        <p:spPr>
          <a:xfrm>
            <a:off x="9395371" y="2671762"/>
            <a:ext cx="2190750" cy="266700"/>
          </a:xfrm>
          <a:prstGeom prst="rect">
            <a:avLst/>
          </a:prstGeom>
          <a:noFill/>
        </p:spPr>
        <p:txBody>
          <a:bodyPr wrap="square" lIns="0" tIns="0" rIns="0" bIns="0" anchor="t">
            <a:spAutoFit/>
          </a:bodyPr>
          <a:lstStyle/>
          <a:p>
            <a:pPr algn="ctr">
              <a:lnSpc>
                <a:spcPct val="132222"/>
              </a:lnSpc>
            </a:pPr>
            <a:r>
              <a:rPr sz="1350" dirty="0">
                <a:solidFill>
                  <a:srgbClr val="1E1E1E"/>
                </a:solidFill>
                <a:latin typeface="Arial"/>
              </a:rPr>
              <a:t>Aircraft safety</a:t>
            </a:r>
          </a:p>
        </p:txBody>
      </p:sp>
      <p:pic>
        <p:nvPicPr>
          <p:cNvPr id="26" name="Picture 25" descr="temp_slide_0_el_23.png"/>
          <p:cNvPicPr>
            <a:picLocks noChangeAspect="1"/>
          </p:cNvPicPr>
          <p:nvPr/>
        </p:nvPicPr>
        <p:blipFill>
          <a:blip r:embed="rId6"/>
          <a:stretch>
            <a:fillRect/>
          </a:stretch>
        </p:blipFill>
        <p:spPr>
          <a:xfrm>
            <a:off x="7623720" y="3643311"/>
            <a:ext cx="2209800" cy="2209800"/>
          </a:xfrm>
          <a:prstGeom prst="rect">
            <a:avLst/>
          </a:prstGeom>
        </p:spPr>
      </p:pic>
      <p:sp>
        <p:nvSpPr>
          <p:cNvPr id="29" name="TextBox 28"/>
          <p:cNvSpPr txBox="1"/>
          <p:nvPr/>
        </p:nvSpPr>
        <p:spPr>
          <a:xfrm>
            <a:off x="8138070" y="4979193"/>
            <a:ext cx="1181100" cy="266700"/>
          </a:xfrm>
          <a:prstGeom prst="rect">
            <a:avLst/>
          </a:prstGeom>
          <a:noFill/>
        </p:spPr>
        <p:txBody>
          <a:bodyPr wrap="square" lIns="0" tIns="0" rIns="0" bIns="0" anchor="t">
            <a:spAutoFit/>
          </a:bodyPr>
          <a:lstStyle/>
          <a:p>
            <a:pPr algn="ctr">
              <a:lnSpc>
                <a:spcPct val="132222"/>
              </a:lnSpc>
            </a:pPr>
            <a:r>
              <a:rPr sz="1350">
                <a:solidFill>
                  <a:srgbClr val="1E1E1E"/>
                </a:solidFill>
                <a:latin typeface="Arial"/>
              </a:rPr>
              <a:t>Wildlife</a:t>
            </a:r>
          </a:p>
        </p:txBody>
      </p:sp>
      <p:pic>
        <p:nvPicPr>
          <p:cNvPr id="30" name="Picture 29" descr="temp_slide_0_el_27.png"/>
          <p:cNvPicPr>
            <a:picLocks noChangeAspect="1"/>
          </p:cNvPicPr>
          <p:nvPr/>
        </p:nvPicPr>
        <p:blipFill>
          <a:blip r:embed="rId7"/>
          <a:stretch>
            <a:fillRect/>
          </a:stretch>
        </p:blipFill>
        <p:spPr>
          <a:xfrm>
            <a:off x="9499178" y="3276599"/>
            <a:ext cx="2209800" cy="2209800"/>
          </a:xfrm>
          <a:prstGeom prst="rect">
            <a:avLst/>
          </a:prstGeom>
        </p:spPr>
      </p:pic>
      <p:sp>
        <p:nvSpPr>
          <p:cNvPr id="33" name="TextBox 32"/>
          <p:cNvSpPr txBox="1"/>
          <p:nvPr/>
        </p:nvSpPr>
        <p:spPr>
          <a:xfrm>
            <a:off x="10089728" y="4710111"/>
            <a:ext cx="1028700" cy="266700"/>
          </a:xfrm>
          <a:prstGeom prst="rect">
            <a:avLst/>
          </a:prstGeom>
          <a:noFill/>
        </p:spPr>
        <p:txBody>
          <a:bodyPr wrap="square" lIns="0" tIns="0" rIns="0" bIns="0" anchor="t">
            <a:spAutoFit/>
          </a:bodyPr>
          <a:lstStyle/>
          <a:p>
            <a:pPr algn="ctr">
              <a:lnSpc>
                <a:spcPct val="132222"/>
              </a:lnSpc>
            </a:pPr>
            <a:r>
              <a:rPr sz="1350" dirty="0">
                <a:solidFill>
                  <a:srgbClr val="1E1E1E"/>
                </a:solidFill>
                <a:latin typeface="Arial"/>
              </a:rPr>
              <a:t>Noise</a:t>
            </a:r>
          </a:p>
        </p:txBody>
      </p:sp>
      <p:sp>
        <p:nvSpPr>
          <p:cNvPr id="34" name="Rectangle 33"/>
          <p:cNvSpPr/>
          <p:nvPr/>
        </p:nvSpPr>
        <p:spPr>
          <a:xfrm>
            <a:off x="571500" y="6181725"/>
            <a:ext cx="11049000" cy="3905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a:off x="571500" y="6181725"/>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36" name="Picture 35" descr="temp_slide_0_el_32.png"/>
          <p:cNvPicPr>
            <a:picLocks noChangeAspect="1"/>
          </p:cNvPicPr>
          <p:nvPr/>
        </p:nvPicPr>
        <p:blipFill>
          <a:blip r:embed="rId8"/>
          <a:stretch>
            <a:fillRect/>
          </a:stretch>
        </p:blipFill>
        <p:spPr>
          <a:xfrm>
            <a:off x="285750" y="6057900"/>
            <a:ext cx="800100" cy="800100"/>
          </a:xfrm>
          <a:prstGeom prst="rect">
            <a:avLst/>
          </a:prstGeom>
        </p:spPr>
      </p:pic>
      <p:sp>
        <p:nvSpPr>
          <p:cNvPr id="37" name="TextBox 36"/>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38" name="TextBox 37"/>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524194"/>
            <a:ext cx="7223670"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Data Security &amp; Integrity</a:t>
            </a:r>
          </a:p>
        </p:txBody>
      </p:sp>
      <p:sp>
        <p:nvSpPr>
          <p:cNvPr id="3" name="Oval 2"/>
          <p:cNvSpPr/>
          <p:nvPr/>
        </p:nvSpPr>
        <p:spPr>
          <a:xfrm>
            <a:off x="571500" y="1333500"/>
            <a:ext cx="76200" cy="76200"/>
          </a:xfrm>
          <a:prstGeom prst="ellipse">
            <a:avLst/>
          </a:prstGeom>
          <a:solidFill>
            <a:srgbClr val="A67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1223642"/>
            <a:ext cx="3833807" cy="212366"/>
          </a:xfrm>
          <a:prstGeom prst="rect">
            <a:avLst/>
          </a:prstGeom>
          <a:noFill/>
        </p:spPr>
        <p:txBody>
          <a:bodyPr wrap="square" lIns="0" tIns="0" rIns="0" bIns="0" anchor="t">
            <a:spAutoFit/>
          </a:bodyPr>
          <a:lstStyle/>
          <a:p>
            <a:pPr algn="l">
              <a:lnSpc>
                <a:spcPct val="127500"/>
              </a:lnSpc>
            </a:pPr>
            <a:r>
              <a:rPr sz="1200">
                <a:solidFill>
                  <a:srgbClr val="1E1E1E"/>
                </a:solidFill>
                <a:latin typeface="Arial"/>
              </a:rPr>
              <a:t>Cybersecurity threats</a:t>
            </a:r>
          </a:p>
        </p:txBody>
      </p:sp>
      <p:sp>
        <p:nvSpPr>
          <p:cNvPr id="5" name="TextBox 4"/>
          <p:cNvSpPr txBox="1"/>
          <p:nvPr/>
        </p:nvSpPr>
        <p:spPr>
          <a:xfrm>
            <a:off x="761999" y="1562100"/>
            <a:ext cx="5624513" cy="541110"/>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Malware, data interception, GPS spoofing can disrupt operations and compromise data.</a:t>
            </a:r>
          </a:p>
        </p:txBody>
      </p:sp>
      <p:sp>
        <p:nvSpPr>
          <p:cNvPr id="6" name="Oval 5"/>
          <p:cNvSpPr/>
          <p:nvPr/>
        </p:nvSpPr>
        <p:spPr>
          <a:xfrm>
            <a:off x="571500" y="2386012"/>
            <a:ext cx="76200" cy="76200"/>
          </a:xfrm>
          <a:prstGeom prst="ellipse">
            <a:avLst/>
          </a:prstGeom>
          <a:solidFill>
            <a:srgbClr val="8B9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2281050"/>
            <a:ext cx="4938713" cy="212366"/>
          </a:xfrm>
          <a:prstGeom prst="rect">
            <a:avLst/>
          </a:prstGeom>
          <a:noFill/>
        </p:spPr>
        <p:txBody>
          <a:bodyPr wrap="square" lIns="0" tIns="0" rIns="0" bIns="0" anchor="t">
            <a:spAutoFit/>
          </a:bodyPr>
          <a:lstStyle/>
          <a:p>
            <a:pPr algn="l">
              <a:lnSpc>
                <a:spcPct val="127500"/>
              </a:lnSpc>
            </a:pPr>
            <a:r>
              <a:rPr sz="1200">
                <a:solidFill>
                  <a:srgbClr val="1E1E1E"/>
                </a:solidFill>
                <a:latin typeface="Arial"/>
              </a:rPr>
              <a:t>Data confidentiality</a:t>
            </a:r>
          </a:p>
        </p:txBody>
      </p:sp>
      <p:sp>
        <p:nvSpPr>
          <p:cNvPr id="8" name="TextBox 7"/>
          <p:cNvSpPr txBox="1"/>
          <p:nvPr/>
        </p:nvSpPr>
        <p:spPr>
          <a:xfrm>
            <a:off x="762000" y="2614612"/>
            <a:ext cx="6191250" cy="541110"/>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Sensitive locations/attributes (e.g., private land-use, sensitive species locations) can be exposed if breached.</a:t>
            </a:r>
          </a:p>
        </p:txBody>
      </p:sp>
      <p:sp>
        <p:nvSpPr>
          <p:cNvPr id="9" name="Oval 8"/>
          <p:cNvSpPr/>
          <p:nvPr/>
        </p:nvSpPr>
        <p:spPr>
          <a:xfrm>
            <a:off x="571500" y="3438525"/>
            <a:ext cx="76200" cy="76200"/>
          </a:xfrm>
          <a:prstGeom prst="ellipse">
            <a:avLst/>
          </a:prstGeom>
          <a:solidFill>
            <a:srgbClr val="B8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1999" y="3344902"/>
            <a:ext cx="10006012" cy="212366"/>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Accuracy &amp; bias</a:t>
            </a:r>
          </a:p>
        </p:txBody>
      </p:sp>
      <p:sp>
        <p:nvSpPr>
          <p:cNvPr id="11" name="TextBox 10"/>
          <p:cNvSpPr txBox="1"/>
          <p:nvPr/>
        </p:nvSpPr>
        <p:spPr>
          <a:xfrm>
            <a:off x="762000" y="3667125"/>
            <a:ext cx="6338888" cy="541110"/>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Sensor/processing errors and biased analytic models can produce incorrect maps and poor decisions.</a:t>
            </a:r>
          </a:p>
        </p:txBody>
      </p:sp>
      <p:sp>
        <p:nvSpPr>
          <p:cNvPr id="12" name="Oval 11"/>
          <p:cNvSpPr/>
          <p:nvPr/>
        </p:nvSpPr>
        <p:spPr>
          <a:xfrm>
            <a:off x="571500" y="4491037"/>
            <a:ext cx="76200" cy="76200"/>
          </a:xfrm>
          <a:prstGeom prst="ellipse">
            <a:avLst/>
          </a:prstGeom>
          <a:solidFill>
            <a:srgbClr val="8E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2000" y="4443411"/>
            <a:ext cx="3319463" cy="219075"/>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Data governance questions</a:t>
            </a:r>
          </a:p>
        </p:txBody>
      </p:sp>
      <p:sp>
        <p:nvSpPr>
          <p:cNvPr id="14" name="TextBox 13"/>
          <p:cNvSpPr txBox="1"/>
          <p:nvPr/>
        </p:nvSpPr>
        <p:spPr>
          <a:xfrm>
            <a:off x="871609" y="4704182"/>
            <a:ext cx="2091632"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 Who owns the data?</a:t>
            </a:r>
          </a:p>
        </p:txBody>
      </p:sp>
      <p:sp>
        <p:nvSpPr>
          <p:cNvPr id="15" name="TextBox 14"/>
          <p:cNvSpPr txBox="1"/>
          <p:nvPr/>
        </p:nvSpPr>
        <p:spPr>
          <a:xfrm>
            <a:off x="871609" y="5013511"/>
            <a:ext cx="1900238"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 How long is it stored?</a:t>
            </a:r>
          </a:p>
        </p:txBody>
      </p:sp>
      <p:sp>
        <p:nvSpPr>
          <p:cNvPr id="16" name="TextBox 15"/>
          <p:cNvSpPr txBox="1"/>
          <p:nvPr/>
        </p:nvSpPr>
        <p:spPr>
          <a:xfrm>
            <a:off x="871609" y="5301028"/>
            <a:ext cx="2052638"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 Who can access it?</a:t>
            </a:r>
          </a:p>
        </p:txBody>
      </p:sp>
      <p:sp>
        <p:nvSpPr>
          <p:cNvPr id="18" name="Rectangle 17"/>
          <p:cNvSpPr/>
          <p:nvPr/>
        </p:nvSpPr>
        <p:spPr>
          <a:xfrm>
            <a:off x="7256115" y="1276350"/>
            <a:ext cx="4364384" cy="4829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256115" y="1276350"/>
            <a:ext cx="0" cy="4829175"/>
          </a:xfrm>
          <a:prstGeom prst="line">
            <a:avLst/>
          </a:prstGeom>
          <a:ln w="9525">
            <a:solidFill>
              <a:srgbClr val="F3F4F6"/>
            </a:solidFill>
          </a:ln>
        </p:spPr>
        <p:style>
          <a:lnRef idx="2">
            <a:schemeClr val="accent1"/>
          </a:lnRef>
          <a:fillRef idx="0">
            <a:schemeClr val="accent1"/>
          </a:fillRef>
          <a:effectRef idx="1">
            <a:schemeClr val="accent1"/>
          </a:effectRef>
          <a:fontRef idx="minor">
            <a:schemeClr val="tx1"/>
          </a:fontRef>
        </p:style>
      </p:cxnSp>
      <p:pic>
        <p:nvPicPr>
          <p:cNvPr id="20" name="Picture 19" descr="temp_slide_0_el_17.png"/>
          <p:cNvPicPr>
            <a:picLocks noChangeAspect="1"/>
          </p:cNvPicPr>
          <p:nvPr/>
        </p:nvPicPr>
        <p:blipFill>
          <a:blip r:embed="rId3"/>
          <a:stretch>
            <a:fillRect/>
          </a:stretch>
        </p:blipFill>
        <p:spPr>
          <a:xfrm>
            <a:off x="7595145" y="1776412"/>
            <a:ext cx="4000500" cy="1504950"/>
          </a:xfrm>
          <a:prstGeom prst="rect">
            <a:avLst/>
          </a:prstGeom>
        </p:spPr>
      </p:pic>
      <p:pic>
        <p:nvPicPr>
          <p:cNvPr id="21" name="Picture 20" descr="temp_slide_0_el_18.png"/>
          <p:cNvPicPr>
            <a:picLocks noChangeAspect="1"/>
          </p:cNvPicPr>
          <p:nvPr/>
        </p:nvPicPr>
        <p:blipFill>
          <a:blip r:embed="rId4"/>
          <a:stretch>
            <a:fillRect/>
          </a:stretch>
        </p:blipFill>
        <p:spPr>
          <a:xfrm>
            <a:off x="7833270" y="2014537"/>
            <a:ext cx="1028700" cy="1028700"/>
          </a:xfrm>
          <a:prstGeom prst="rect">
            <a:avLst/>
          </a:prstGeom>
        </p:spPr>
      </p:pic>
      <p:sp>
        <p:nvSpPr>
          <p:cNvPr id="23" name="TextBox 22"/>
          <p:cNvSpPr txBox="1"/>
          <p:nvPr/>
        </p:nvSpPr>
        <p:spPr>
          <a:xfrm>
            <a:off x="8728620" y="2300287"/>
            <a:ext cx="1182143" cy="245067"/>
          </a:xfrm>
          <a:prstGeom prst="rect">
            <a:avLst/>
          </a:prstGeom>
          <a:noFill/>
        </p:spPr>
        <p:txBody>
          <a:bodyPr wrap="square" lIns="0" tIns="0" rIns="0" bIns="0" anchor="t">
            <a:spAutoFit/>
          </a:bodyPr>
          <a:lstStyle/>
          <a:p>
            <a:pPr algn="l">
              <a:lnSpc>
                <a:spcPct val="132222"/>
              </a:lnSpc>
            </a:pPr>
            <a:r>
              <a:rPr sz="1350" dirty="0">
                <a:solidFill>
                  <a:srgbClr val="1E1E1E"/>
                </a:solidFill>
                <a:latin typeface="Arial"/>
              </a:rPr>
              <a:t>Threats</a:t>
            </a:r>
          </a:p>
        </p:txBody>
      </p:sp>
      <p:sp>
        <p:nvSpPr>
          <p:cNvPr id="24" name="TextBox 23"/>
          <p:cNvSpPr txBox="1"/>
          <p:nvPr/>
        </p:nvSpPr>
        <p:spPr>
          <a:xfrm>
            <a:off x="8728620" y="2586037"/>
            <a:ext cx="1752600" cy="177293"/>
          </a:xfrm>
          <a:prstGeom prst="rect">
            <a:avLst/>
          </a:prstGeom>
          <a:noFill/>
        </p:spPr>
        <p:txBody>
          <a:bodyPr wrap="square" lIns="0" tIns="0" rIns="0" bIns="0" anchor="t">
            <a:spAutoFit/>
          </a:bodyPr>
          <a:lstStyle/>
          <a:p>
            <a:pPr algn="l">
              <a:lnSpc>
                <a:spcPct val="121429"/>
              </a:lnSpc>
            </a:pPr>
            <a:r>
              <a:rPr sz="1050" dirty="0">
                <a:solidFill>
                  <a:srgbClr val="808080"/>
                </a:solidFill>
                <a:latin typeface="Arial"/>
              </a:rPr>
              <a:t>Malware, Interception</a:t>
            </a:r>
          </a:p>
        </p:txBody>
      </p:sp>
      <p:pic>
        <p:nvPicPr>
          <p:cNvPr id="25" name="Picture 24" descr="temp_slide_0_el_22.png"/>
          <p:cNvPicPr>
            <a:picLocks noChangeAspect="1"/>
          </p:cNvPicPr>
          <p:nvPr/>
        </p:nvPicPr>
        <p:blipFill>
          <a:blip r:embed="rId5"/>
          <a:stretch>
            <a:fillRect/>
          </a:stretch>
        </p:blipFill>
        <p:spPr>
          <a:xfrm>
            <a:off x="7595145" y="2938462"/>
            <a:ext cx="4000500" cy="1504950"/>
          </a:xfrm>
          <a:prstGeom prst="rect">
            <a:avLst/>
          </a:prstGeom>
        </p:spPr>
      </p:pic>
      <p:sp>
        <p:nvSpPr>
          <p:cNvPr id="28" name="TextBox 27"/>
          <p:cNvSpPr txBox="1"/>
          <p:nvPr/>
        </p:nvSpPr>
        <p:spPr>
          <a:xfrm>
            <a:off x="8728620" y="3443285"/>
            <a:ext cx="1752600" cy="266700"/>
          </a:xfrm>
          <a:prstGeom prst="rect">
            <a:avLst/>
          </a:prstGeom>
          <a:noFill/>
        </p:spPr>
        <p:txBody>
          <a:bodyPr wrap="square" lIns="0" tIns="0" rIns="0" bIns="0" anchor="t">
            <a:spAutoFit/>
          </a:bodyPr>
          <a:lstStyle/>
          <a:p>
            <a:pPr algn="l">
              <a:lnSpc>
                <a:spcPct val="132222"/>
              </a:lnSpc>
            </a:pPr>
            <a:r>
              <a:rPr sz="1350" dirty="0">
                <a:solidFill>
                  <a:srgbClr val="1E1E1E"/>
                </a:solidFill>
                <a:latin typeface="Arial"/>
              </a:rPr>
              <a:t>Impacts</a:t>
            </a:r>
          </a:p>
        </p:txBody>
      </p:sp>
      <p:sp>
        <p:nvSpPr>
          <p:cNvPr id="29" name="TextBox 28"/>
          <p:cNvSpPr txBox="1"/>
          <p:nvPr/>
        </p:nvSpPr>
        <p:spPr>
          <a:xfrm>
            <a:off x="8728620" y="3720265"/>
            <a:ext cx="1496468" cy="177293"/>
          </a:xfrm>
          <a:prstGeom prst="rect">
            <a:avLst/>
          </a:prstGeom>
          <a:noFill/>
        </p:spPr>
        <p:txBody>
          <a:bodyPr wrap="square" lIns="0" tIns="0" rIns="0" bIns="0" anchor="t">
            <a:spAutoFit/>
          </a:bodyPr>
          <a:lstStyle/>
          <a:p>
            <a:pPr algn="l">
              <a:lnSpc>
                <a:spcPct val="121429"/>
              </a:lnSpc>
            </a:pPr>
            <a:r>
              <a:rPr sz="1050" dirty="0">
                <a:solidFill>
                  <a:srgbClr val="808080"/>
                </a:solidFill>
                <a:latin typeface="Arial"/>
              </a:rPr>
              <a:t>Breaches, Bias</a:t>
            </a:r>
          </a:p>
        </p:txBody>
      </p:sp>
      <p:pic>
        <p:nvPicPr>
          <p:cNvPr id="30" name="Picture 29" descr="temp_slide_0_el_27.png"/>
          <p:cNvPicPr>
            <a:picLocks noChangeAspect="1"/>
          </p:cNvPicPr>
          <p:nvPr/>
        </p:nvPicPr>
        <p:blipFill>
          <a:blip r:embed="rId6"/>
          <a:stretch>
            <a:fillRect/>
          </a:stretch>
        </p:blipFill>
        <p:spPr>
          <a:xfrm>
            <a:off x="7570291" y="4154733"/>
            <a:ext cx="4000500" cy="1504950"/>
          </a:xfrm>
          <a:prstGeom prst="rect">
            <a:avLst/>
          </a:prstGeom>
        </p:spPr>
      </p:pic>
      <p:sp>
        <p:nvSpPr>
          <p:cNvPr id="33" name="TextBox 32"/>
          <p:cNvSpPr txBox="1"/>
          <p:nvPr/>
        </p:nvSpPr>
        <p:spPr>
          <a:xfrm>
            <a:off x="8751390" y="4624387"/>
            <a:ext cx="2092823" cy="254040"/>
          </a:xfrm>
          <a:prstGeom prst="rect">
            <a:avLst/>
          </a:prstGeom>
          <a:noFill/>
        </p:spPr>
        <p:txBody>
          <a:bodyPr wrap="square" lIns="0" tIns="0" rIns="0" bIns="0" anchor="t">
            <a:spAutoFit/>
          </a:bodyPr>
          <a:lstStyle/>
          <a:p>
            <a:pPr algn="l">
              <a:lnSpc>
                <a:spcPct val="132222"/>
              </a:lnSpc>
            </a:pPr>
            <a:r>
              <a:rPr sz="1350" dirty="0">
                <a:solidFill>
                  <a:srgbClr val="1E1E1E"/>
                </a:solidFill>
                <a:latin typeface="Arial"/>
              </a:rPr>
              <a:t>Governance</a:t>
            </a:r>
          </a:p>
        </p:txBody>
      </p:sp>
      <p:sp>
        <p:nvSpPr>
          <p:cNvPr id="34" name="TextBox 33"/>
          <p:cNvSpPr txBox="1"/>
          <p:nvPr/>
        </p:nvSpPr>
        <p:spPr>
          <a:xfrm>
            <a:off x="8751390" y="4878427"/>
            <a:ext cx="1967955" cy="177293"/>
          </a:xfrm>
          <a:prstGeom prst="rect">
            <a:avLst/>
          </a:prstGeom>
          <a:noFill/>
        </p:spPr>
        <p:txBody>
          <a:bodyPr wrap="square" lIns="0" tIns="0" rIns="0" bIns="0" anchor="t">
            <a:spAutoFit/>
          </a:bodyPr>
          <a:lstStyle/>
          <a:p>
            <a:pPr algn="l">
              <a:lnSpc>
                <a:spcPct val="121429"/>
              </a:lnSpc>
            </a:pPr>
            <a:r>
              <a:rPr sz="1050">
                <a:solidFill>
                  <a:srgbClr val="808080"/>
                </a:solidFill>
                <a:latin typeface="Arial"/>
              </a:rPr>
              <a:t>Ownership, Access</a:t>
            </a:r>
          </a:p>
        </p:txBody>
      </p:sp>
      <p:sp>
        <p:nvSpPr>
          <p:cNvPr id="35" name="Rectangle 34"/>
          <p:cNvSpPr/>
          <p:nvPr/>
        </p:nvSpPr>
        <p:spPr>
          <a:xfrm>
            <a:off x="571500" y="6181725"/>
            <a:ext cx="11049000" cy="3905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571500" y="6181725"/>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37" name="Picture 36" descr="temp_slide_0_el_24.png"/>
          <p:cNvPicPr>
            <a:picLocks noChangeAspect="1"/>
          </p:cNvPicPr>
          <p:nvPr/>
        </p:nvPicPr>
        <p:blipFill>
          <a:blip r:embed="rId7"/>
          <a:stretch>
            <a:fillRect/>
          </a:stretch>
        </p:blipFill>
        <p:spPr>
          <a:xfrm>
            <a:off x="285750" y="6057900"/>
            <a:ext cx="800100" cy="800100"/>
          </a:xfrm>
          <a:prstGeom prst="rect">
            <a:avLst/>
          </a:prstGeom>
        </p:spPr>
      </p:pic>
      <p:sp>
        <p:nvSpPr>
          <p:cNvPr id="38" name="TextBox 37"/>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39" name="TextBox 38"/>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06</a:t>
            </a:r>
          </a:p>
        </p:txBody>
      </p:sp>
      <p:sp>
        <p:nvSpPr>
          <p:cNvPr id="31" name="TextBox 30">
            <a:extLst>
              <a:ext uri="{FF2B5EF4-FFF2-40B4-BE49-F238E27FC236}">
                <a16:creationId xmlns:a16="http://schemas.microsoft.com/office/drawing/2014/main" id="{DA64530E-A37B-CD54-1994-470A705F65DF}"/>
              </a:ext>
            </a:extLst>
          </p:cNvPr>
          <p:cNvSpPr txBox="1"/>
          <p:nvPr/>
        </p:nvSpPr>
        <p:spPr>
          <a:xfrm>
            <a:off x="571500" y="5797488"/>
            <a:ext cx="4978303"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a:t>
            </a:r>
            <a:r>
              <a:rPr lang="en-US" sz="900" dirty="0" err="1">
                <a:solidFill>
                  <a:srgbClr val="808080"/>
                </a:solidFill>
                <a:latin typeface="Arial"/>
              </a:rPr>
              <a:t>Tychola</a:t>
            </a:r>
            <a:r>
              <a:rPr lang="en-US" sz="900" dirty="0">
                <a:solidFill>
                  <a:srgbClr val="808080"/>
                </a:solidFill>
                <a:latin typeface="Arial"/>
              </a:rPr>
              <a:t> &amp; </a:t>
            </a:r>
            <a:r>
              <a:rPr lang="en-US" sz="900" dirty="0" err="1">
                <a:solidFill>
                  <a:srgbClr val="808080"/>
                </a:solidFill>
                <a:latin typeface="Arial"/>
              </a:rPr>
              <a:t>Rantos</a:t>
            </a:r>
            <a:r>
              <a:rPr lang="en-US" sz="900" dirty="0">
                <a:solidFill>
                  <a:srgbClr val="808080"/>
                </a:solidFill>
                <a:latin typeface="Arial"/>
              </a:rPr>
              <a:t>, 2025; Finn &amp; Wright, 2016; </a:t>
            </a:r>
            <a:r>
              <a:rPr lang="en-US" sz="900" dirty="0" err="1">
                <a:solidFill>
                  <a:srgbClr val="808080"/>
                </a:solidFill>
                <a:latin typeface="Arial"/>
              </a:rPr>
              <a:t>Abiala</a:t>
            </a:r>
            <a:r>
              <a:rPr lang="en-US" sz="900" dirty="0">
                <a:solidFill>
                  <a:srgbClr val="808080"/>
                </a:solidFill>
                <a:latin typeface="Arial"/>
              </a:rPr>
              <a:t>, 2023; Resnik &amp; Elliott, 2019; Oluoch, 2024)</a:t>
            </a:r>
            <a:endParaRPr sz="900" dirty="0">
              <a:solidFill>
                <a:srgbClr val="80808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659055"/>
            <a:ext cx="5429251"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Equity &amp; Justice</a:t>
            </a:r>
          </a:p>
        </p:txBody>
      </p:sp>
      <p:sp>
        <p:nvSpPr>
          <p:cNvPr id="3" name="Oval 2"/>
          <p:cNvSpPr/>
          <p:nvPr/>
        </p:nvSpPr>
        <p:spPr>
          <a:xfrm>
            <a:off x="571500" y="1568053"/>
            <a:ext cx="95250" cy="95250"/>
          </a:xfrm>
          <a:prstGeom prst="ellipse">
            <a:avLst/>
          </a:prstGeom>
          <a:solidFill>
            <a:srgbClr val="A67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 y="1491853"/>
            <a:ext cx="3467100" cy="249812"/>
          </a:xfrm>
          <a:prstGeom prst="rect">
            <a:avLst/>
          </a:prstGeom>
          <a:noFill/>
        </p:spPr>
        <p:txBody>
          <a:bodyPr wrap="square" lIns="0" tIns="0" rIns="0" bIns="0" anchor="t">
            <a:spAutoFit/>
          </a:bodyPr>
          <a:lstStyle/>
          <a:p>
            <a:pPr algn="l">
              <a:lnSpc>
                <a:spcPct val="119000"/>
              </a:lnSpc>
            </a:pPr>
            <a:r>
              <a:rPr sz="1500" b="1" dirty="0">
                <a:solidFill>
                  <a:srgbClr val="1E1E1E"/>
                </a:solidFill>
                <a:latin typeface="Arial"/>
              </a:rPr>
              <a:t>Access disparities</a:t>
            </a:r>
          </a:p>
        </p:txBody>
      </p:sp>
      <p:sp>
        <p:nvSpPr>
          <p:cNvPr id="5" name="TextBox 4"/>
          <p:cNvSpPr txBox="1"/>
          <p:nvPr/>
        </p:nvSpPr>
        <p:spPr>
          <a:xfrm>
            <a:off x="819150" y="1805868"/>
            <a:ext cx="6364728" cy="827791"/>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Wealthier governments/companies </a:t>
            </a:r>
            <a:r>
              <a:rPr lang="en-US" sz="1350" dirty="0">
                <a:solidFill>
                  <a:srgbClr val="808080"/>
                </a:solidFill>
                <a:latin typeface="Arial"/>
              </a:rPr>
              <a:t>have access to GIS drone technologies</a:t>
            </a:r>
            <a:r>
              <a:rPr sz="1350" dirty="0">
                <a:solidFill>
                  <a:srgbClr val="808080"/>
                </a:solidFill>
                <a:latin typeface="Arial"/>
              </a:rPr>
              <a:t>; poorer </a:t>
            </a:r>
            <a:r>
              <a:rPr lang="en-US" sz="1350" dirty="0">
                <a:solidFill>
                  <a:srgbClr val="808080"/>
                </a:solidFill>
                <a:latin typeface="Arial"/>
              </a:rPr>
              <a:t>populations/communities/ethnic groups </a:t>
            </a:r>
            <a:r>
              <a:rPr sz="1350" dirty="0">
                <a:solidFill>
                  <a:srgbClr val="808080"/>
                </a:solidFill>
                <a:latin typeface="Arial"/>
              </a:rPr>
              <a:t>may face one-sided observation</a:t>
            </a:r>
            <a:r>
              <a:rPr lang="en-US" sz="1350" dirty="0">
                <a:solidFill>
                  <a:srgbClr val="808080"/>
                </a:solidFill>
                <a:latin typeface="Arial"/>
              </a:rPr>
              <a:t>/surveillance</a:t>
            </a:r>
            <a:r>
              <a:rPr sz="1350" dirty="0">
                <a:solidFill>
                  <a:srgbClr val="808080"/>
                </a:solidFill>
                <a:latin typeface="Arial"/>
              </a:rPr>
              <a:t>.</a:t>
            </a:r>
          </a:p>
        </p:txBody>
      </p:sp>
      <p:sp>
        <p:nvSpPr>
          <p:cNvPr id="6" name="Oval 5"/>
          <p:cNvSpPr/>
          <p:nvPr/>
        </p:nvSpPr>
        <p:spPr>
          <a:xfrm>
            <a:off x="590550" y="2834790"/>
            <a:ext cx="95250" cy="95250"/>
          </a:xfrm>
          <a:prstGeom prst="ellipse">
            <a:avLst/>
          </a:prstGeom>
          <a:solidFill>
            <a:srgbClr val="8B9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453" y="2762243"/>
            <a:ext cx="2576513" cy="249812"/>
          </a:xfrm>
          <a:prstGeom prst="rect">
            <a:avLst/>
          </a:prstGeom>
          <a:noFill/>
        </p:spPr>
        <p:txBody>
          <a:bodyPr wrap="square" lIns="0" tIns="0" rIns="0" bIns="0" anchor="t">
            <a:spAutoFit/>
          </a:bodyPr>
          <a:lstStyle/>
          <a:p>
            <a:pPr algn="l">
              <a:lnSpc>
                <a:spcPct val="119000"/>
              </a:lnSpc>
            </a:pPr>
            <a:r>
              <a:rPr sz="1500" b="1" dirty="0">
                <a:solidFill>
                  <a:srgbClr val="1E1E1E"/>
                </a:solidFill>
                <a:latin typeface="Arial"/>
              </a:rPr>
              <a:t>Participation &amp; consent</a:t>
            </a:r>
          </a:p>
        </p:txBody>
      </p:sp>
      <p:sp>
        <p:nvSpPr>
          <p:cNvPr id="8" name="TextBox 7"/>
          <p:cNvSpPr txBox="1"/>
          <p:nvPr/>
        </p:nvSpPr>
        <p:spPr>
          <a:xfrm>
            <a:off x="812453" y="3100325"/>
            <a:ext cx="5901631"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Communities should have a say in mapping rules and use of data.</a:t>
            </a:r>
          </a:p>
        </p:txBody>
      </p:sp>
      <p:sp>
        <p:nvSpPr>
          <p:cNvPr id="9" name="Oval 8"/>
          <p:cNvSpPr/>
          <p:nvPr/>
        </p:nvSpPr>
        <p:spPr>
          <a:xfrm>
            <a:off x="571500" y="3604329"/>
            <a:ext cx="95250" cy="95250"/>
          </a:xfrm>
          <a:prstGeom prst="ellipse">
            <a:avLst/>
          </a:prstGeom>
          <a:solidFill>
            <a:srgbClr val="B8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9150" y="3507137"/>
            <a:ext cx="2614613" cy="249812"/>
          </a:xfrm>
          <a:prstGeom prst="rect">
            <a:avLst/>
          </a:prstGeom>
          <a:noFill/>
        </p:spPr>
        <p:txBody>
          <a:bodyPr wrap="square" lIns="0" tIns="0" rIns="0" bIns="0" anchor="t">
            <a:spAutoFit/>
          </a:bodyPr>
          <a:lstStyle/>
          <a:p>
            <a:pPr algn="l">
              <a:lnSpc>
                <a:spcPct val="119000"/>
              </a:lnSpc>
            </a:pPr>
            <a:r>
              <a:rPr sz="1500" b="1" dirty="0">
                <a:solidFill>
                  <a:srgbClr val="1E1E1E"/>
                </a:solidFill>
                <a:latin typeface="Arial"/>
              </a:rPr>
              <a:t>Bias &amp; representation</a:t>
            </a:r>
          </a:p>
        </p:txBody>
      </p:sp>
      <p:sp>
        <p:nvSpPr>
          <p:cNvPr id="11" name="TextBox 10"/>
          <p:cNvSpPr txBox="1"/>
          <p:nvPr/>
        </p:nvSpPr>
        <p:spPr>
          <a:xfrm>
            <a:off x="812453" y="3827947"/>
            <a:ext cx="6015930" cy="557212"/>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Drone-based analyses may overlook marginalized areas (e.g., informal settlements) if models or priorities are skewed.</a:t>
            </a:r>
          </a:p>
        </p:txBody>
      </p:sp>
      <p:sp>
        <p:nvSpPr>
          <p:cNvPr id="12" name="Oval 11"/>
          <p:cNvSpPr/>
          <p:nvPr/>
        </p:nvSpPr>
        <p:spPr>
          <a:xfrm>
            <a:off x="571500" y="4694942"/>
            <a:ext cx="95250" cy="95250"/>
          </a:xfrm>
          <a:prstGeom prst="ellipse">
            <a:avLst/>
          </a:prstGeom>
          <a:solidFill>
            <a:srgbClr val="8E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9150" y="4618741"/>
            <a:ext cx="4200525" cy="249812"/>
          </a:xfrm>
          <a:prstGeom prst="rect">
            <a:avLst/>
          </a:prstGeom>
          <a:noFill/>
        </p:spPr>
        <p:txBody>
          <a:bodyPr wrap="square" lIns="0" tIns="0" rIns="0" bIns="0" anchor="t">
            <a:spAutoFit/>
          </a:bodyPr>
          <a:lstStyle/>
          <a:p>
            <a:pPr algn="l">
              <a:lnSpc>
                <a:spcPct val="119000"/>
              </a:lnSpc>
            </a:pPr>
            <a:r>
              <a:rPr sz="1500" b="1" dirty="0">
                <a:solidFill>
                  <a:srgbClr val="1E1E1E"/>
                </a:solidFill>
                <a:latin typeface="Arial"/>
              </a:rPr>
              <a:t>Empowerment example</a:t>
            </a:r>
          </a:p>
        </p:txBody>
      </p:sp>
      <p:sp>
        <p:nvSpPr>
          <p:cNvPr id="14" name="TextBox 13"/>
          <p:cNvSpPr txBox="1"/>
          <p:nvPr/>
        </p:nvSpPr>
        <p:spPr>
          <a:xfrm>
            <a:off x="819150" y="4923542"/>
            <a:ext cx="6015930" cy="557212"/>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Empowering the i</a:t>
            </a:r>
            <a:r>
              <a:rPr sz="1350" dirty="0">
                <a:solidFill>
                  <a:srgbClr val="808080"/>
                </a:solidFill>
                <a:latin typeface="Arial"/>
              </a:rPr>
              <a:t>ndigenous </a:t>
            </a:r>
            <a:r>
              <a:rPr lang="en-US" sz="1350" dirty="0">
                <a:solidFill>
                  <a:srgbClr val="808080"/>
                </a:solidFill>
                <a:latin typeface="Arial"/>
              </a:rPr>
              <a:t>population with </a:t>
            </a:r>
            <a:r>
              <a:rPr sz="1350" dirty="0">
                <a:solidFill>
                  <a:srgbClr val="808080"/>
                </a:solidFill>
                <a:latin typeface="Arial"/>
              </a:rPr>
              <a:t>drone skills for </a:t>
            </a:r>
            <a:r>
              <a:rPr lang="en-US" sz="1350" dirty="0">
                <a:solidFill>
                  <a:srgbClr val="808080"/>
                </a:solidFill>
                <a:latin typeface="Arial"/>
              </a:rPr>
              <a:t>land</a:t>
            </a:r>
            <a:r>
              <a:rPr sz="1350" dirty="0">
                <a:solidFill>
                  <a:srgbClr val="808080"/>
                </a:solidFill>
                <a:latin typeface="Arial"/>
              </a:rPr>
              <a:t> mapping/monitoring to support land claims and environmental justice.</a:t>
            </a:r>
          </a:p>
        </p:txBody>
      </p:sp>
      <p:sp>
        <p:nvSpPr>
          <p:cNvPr id="15" name="Rectangle 14"/>
          <p:cNvSpPr/>
          <p:nvPr/>
        </p:nvSpPr>
        <p:spPr>
          <a:xfrm>
            <a:off x="571500" y="5651896"/>
            <a:ext cx="3524250" cy="2381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571500" y="5651896"/>
            <a:ext cx="3524250" cy="0"/>
          </a:xfrm>
          <a:prstGeom prst="line">
            <a:avLst/>
          </a:prstGeom>
          <a:ln w="9525">
            <a:solidFill>
              <a:srgbClr val="F3F4F6"/>
            </a:solidFill>
          </a:ln>
        </p:spPr>
        <p:style>
          <a:lnRef idx="2">
            <a:schemeClr val="accent1"/>
          </a:lnRef>
          <a:fillRef idx="0">
            <a:schemeClr val="accent1"/>
          </a:fillRef>
          <a:effectRef idx="1">
            <a:schemeClr val="accent1"/>
          </a:effectRef>
          <a:fontRef idx="minor">
            <a:schemeClr val="tx1"/>
          </a:fontRef>
        </p:style>
      </p:cxnSp>
      <p:pic>
        <p:nvPicPr>
          <p:cNvPr id="18" name="Picture 17" descr="temp_slide_0_el_14.png"/>
          <p:cNvPicPr>
            <a:picLocks noChangeAspect="1"/>
          </p:cNvPicPr>
          <p:nvPr/>
        </p:nvPicPr>
        <p:blipFill>
          <a:blip r:embed="rId3"/>
          <a:stretch>
            <a:fillRect/>
          </a:stretch>
        </p:blipFill>
        <p:spPr>
          <a:xfrm>
            <a:off x="7091213" y="1331118"/>
            <a:ext cx="4747319" cy="2512218"/>
          </a:xfrm>
          <a:prstGeom prst="rect">
            <a:avLst/>
          </a:prstGeom>
        </p:spPr>
      </p:pic>
      <p:pic>
        <p:nvPicPr>
          <p:cNvPr id="19" name="Picture 18" descr="temp_slide_0_el_15.png"/>
          <p:cNvPicPr>
            <a:picLocks noChangeAspect="1"/>
          </p:cNvPicPr>
          <p:nvPr/>
        </p:nvPicPr>
        <p:blipFill>
          <a:blip r:embed="rId4"/>
          <a:stretch>
            <a:fillRect/>
          </a:stretch>
        </p:blipFill>
        <p:spPr>
          <a:xfrm>
            <a:off x="7416106" y="1684623"/>
            <a:ext cx="952500" cy="952500"/>
          </a:xfrm>
          <a:prstGeom prst="rect">
            <a:avLst/>
          </a:prstGeom>
        </p:spPr>
      </p:pic>
      <p:sp>
        <p:nvSpPr>
          <p:cNvPr id="21" name="TextBox 20"/>
          <p:cNvSpPr txBox="1"/>
          <p:nvPr/>
        </p:nvSpPr>
        <p:spPr>
          <a:xfrm>
            <a:off x="8320980" y="1978818"/>
            <a:ext cx="2032695" cy="287386"/>
          </a:xfrm>
          <a:prstGeom prst="rect">
            <a:avLst/>
          </a:prstGeom>
          <a:noFill/>
        </p:spPr>
        <p:txBody>
          <a:bodyPr wrap="square" lIns="0" tIns="0" rIns="0" bIns="0" anchor="t">
            <a:spAutoFit/>
          </a:bodyPr>
          <a:lstStyle/>
          <a:p>
            <a:pPr algn="l">
              <a:lnSpc>
                <a:spcPct val="113333"/>
              </a:lnSpc>
            </a:pPr>
            <a:r>
              <a:rPr sz="1800" dirty="0">
                <a:solidFill>
                  <a:srgbClr val="1E1E1E"/>
                </a:solidFill>
                <a:latin typeface="Arial"/>
              </a:rPr>
              <a:t>Surveillance Risk</a:t>
            </a:r>
          </a:p>
        </p:txBody>
      </p:sp>
      <p:sp>
        <p:nvSpPr>
          <p:cNvPr id="22" name="TextBox 21"/>
          <p:cNvSpPr txBox="1"/>
          <p:nvPr/>
        </p:nvSpPr>
        <p:spPr>
          <a:xfrm>
            <a:off x="7787580" y="2436018"/>
            <a:ext cx="3680520" cy="827791"/>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One-sided observation </a:t>
            </a:r>
            <a:r>
              <a:rPr lang="en-US" sz="1350" dirty="0">
                <a:solidFill>
                  <a:srgbClr val="808080"/>
                </a:solidFill>
                <a:latin typeface="Arial"/>
              </a:rPr>
              <a:t>that exposes </a:t>
            </a:r>
            <a:r>
              <a:rPr sz="1350" dirty="0">
                <a:solidFill>
                  <a:srgbClr val="808080"/>
                </a:solidFill>
                <a:latin typeface="Arial"/>
              </a:rPr>
              <a:t>vulnerable groups </a:t>
            </a:r>
            <a:r>
              <a:rPr lang="en-US" sz="1350" dirty="0">
                <a:solidFill>
                  <a:srgbClr val="808080"/>
                </a:solidFill>
                <a:latin typeface="Arial"/>
              </a:rPr>
              <a:t>and does not allow them </a:t>
            </a:r>
            <a:r>
              <a:rPr sz="1350" dirty="0">
                <a:solidFill>
                  <a:srgbClr val="808080"/>
                </a:solidFill>
                <a:latin typeface="Arial"/>
              </a:rPr>
              <a:t>to protect themselves</a:t>
            </a:r>
            <a:r>
              <a:rPr lang="en-US" sz="1350" dirty="0">
                <a:solidFill>
                  <a:srgbClr val="808080"/>
                </a:solidFill>
                <a:latin typeface="Arial"/>
              </a:rPr>
              <a:t> or to opt out.</a:t>
            </a:r>
            <a:endParaRPr sz="1350" dirty="0">
              <a:solidFill>
                <a:srgbClr val="808080"/>
              </a:solidFill>
              <a:latin typeface="Arial"/>
            </a:endParaRPr>
          </a:p>
        </p:txBody>
      </p:sp>
      <p:pic>
        <p:nvPicPr>
          <p:cNvPr id="23" name="Picture 22" descr="temp_slide_0_el_19.png"/>
          <p:cNvPicPr>
            <a:picLocks noChangeAspect="1"/>
          </p:cNvPicPr>
          <p:nvPr/>
        </p:nvPicPr>
        <p:blipFill>
          <a:blip r:embed="rId5"/>
          <a:stretch>
            <a:fillRect/>
          </a:stretch>
        </p:blipFill>
        <p:spPr>
          <a:xfrm>
            <a:off x="7069335" y="3500436"/>
            <a:ext cx="4747319" cy="2512218"/>
          </a:xfrm>
          <a:prstGeom prst="rect">
            <a:avLst/>
          </a:prstGeom>
        </p:spPr>
      </p:pic>
      <p:pic>
        <p:nvPicPr>
          <p:cNvPr id="24" name="Picture 23" descr="temp_slide_0_el_20.png"/>
          <p:cNvPicPr>
            <a:picLocks noChangeAspect="1"/>
          </p:cNvPicPr>
          <p:nvPr/>
        </p:nvPicPr>
        <p:blipFill>
          <a:blip r:embed="rId6"/>
          <a:stretch>
            <a:fillRect/>
          </a:stretch>
        </p:blipFill>
        <p:spPr>
          <a:xfrm>
            <a:off x="7485608" y="3843337"/>
            <a:ext cx="952500" cy="952500"/>
          </a:xfrm>
          <a:prstGeom prst="rect">
            <a:avLst/>
          </a:prstGeom>
        </p:spPr>
      </p:pic>
      <p:sp>
        <p:nvSpPr>
          <p:cNvPr id="26" name="TextBox 25"/>
          <p:cNvSpPr txBox="1"/>
          <p:nvPr/>
        </p:nvSpPr>
        <p:spPr>
          <a:xfrm>
            <a:off x="8320980" y="4148137"/>
            <a:ext cx="2942333" cy="287386"/>
          </a:xfrm>
          <a:prstGeom prst="rect">
            <a:avLst/>
          </a:prstGeom>
          <a:noFill/>
        </p:spPr>
        <p:txBody>
          <a:bodyPr wrap="square" lIns="0" tIns="0" rIns="0" bIns="0" anchor="t">
            <a:spAutoFit/>
          </a:bodyPr>
          <a:lstStyle/>
          <a:p>
            <a:pPr algn="l">
              <a:lnSpc>
                <a:spcPct val="113333"/>
              </a:lnSpc>
            </a:pPr>
            <a:r>
              <a:rPr sz="1800" dirty="0">
                <a:solidFill>
                  <a:srgbClr val="1E1E1E"/>
                </a:solidFill>
                <a:latin typeface="Arial"/>
              </a:rPr>
              <a:t>Community Empowerment</a:t>
            </a:r>
          </a:p>
        </p:txBody>
      </p:sp>
      <p:sp>
        <p:nvSpPr>
          <p:cNvPr id="27" name="TextBox 26"/>
          <p:cNvSpPr txBox="1"/>
          <p:nvPr/>
        </p:nvSpPr>
        <p:spPr>
          <a:xfrm>
            <a:off x="7787580" y="4605337"/>
            <a:ext cx="3875884" cy="827791"/>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Allows </a:t>
            </a:r>
            <a:r>
              <a:rPr sz="1350" dirty="0">
                <a:solidFill>
                  <a:srgbClr val="808080"/>
                </a:solidFill>
                <a:latin typeface="Arial"/>
              </a:rPr>
              <a:t>access </a:t>
            </a:r>
            <a:r>
              <a:rPr lang="en-US" sz="1350" dirty="0">
                <a:solidFill>
                  <a:srgbClr val="808080"/>
                </a:solidFill>
                <a:latin typeface="Arial"/>
              </a:rPr>
              <a:t>to </a:t>
            </a:r>
            <a:r>
              <a:rPr sz="1350" dirty="0">
                <a:solidFill>
                  <a:srgbClr val="808080"/>
                </a:solidFill>
                <a:latin typeface="Arial"/>
              </a:rPr>
              <a:t>supporting land claims</a:t>
            </a:r>
            <a:r>
              <a:rPr lang="en-US" sz="1350" dirty="0">
                <a:solidFill>
                  <a:srgbClr val="808080"/>
                </a:solidFill>
                <a:latin typeface="Arial"/>
              </a:rPr>
              <a:t>, along with </a:t>
            </a:r>
            <a:r>
              <a:rPr sz="1350" dirty="0">
                <a:solidFill>
                  <a:srgbClr val="808080"/>
                </a:solidFill>
                <a:latin typeface="Arial"/>
              </a:rPr>
              <a:t>environmental </a:t>
            </a:r>
            <a:r>
              <a:rPr lang="en-US" sz="1350" dirty="0">
                <a:solidFill>
                  <a:srgbClr val="808080"/>
                </a:solidFill>
                <a:latin typeface="Arial"/>
              </a:rPr>
              <a:t>protections and </a:t>
            </a:r>
            <a:r>
              <a:rPr sz="1350" dirty="0">
                <a:solidFill>
                  <a:srgbClr val="808080"/>
                </a:solidFill>
                <a:latin typeface="Arial"/>
              </a:rPr>
              <a:t>justice through </a:t>
            </a:r>
            <a:r>
              <a:rPr lang="en-US" sz="1350" dirty="0">
                <a:solidFill>
                  <a:srgbClr val="808080"/>
                </a:solidFill>
                <a:latin typeface="Arial"/>
              </a:rPr>
              <a:t>land</a:t>
            </a:r>
            <a:r>
              <a:rPr sz="1350" dirty="0">
                <a:solidFill>
                  <a:srgbClr val="808080"/>
                </a:solidFill>
                <a:latin typeface="Arial"/>
              </a:rPr>
              <a:t> mapping.</a:t>
            </a:r>
          </a:p>
        </p:txBody>
      </p:sp>
      <p:sp>
        <p:nvSpPr>
          <p:cNvPr id="28" name="Rectangle 27"/>
          <p:cNvSpPr/>
          <p:nvPr/>
        </p:nvSpPr>
        <p:spPr>
          <a:xfrm>
            <a:off x="571500" y="6181725"/>
            <a:ext cx="11049000" cy="3905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571500" y="6181725"/>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30" name="Picture 29" descr="temp_slide_0_el_25.png"/>
          <p:cNvPicPr>
            <a:picLocks noChangeAspect="1"/>
          </p:cNvPicPr>
          <p:nvPr/>
        </p:nvPicPr>
        <p:blipFill>
          <a:blip r:embed="rId7"/>
          <a:stretch>
            <a:fillRect/>
          </a:stretch>
        </p:blipFill>
        <p:spPr>
          <a:xfrm>
            <a:off x="285750" y="6057900"/>
            <a:ext cx="800100" cy="800100"/>
          </a:xfrm>
          <a:prstGeom prst="rect">
            <a:avLst/>
          </a:prstGeom>
        </p:spPr>
      </p:pic>
      <p:sp>
        <p:nvSpPr>
          <p:cNvPr id="31" name="TextBox 30"/>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dirty="0">
                <a:solidFill>
                  <a:srgbClr val="808080"/>
                </a:solidFill>
                <a:latin typeface="Arial"/>
              </a:rPr>
              <a:t>Ethical Issues in GIS Technologies</a:t>
            </a:r>
          </a:p>
        </p:txBody>
      </p:sp>
      <p:sp>
        <p:nvSpPr>
          <p:cNvPr id="32" name="TextBox 31"/>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07</a:t>
            </a:r>
          </a:p>
        </p:txBody>
      </p:sp>
      <p:sp>
        <p:nvSpPr>
          <p:cNvPr id="17" name="TextBox 16">
            <a:extLst>
              <a:ext uri="{FF2B5EF4-FFF2-40B4-BE49-F238E27FC236}">
                <a16:creationId xmlns:a16="http://schemas.microsoft.com/office/drawing/2014/main" id="{A5266410-9483-FEF9-14B4-1BB18FCF015D}"/>
              </a:ext>
            </a:extLst>
          </p:cNvPr>
          <p:cNvSpPr txBox="1"/>
          <p:nvPr/>
        </p:nvSpPr>
        <p:spPr>
          <a:xfrm>
            <a:off x="571500" y="5708292"/>
            <a:ext cx="2341438" cy="143629"/>
          </a:xfrm>
          <a:prstGeom prst="rect">
            <a:avLst/>
          </a:prstGeom>
          <a:noFill/>
        </p:spPr>
        <p:txBody>
          <a:bodyPr wrap="square" lIns="0" tIns="0" rIns="0" bIns="0" anchor="t">
            <a:spAutoFit/>
          </a:bodyPr>
          <a:lstStyle/>
          <a:p>
            <a:pPr algn="l">
              <a:lnSpc>
                <a:spcPct val="113333"/>
              </a:lnSpc>
            </a:pPr>
            <a:r>
              <a:rPr lang="en-US" sz="900" dirty="0">
                <a:solidFill>
                  <a:srgbClr val="808080"/>
                </a:solidFill>
                <a:latin typeface="Arial"/>
              </a:rPr>
              <a:t>(Paneque-Gálvez et al., 2017; Oluoch, 2024)</a:t>
            </a:r>
            <a:endParaRPr sz="900" dirty="0">
              <a:solidFill>
                <a:srgbClr val="80808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476250"/>
            <a:ext cx="10063163" cy="1246495"/>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What to Keep Out &amp; How It Can Be Abused</a:t>
            </a:r>
          </a:p>
        </p:txBody>
      </p:sp>
      <p:sp>
        <p:nvSpPr>
          <p:cNvPr id="3" name="Rectangle 2"/>
          <p:cNvSpPr/>
          <p:nvPr/>
        </p:nvSpPr>
        <p:spPr>
          <a:xfrm>
            <a:off x="571500" y="1924050"/>
            <a:ext cx="5219700" cy="6191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571500" y="2543175"/>
            <a:ext cx="5219700" cy="0"/>
          </a:xfrm>
          <a:prstGeom prst="line">
            <a:avLst/>
          </a:prstGeom>
          <a:ln w="9525">
            <a:solidFill>
              <a:srgbClr val="A67B6D"/>
            </a:solidFill>
          </a:ln>
        </p:spPr>
        <p:style>
          <a:lnRef idx="2">
            <a:schemeClr val="accent1"/>
          </a:lnRef>
          <a:fillRef idx="0">
            <a:schemeClr val="accent1"/>
          </a:fillRef>
          <a:effectRef idx="1">
            <a:schemeClr val="accent1"/>
          </a:effectRef>
          <a:fontRef idx="minor">
            <a:schemeClr val="tx1"/>
          </a:fontRef>
        </p:style>
      </p:cxnSp>
      <p:pic>
        <p:nvPicPr>
          <p:cNvPr id="5" name="Picture 4" descr="temp_slide_0_el_2.png"/>
          <p:cNvPicPr>
            <a:picLocks noChangeAspect="1"/>
          </p:cNvPicPr>
          <p:nvPr/>
        </p:nvPicPr>
        <p:blipFill>
          <a:blip r:embed="rId3"/>
          <a:stretch>
            <a:fillRect/>
          </a:stretch>
        </p:blipFill>
        <p:spPr>
          <a:xfrm>
            <a:off x="285750" y="1638300"/>
            <a:ext cx="1028700" cy="1028700"/>
          </a:xfrm>
          <a:prstGeom prst="rect">
            <a:avLst/>
          </a:prstGeom>
        </p:spPr>
      </p:pic>
      <p:sp>
        <p:nvSpPr>
          <p:cNvPr id="7" name="TextBox 6"/>
          <p:cNvSpPr txBox="1"/>
          <p:nvPr/>
        </p:nvSpPr>
        <p:spPr>
          <a:xfrm>
            <a:off x="1187052" y="1976438"/>
            <a:ext cx="4200525" cy="342900"/>
          </a:xfrm>
          <a:prstGeom prst="rect">
            <a:avLst/>
          </a:prstGeom>
          <a:noFill/>
        </p:spPr>
        <p:txBody>
          <a:bodyPr wrap="square" lIns="0" tIns="0" rIns="0" bIns="0" anchor="t">
            <a:spAutoFit/>
          </a:bodyPr>
          <a:lstStyle/>
          <a:p>
            <a:pPr algn="l">
              <a:lnSpc>
                <a:spcPct val="102000"/>
              </a:lnSpc>
            </a:pPr>
            <a:r>
              <a:rPr sz="2250" dirty="0">
                <a:solidFill>
                  <a:srgbClr val="1E1E1E"/>
                </a:solidFill>
                <a:latin typeface="Arial"/>
              </a:rPr>
              <a:t>Keep out / minimize collection</a:t>
            </a:r>
          </a:p>
        </p:txBody>
      </p:sp>
      <p:pic>
        <p:nvPicPr>
          <p:cNvPr id="8" name="Picture 7" descr="temp_icon_slide_0_el_5.png"/>
          <p:cNvPicPr>
            <a:picLocks noChangeAspect="1"/>
          </p:cNvPicPr>
          <p:nvPr/>
        </p:nvPicPr>
        <p:blipFill>
          <a:blip r:embed="rId4"/>
          <a:stretch>
            <a:fillRect/>
          </a:stretch>
        </p:blipFill>
        <p:spPr>
          <a:xfrm>
            <a:off x="571500" y="2809875"/>
            <a:ext cx="190500" cy="190500"/>
          </a:xfrm>
          <a:prstGeom prst="rect">
            <a:avLst/>
          </a:prstGeom>
        </p:spPr>
      </p:pic>
      <p:sp>
        <p:nvSpPr>
          <p:cNvPr id="9" name="TextBox 8"/>
          <p:cNvSpPr txBox="1"/>
          <p:nvPr/>
        </p:nvSpPr>
        <p:spPr>
          <a:xfrm>
            <a:off x="914400" y="2771775"/>
            <a:ext cx="2195513"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Identifiable imagery</a:t>
            </a:r>
          </a:p>
        </p:txBody>
      </p:sp>
      <p:sp>
        <p:nvSpPr>
          <p:cNvPr id="10" name="TextBox 9"/>
          <p:cNvSpPr txBox="1"/>
          <p:nvPr/>
        </p:nvSpPr>
        <p:spPr>
          <a:xfrm>
            <a:off x="914400" y="3076575"/>
            <a:ext cx="5084714" cy="541110"/>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AI power image recognition software - </a:t>
            </a:r>
            <a:r>
              <a:rPr sz="1350" dirty="0">
                <a:solidFill>
                  <a:srgbClr val="808080"/>
                </a:solidFill>
                <a:latin typeface="Arial"/>
              </a:rPr>
              <a:t>Faces, </a:t>
            </a:r>
            <a:r>
              <a:rPr lang="en-US" sz="1350" dirty="0">
                <a:solidFill>
                  <a:srgbClr val="808080"/>
                </a:solidFill>
                <a:latin typeface="Arial"/>
              </a:rPr>
              <a:t>individuals, </a:t>
            </a:r>
            <a:r>
              <a:rPr sz="1350" dirty="0">
                <a:solidFill>
                  <a:srgbClr val="808080"/>
                </a:solidFill>
                <a:latin typeface="Arial"/>
              </a:rPr>
              <a:t>license plates</a:t>
            </a:r>
          </a:p>
        </p:txBody>
      </p:sp>
      <p:pic>
        <p:nvPicPr>
          <p:cNvPr id="11" name="Picture 10" descr="temp_icon_slide_0_el_8.png"/>
          <p:cNvPicPr>
            <a:picLocks noChangeAspect="1"/>
          </p:cNvPicPr>
          <p:nvPr/>
        </p:nvPicPr>
        <p:blipFill>
          <a:blip r:embed="rId5"/>
          <a:stretch>
            <a:fillRect/>
          </a:stretch>
        </p:blipFill>
        <p:spPr>
          <a:xfrm>
            <a:off x="559665" y="3789516"/>
            <a:ext cx="190500" cy="190500"/>
          </a:xfrm>
          <a:prstGeom prst="rect">
            <a:avLst/>
          </a:prstGeom>
        </p:spPr>
      </p:pic>
      <p:sp>
        <p:nvSpPr>
          <p:cNvPr id="12" name="TextBox 11"/>
          <p:cNvSpPr txBox="1"/>
          <p:nvPr/>
        </p:nvSpPr>
        <p:spPr>
          <a:xfrm>
            <a:off x="914400" y="3717998"/>
            <a:ext cx="3633788"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Sensitive </a:t>
            </a:r>
            <a:r>
              <a:rPr lang="en-US" sz="1500" dirty="0">
                <a:solidFill>
                  <a:srgbClr val="1E1E1E"/>
                </a:solidFill>
                <a:latin typeface="Arial"/>
              </a:rPr>
              <a:t>private</a:t>
            </a:r>
            <a:r>
              <a:rPr sz="1500" dirty="0">
                <a:solidFill>
                  <a:srgbClr val="1E1E1E"/>
                </a:solidFill>
                <a:latin typeface="Arial"/>
              </a:rPr>
              <a:t> activities</a:t>
            </a:r>
          </a:p>
        </p:txBody>
      </p:sp>
      <p:sp>
        <p:nvSpPr>
          <p:cNvPr id="13" name="TextBox 12"/>
          <p:cNvSpPr txBox="1"/>
          <p:nvPr/>
        </p:nvSpPr>
        <p:spPr>
          <a:xfrm>
            <a:off x="914400" y="4003361"/>
            <a:ext cx="3195638" cy="254429"/>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Collection of </a:t>
            </a:r>
            <a:r>
              <a:rPr sz="1350" dirty="0">
                <a:solidFill>
                  <a:srgbClr val="808080"/>
                </a:solidFill>
                <a:latin typeface="Arial"/>
              </a:rPr>
              <a:t>health-related activities</a:t>
            </a:r>
          </a:p>
        </p:txBody>
      </p:sp>
      <p:pic>
        <p:nvPicPr>
          <p:cNvPr id="14" name="Picture 13" descr="temp_icon_slide_0_el_11.png"/>
          <p:cNvPicPr>
            <a:picLocks noChangeAspect="1"/>
          </p:cNvPicPr>
          <p:nvPr/>
        </p:nvPicPr>
        <p:blipFill>
          <a:blip r:embed="rId6"/>
          <a:stretch>
            <a:fillRect/>
          </a:stretch>
        </p:blipFill>
        <p:spPr>
          <a:xfrm>
            <a:off x="571500" y="4586287"/>
            <a:ext cx="190500" cy="190500"/>
          </a:xfrm>
          <a:prstGeom prst="rect">
            <a:avLst/>
          </a:prstGeom>
        </p:spPr>
      </p:pic>
      <p:sp>
        <p:nvSpPr>
          <p:cNvPr id="15" name="TextBox 14"/>
          <p:cNvSpPr txBox="1"/>
          <p:nvPr/>
        </p:nvSpPr>
        <p:spPr>
          <a:xfrm>
            <a:off x="914400" y="4519612"/>
            <a:ext cx="2466975"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High-risk location data</a:t>
            </a:r>
          </a:p>
        </p:txBody>
      </p:sp>
      <p:sp>
        <p:nvSpPr>
          <p:cNvPr id="16" name="TextBox 15"/>
          <p:cNvSpPr txBox="1"/>
          <p:nvPr/>
        </p:nvSpPr>
        <p:spPr>
          <a:xfrm>
            <a:off x="914400" y="4852987"/>
            <a:ext cx="5338019" cy="541110"/>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Collection of </a:t>
            </a:r>
            <a:r>
              <a:rPr sz="1350" dirty="0">
                <a:solidFill>
                  <a:srgbClr val="808080"/>
                </a:solidFill>
                <a:latin typeface="Arial"/>
              </a:rPr>
              <a:t>sensitive species</a:t>
            </a:r>
            <a:r>
              <a:rPr lang="en-US" sz="1350" dirty="0">
                <a:solidFill>
                  <a:srgbClr val="808080"/>
                </a:solidFill>
                <a:latin typeface="Arial"/>
              </a:rPr>
              <a:t>/geosocial</a:t>
            </a:r>
            <a:r>
              <a:rPr sz="1350" dirty="0">
                <a:solidFill>
                  <a:srgbClr val="808080"/>
                </a:solidFill>
                <a:latin typeface="Arial"/>
              </a:rPr>
              <a:t> locations; private land-use details</a:t>
            </a:r>
          </a:p>
        </p:txBody>
      </p:sp>
      <p:sp>
        <p:nvSpPr>
          <p:cNvPr id="17" name="Rectangle 16"/>
          <p:cNvSpPr/>
          <p:nvPr/>
        </p:nvSpPr>
        <p:spPr>
          <a:xfrm>
            <a:off x="6400800" y="1924050"/>
            <a:ext cx="5219700" cy="6191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6400800" y="2543175"/>
            <a:ext cx="5219700" cy="0"/>
          </a:xfrm>
          <a:prstGeom prst="line">
            <a:avLst/>
          </a:prstGeom>
          <a:ln w="9525">
            <a:solidFill>
              <a:srgbClr val="8E9CA9"/>
            </a:solidFill>
          </a:ln>
        </p:spPr>
        <p:style>
          <a:lnRef idx="2">
            <a:schemeClr val="accent1"/>
          </a:lnRef>
          <a:fillRef idx="0">
            <a:schemeClr val="accent1"/>
          </a:fillRef>
          <a:effectRef idx="1">
            <a:schemeClr val="accent1"/>
          </a:effectRef>
          <a:fontRef idx="minor">
            <a:schemeClr val="tx1"/>
          </a:fontRef>
        </p:style>
      </p:cxnSp>
      <p:pic>
        <p:nvPicPr>
          <p:cNvPr id="19" name="Picture 18" descr="temp_slide_0_el_15.png"/>
          <p:cNvPicPr>
            <a:picLocks noChangeAspect="1"/>
          </p:cNvPicPr>
          <p:nvPr/>
        </p:nvPicPr>
        <p:blipFill>
          <a:blip r:embed="rId7"/>
          <a:stretch>
            <a:fillRect/>
          </a:stretch>
        </p:blipFill>
        <p:spPr>
          <a:xfrm>
            <a:off x="6210300" y="1647825"/>
            <a:ext cx="1028700" cy="1028700"/>
          </a:xfrm>
          <a:prstGeom prst="rect">
            <a:avLst/>
          </a:prstGeom>
        </p:spPr>
      </p:pic>
      <p:sp>
        <p:nvSpPr>
          <p:cNvPr id="21" name="TextBox 20"/>
          <p:cNvSpPr txBox="1"/>
          <p:nvPr/>
        </p:nvSpPr>
        <p:spPr>
          <a:xfrm>
            <a:off x="7003851" y="2005013"/>
            <a:ext cx="3000375" cy="342900"/>
          </a:xfrm>
          <a:prstGeom prst="rect">
            <a:avLst/>
          </a:prstGeom>
          <a:noFill/>
        </p:spPr>
        <p:txBody>
          <a:bodyPr wrap="square" lIns="0" tIns="0" rIns="0" bIns="0" anchor="t">
            <a:spAutoFit/>
          </a:bodyPr>
          <a:lstStyle/>
          <a:p>
            <a:pPr algn="l">
              <a:lnSpc>
                <a:spcPct val="102000"/>
              </a:lnSpc>
            </a:pPr>
            <a:r>
              <a:rPr sz="2250" dirty="0">
                <a:solidFill>
                  <a:srgbClr val="1E1E1E"/>
                </a:solidFill>
                <a:latin typeface="Arial"/>
              </a:rPr>
              <a:t>How it can be abused</a:t>
            </a:r>
          </a:p>
        </p:txBody>
      </p:sp>
      <p:pic>
        <p:nvPicPr>
          <p:cNvPr id="22" name="Picture 21" descr="temp_icon_slide_0_el_18.png"/>
          <p:cNvPicPr>
            <a:picLocks noChangeAspect="1"/>
          </p:cNvPicPr>
          <p:nvPr/>
        </p:nvPicPr>
        <p:blipFill>
          <a:blip r:embed="rId8"/>
          <a:stretch>
            <a:fillRect/>
          </a:stretch>
        </p:blipFill>
        <p:spPr>
          <a:xfrm>
            <a:off x="6400800" y="2809875"/>
            <a:ext cx="219075" cy="190500"/>
          </a:xfrm>
          <a:prstGeom prst="rect">
            <a:avLst/>
          </a:prstGeom>
        </p:spPr>
      </p:pic>
      <p:sp>
        <p:nvSpPr>
          <p:cNvPr id="23" name="TextBox 22"/>
          <p:cNvSpPr txBox="1"/>
          <p:nvPr/>
        </p:nvSpPr>
        <p:spPr>
          <a:xfrm>
            <a:off x="6772274" y="2747963"/>
            <a:ext cx="2690813"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Non-consensual surveillance</a:t>
            </a:r>
          </a:p>
        </p:txBody>
      </p:sp>
      <p:sp>
        <p:nvSpPr>
          <p:cNvPr id="24" name="TextBox 23"/>
          <p:cNvSpPr txBox="1"/>
          <p:nvPr/>
        </p:nvSpPr>
        <p:spPr>
          <a:xfrm>
            <a:off x="6772274" y="3069213"/>
            <a:ext cx="4312393"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And permanent records of private life</a:t>
            </a:r>
            <a:r>
              <a:rPr lang="en-US" sz="1350" dirty="0">
                <a:solidFill>
                  <a:srgbClr val="808080"/>
                </a:solidFill>
                <a:latin typeface="Arial"/>
              </a:rPr>
              <a:t>, surveillance</a:t>
            </a:r>
            <a:endParaRPr sz="1350" dirty="0">
              <a:solidFill>
                <a:srgbClr val="808080"/>
              </a:solidFill>
              <a:latin typeface="Arial"/>
            </a:endParaRPr>
          </a:p>
        </p:txBody>
      </p:sp>
      <p:pic>
        <p:nvPicPr>
          <p:cNvPr id="25" name="Picture 24" descr="temp_icon_slide_0_el_21.png"/>
          <p:cNvPicPr>
            <a:picLocks noChangeAspect="1"/>
          </p:cNvPicPr>
          <p:nvPr/>
        </p:nvPicPr>
        <p:blipFill>
          <a:blip r:embed="rId9"/>
          <a:stretch>
            <a:fillRect/>
          </a:stretch>
        </p:blipFill>
        <p:spPr>
          <a:xfrm>
            <a:off x="6400800" y="3698081"/>
            <a:ext cx="219075" cy="190500"/>
          </a:xfrm>
          <a:prstGeom prst="rect">
            <a:avLst/>
          </a:prstGeom>
        </p:spPr>
      </p:pic>
      <p:sp>
        <p:nvSpPr>
          <p:cNvPr id="26" name="TextBox 25"/>
          <p:cNvSpPr txBox="1"/>
          <p:nvPr/>
        </p:nvSpPr>
        <p:spPr>
          <a:xfrm>
            <a:off x="6772275" y="3638914"/>
            <a:ext cx="2952750"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Repurposing without consent</a:t>
            </a:r>
          </a:p>
        </p:txBody>
      </p:sp>
      <p:sp>
        <p:nvSpPr>
          <p:cNvPr id="27" name="TextBox 26"/>
          <p:cNvSpPr txBox="1"/>
          <p:nvPr/>
        </p:nvSpPr>
        <p:spPr>
          <a:xfrm>
            <a:off x="6772274" y="3935623"/>
            <a:ext cx="5015865" cy="254429"/>
          </a:xfrm>
          <a:prstGeom prst="rect">
            <a:avLst/>
          </a:prstGeom>
          <a:noFill/>
        </p:spPr>
        <p:txBody>
          <a:bodyPr wrap="square" lIns="0" tIns="0" rIns="0" bIns="0" anchor="t">
            <a:spAutoFit/>
          </a:bodyPr>
          <a:lstStyle/>
          <a:p>
            <a:pPr algn="l">
              <a:lnSpc>
                <a:spcPct val="138125"/>
              </a:lnSpc>
            </a:pPr>
            <a:r>
              <a:rPr sz="1350" dirty="0">
                <a:solidFill>
                  <a:srgbClr val="808080"/>
                </a:solidFill>
                <a:latin typeface="Arial"/>
              </a:rPr>
              <a:t>For </a:t>
            </a:r>
            <a:r>
              <a:rPr lang="en-US" sz="1350" dirty="0">
                <a:solidFill>
                  <a:srgbClr val="808080"/>
                </a:solidFill>
                <a:latin typeface="Arial"/>
              </a:rPr>
              <a:t>health insurance, </a:t>
            </a:r>
            <a:r>
              <a:rPr sz="1350" dirty="0">
                <a:solidFill>
                  <a:srgbClr val="808080"/>
                </a:solidFill>
                <a:latin typeface="Arial"/>
              </a:rPr>
              <a:t>commercial</a:t>
            </a:r>
            <a:r>
              <a:rPr lang="en-US" sz="1350" dirty="0">
                <a:solidFill>
                  <a:srgbClr val="808080"/>
                </a:solidFill>
                <a:latin typeface="Arial"/>
              </a:rPr>
              <a:t>, </a:t>
            </a:r>
            <a:r>
              <a:rPr sz="1350" dirty="0">
                <a:solidFill>
                  <a:srgbClr val="808080"/>
                </a:solidFill>
                <a:latin typeface="Arial"/>
              </a:rPr>
              <a:t>or </a:t>
            </a:r>
            <a:r>
              <a:rPr lang="en-US" sz="1350" dirty="0">
                <a:solidFill>
                  <a:srgbClr val="808080"/>
                </a:solidFill>
                <a:latin typeface="Arial"/>
              </a:rPr>
              <a:t>law enforcement</a:t>
            </a:r>
            <a:r>
              <a:rPr sz="1350" dirty="0">
                <a:solidFill>
                  <a:srgbClr val="808080"/>
                </a:solidFill>
                <a:latin typeface="Arial"/>
              </a:rPr>
              <a:t> ends</a:t>
            </a:r>
          </a:p>
        </p:txBody>
      </p:sp>
      <p:pic>
        <p:nvPicPr>
          <p:cNvPr id="28" name="Picture 27" descr="temp_icon_slide_0_el_24.png"/>
          <p:cNvPicPr>
            <a:picLocks noChangeAspect="1"/>
          </p:cNvPicPr>
          <p:nvPr/>
        </p:nvPicPr>
        <p:blipFill>
          <a:blip r:embed="rId10"/>
          <a:stretch>
            <a:fillRect/>
          </a:stretch>
        </p:blipFill>
        <p:spPr>
          <a:xfrm>
            <a:off x="6400800" y="4555550"/>
            <a:ext cx="171450" cy="190500"/>
          </a:xfrm>
          <a:prstGeom prst="rect">
            <a:avLst/>
          </a:prstGeom>
        </p:spPr>
      </p:pic>
      <p:sp>
        <p:nvSpPr>
          <p:cNvPr id="29" name="TextBox 28"/>
          <p:cNvSpPr txBox="1"/>
          <p:nvPr/>
        </p:nvSpPr>
        <p:spPr>
          <a:xfrm>
            <a:off x="6724650" y="4500707"/>
            <a:ext cx="2414588" cy="249812"/>
          </a:xfrm>
          <a:prstGeom prst="rect">
            <a:avLst/>
          </a:prstGeom>
          <a:noFill/>
        </p:spPr>
        <p:txBody>
          <a:bodyPr wrap="square" lIns="0" tIns="0" rIns="0" bIns="0" anchor="t">
            <a:spAutoFit/>
          </a:bodyPr>
          <a:lstStyle/>
          <a:p>
            <a:pPr algn="l">
              <a:lnSpc>
                <a:spcPct val="119000"/>
              </a:lnSpc>
            </a:pPr>
            <a:r>
              <a:rPr sz="1500" dirty="0">
                <a:solidFill>
                  <a:srgbClr val="1E1E1E"/>
                </a:solidFill>
                <a:latin typeface="Arial"/>
              </a:rPr>
              <a:t>Data theft/tampering</a:t>
            </a:r>
          </a:p>
        </p:txBody>
      </p:sp>
      <p:sp>
        <p:nvSpPr>
          <p:cNvPr id="30" name="TextBox 29"/>
          <p:cNvSpPr txBox="1"/>
          <p:nvPr/>
        </p:nvSpPr>
        <p:spPr>
          <a:xfrm>
            <a:off x="6724650" y="4849658"/>
            <a:ext cx="4857750" cy="254429"/>
          </a:xfrm>
          <a:prstGeom prst="rect">
            <a:avLst/>
          </a:prstGeom>
          <a:noFill/>
        </p:spPr>
        <p:txBody>
          <a:bodyPr wrap="square" lIns="0" tIns="0" rIns="0" bIns="0" anchor="t">
            <a:spAutoFit/>
          </a:bodyPr>
          <a:lstStyle/>
          <a:p>
            <a:pPr algn="l">
              <a:lnSpc>
                <a:spcPct val="138125"/>
              </a:lnSpc>
            </a:pPr>
            <a:r>
              <a:rPr lang="en-US" sz="1350" dirty="0">
                <a:solidFill>
                  <a:srgbClr val="808080"/>
                </a:solidFill>
                <a:latin typeface="Arial"/>
              </a:rPr>
              <a:t>H</a:t>
            </a:r>
            <a:r>
              <a:rPr sz="1350" dirty="0">
                <a:solidFill>
                  <a:srgbClr val="808080"/>
                </a:solidFill>
                <a:latin typeface="Arial"/>
              </a:rPr>
              <a:t>acking/spoofing</a:t>
            </a:r>
            <a:r>
              <a:rPr lang="en-US" sz="1350" dirty="0">
                <a:solidFill>
                  <a:srgbClr val="808080"/>
                </a:solidFill>
                <a:latin typeface="Arial"/>
              </a:rPr>
              <a:t>,</a:t>
            </a:r>
            <a:r>
              <a:rPr sz="1350" dirty="0">
                <a:solidFill>
                  <a:srgbClr val="808080"/>
                </a:solidFill>
                <a:latin typeface="Arial"/>
              </a:rPr>
              <a:t> leading to </a:t>
            </a:r>
            <a:r>
              <a:rPr lang="en-US" sz="1350" dirty="0">
                <a:solidFill>
                  <a:srgbClr val="808080"/>
                </a:solidFill>
                <a:latin typeface="Arial"/>
              </a:rPr>
              <a:t>scams, </a:t>
            </a:r>
            <a:r>
              <a:rPr sz="1350" dirty="0">
                <a:solidFill>
                  <a:srgbClr val="808080"/>
                </a:solidFill>
                <a:latin typeface="Arial"/>
              </a:rPr>
              <a:t>misinformation</a:t>
            </a:r>
            <a:r>
              <a:rPr lang="en-US" sz="1350" dirty="0">
                <a:solidFill>
                  <a:srgbClr val="808080"/>
                </a:solidFill>
                <a:latin typeface="Arial"/>
              </a:rPr>
              <a:t>, or biases</a:t>
            </a:r>
            <a:endParaRPr sz="1350" dirty="0">
              <a:solidFill>
                <a:srgbClr val="808080"/>
              </a:solidFill>
              <a:latin typeface="Arial"/>
            </a:endParaRPr>
          </a:p>
        </p:txBody>
      </p:sp>
      <p:sp>
        <p:nvSpPr>
          <p:cNvPr id="31" name="Rectangle 30"/>
          <p:cNvSpPr/>
          <p:nvPr/>
        </p:nvSpPr>
        <p:spPr>
          <a:xfrm>
            <a:off x="571500" y="5436393"/>
            <a:ext cx="11049000" cy="8667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a:off x="579120" y="5713630"/>
            <a:ext cx="110490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27816" y="5833697"/>
            <a:ext cx="2481113" cy="533400"/>
          </a:xfrm>
          <a:prstGeom prst="rect">
            <a:avLst/>
          </a:prstGeom>
          <a:noFill/>
        </p:spPr>
        <p:txBody>
          <a:bodyPr wrap="square" lIns="0" tIns="0" rIns="0" bIns="0" anchor="t">
            <a:spAutoFit/>
          </a:bodyPr>
          <a:lstStyle/>
          <a:p>
            <a:pPr algn="l">
              <a:lnSpc>
                <a:spcPct val="132222"/>
              </a:lnSpc>
            </a:pPr>
            <a:r>
              <a:rPr sz="1350" b="1" dirty="0">
                <a:solidFill>
                  <a:srgbClr val="1E1E1E"/>
                </a:solidFill>
                <a:latin typeface="Arial"/>
              </a:rPr>
              <a:t>Links to earlier domains:</a:t>
            </a:r>
          </a:p>
        </p:txBody>
      </p:sp>
      <p:pic>
        <p:nvPicPr>
          <p:cNvPr id="34" name="Picture 33" descr="temp_slide_0_el_29.png"/>
          <p:cNvPicPr>
            <a:picLocks noChangeAspect="1"/>
          </p:cNvPicPr>
          <p:nvPr/>
        </p:nvPicPr>
        <p:blipFill>
          <a:blip r:embed="rId11"/>
          <a:stretch>
            <a:fillRect/>
          </a:stretch>
        </p:blipFill>
        <p:spPr>
          <a:xfrm>
            <a:off x="3008264" y="5507466"/>
            <a:ext cx="2990850" cy="1200150"/>
          </a:xfrm>
          <a:prstGeom prst="rect">
            <a:avLst/>
          </a:prstGeom>
        </p:spPr>
      </p:pic>
      <p:sp>
        <p:nvSpPr>
          <p:cNvPr id="36" name="TextBox 35"/>
          <p:cNvSpPr txBox="1"/>
          <p:nvPr/>
        </p:nvSpPr>
        <p:spPr>
          <a:xfrm>
            <a:off x="3704185" y="5981027"/>
            <a:ext cx="1847850" cy="212366"/>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Privacy </a:t>
            </a:r>
            <a:r>
              <a:rPr lang="en-US" sz="1200" dirty="0">
                <a:solidFill>
                  <a:srgbClr val="1E1E1E"/>
                </a:solidFill>
                <a:latin typeface="Arial"/>
              </a:rPr>
              <a:t>- </a:t>
            </a:r>
            <a:r>
              <a:rPr sz="1200" dirty="0">
                <a:solidFill>
                  <a:srgbClr val="1E1E1E"/>
                </a:solidFill>
                <a:latin typeface="Arial"/>
              </a:rPr>
              <a:t>collection/sharing</a:t>
            </a:r>
          </a:p>
        </p:txBody>
      </p:sp>
      <p:pic>
        <p:nvPicPr>
          <p:cNvPr id="37" name="Picture 36" descr="temp_slide_0_el_32.png"/>
          <p:cNvPicPr>
            <a:picLocks noChangeAspect="1"/>
          </p:cNvPicPr>
          <p:nvPr/>
        </p:nvPicPr>
        <p:blipFill>
          <a:blip r:embed="rId12"/>
          <a:stretch>
            <a:fillRect/>
          </a:stretch>
        </p:blipFill>
        <p:spPr>
          <a:xfrm>
            <a:off x="5552035" y="5484018"/>
            <a:ext cx="2822525" cy="1200150"/>
          </a:xfrm>
          <a:prstGeom prst="rect">
            <a:avLst/>
          </a:prstGeom>
        </p:spPr>
      </p:pic>
      <p:sp>
        <p:nvSpPr>
          <p:cNvPr id="39" name="TextBox 38"/>
          <p:cNvSpPr txBox="1"/>
          <p:nvPr/>
        </p:nvSpPr>
        <p:spPr>
          <a:xfrm>
            <a:off x="6269124" y="5958158"/>
            <a:ext cx="1679525" cy="212366"/>
          </a:xfrm>
          <a:prstGeom prst="rect">
            <a:avLst/>
          </a:prstGeom>
          <a:noFill/>
        </p:spPr>
        <p:txBody>
          <a:bodyPr wrap="square" lIns="0" tIns="0" rIns="0" bIns="0" anchor="t">
            <a:spAutoFit/>
          </a:bodyPr>
          <a:lstStyle/>
          <a:p>
            <a:pPr algn="l">
              <a:lnSpc>
                <a:spcPct val="127500"/>
              </a:lnSpc>
            </a:pPr>
            <a:r>
              <a:rPr sz="1200" dirty="0">
                <a:solidFill>
                  <a:srgbClr val="1E1E1E"/>
                </a:solidFill>
                <a:latin typeface="Arial"/>
              </a:rPr>
              <a:t>Security </a:t>
            </a:r>
            <a:r>
              <a:rPr lang="en-US" sz="1200" dirty="0">
                <a:solidFill>
                  <a:srgbClr val="1E1E1E"/>
                </a:solidFill>
                <a:latin typeface="Arial"/>
              </a:rPr>
              <a:t>- </a:t>
            </a:r>
            <a:r>
              <a:rPr sz="1200" dirty="0">
                <a:solidFill>
                  <a:srgbClr val="1E1E1E"/>
                </a:solidFill>
                <a:latin typeface="Arial"/>
              </a:rPr>
              <a:t>breach/tamper</a:t>
            </a:r>
          </a:p>
        </p:txBody>
      </p:sp>
      <p:pic>
        <p:nvPicPr>
          <p:cNvPr id="40" name="Picture 39" descr="temp_slide_0_el_35.png"/>
          <p:cNvPicPr>
            <a:picLocks noChangeAspect="1"/>
          </p:cNvPicPr>
          <p:nvPr/>
        </p:nvPicPr>
        <p:blipFill>
          <a:blip r:embed="rId13"/>
          <a:stretch>
            <a:fillRect/>
          </a:stretch>
        </p:blipFill>
        <p:spPr>
          <a:xfrm>
            <a:off x="7970491" y="5474494"/>
            <a:ext cx="3935759" cy="1200150"/>
          </a:xfrm>
          <a:prstGeom prst="rect">
            <a:avLst/>
          </a:prstGeom>
        </p:spPr>
      </p:pic>
      <p:sp>
        <p:nvSpPr>
          <p:cNvPr id="42" name="TextBox 41"/>
          <p:cNvSpPr txBox="1"/>
          <p:nvPr/>
        </p:nvSpPr>
        <p:spPr>
          <a:xfrm>
            <a:off x="8649802" y="5868678"/>
            <a:ext cx="3062445" cy="448713"/>
          </a:xfrm>
          <a:prstGeom prst="rect">
            <a:avLst/>
          </a:prstGeom>
          <a:noFill/>
        </p:spPr>
        <p:txBody>
          <a:bodyPr wrap="square" lIns="0" tIns="0" rIns="0" bIns="0" anchor="t">
            <a:spAutoFit/>
          </a:bodyPr>
          <a:lstStyle/>
          <a:p>
            <a:pPr>
              <a:lnSpc>
                <a:spcPct val="127500"/>
              </a:lnSpc>
            </a:pPr>
            <a:r>
              <a:rPr sz="1200" dirty="0">
                <a:solidFill>
                  <a:srgbClr val="1E1E1E"/>
                </a:solidFill>
                <a:latin typeface="Arial"/>
              </a:rPr>
              <a:t>Equity </a:t>
            </a:r>
            <a:r>
              <a:rPr lang="en-US" sz="1200" dirty="0">
                <a:solidFill>
                  <a:srgbClr val="1E1E1E"/>
                </a:solidFill>
                <a:latin typeface="Arial"/>
              </a:rPr>
              <a:t>- </a:t>
            </a:r>
            <a:r>
              <a:rPr sz="1200" dirty="0">
                <a:solidFill>
                  <a:srgbClr val="1E1E1E"/>
                </a:solidFill>
                <a:latin typeface="Arial"/>
              </a:rPr>
              <a:t>targeting </a:t>
            </a:r>
            <a:r>
              <a:rPr lang="en-US" sz="1200" dirty="0">
                <a:solidFill>
                  <a:srgbClr val="1E1E1E"/>
                </a:solidFill>
                <a:latin typeface="Arial"/>
              </a:rPr>
              <a:t>groups, populations, ethnicities</a:t>
            </a:r>
            <a:endParaRPr sz="1200" dirty="0">
              <a:solidFill>
                <a:srgbClr val="1E1E1E"/>
              </a:solidFill>
              <a:latin typeface="Arial"/>
            </a:endParaRPr>
          </a:p>
        </p:txBody>
      </p:sp>
      <p:pic>
        <p:nvPicPr>
          <p:cNvPr id="43" name="Picture 42" descr="temp_slide_0_el_38.png"/>
          <p:cNvPicPr>
            <a:picLocks noChangeAspect="1"/>
          </p:cNvPicPr>
          <p:nvPr/>
        </p:nvPicPr>
        <p:blipFill>
          <a:blip r:embed="rId14"/>
          <a:stretch>
            <a:fillRect/>
          </a:stretch>
        </p:blipFill>
        <p:spPr>
          <a:xfrm>
            <a:off x="285750" y="6169818"/>
            <a:ext cx="800100" cy="800100"/>
          </a:xfrm>
          <a:prstGeom prst="rect">
            <a:avLst/>
          </a:prstGeom>
        </p:spPr>
      </p:pic>
      <p:sp>
        <p:nvSpPr>
          <p:cNvPr id="44" name="TextBox 43"/>
          <p:cNvSpPr txBox="1"/>
          <p:nvPr/>
        </p:nvSpPr>
        <p:spPr>
          <a:xfrm>
            <a:off x="914400" y="6493668"/>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45" name="TextBox 44"/>
          <p:cNvSpPr txBox="1"/>
          <p:nvPr/>
        </p:nvSpPr>
        <p:spPr>
          <a:xfrm>
            <a:off x="11468100" y="6474618"/>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08</a:t>
            </a:r>
          </a:p>
        </p:txBody>
      </p:sp>
      <p:sp>
        <p:nvSpPr>
          <p:cNvPr id="6" name="TextBox 5">
            <a:extLst>
              <a:ext uri="{FF2B5EF4-FFF2-40B4-BE49-F238E27FC236}">
                <a16:creationId xmlns:a16="http://schemas.microsoft.com/office/drawing/2014/main" id="{C7222546-9535-771A-847D-4A51179B4FFE}"/>
              </a:ext>
            </a:extLst>
          </p:cNvPr>
          <p:cNvSpPr txBox="1"/>
          <p:nvPr/>
        </p:nvSpPr>
        <p:spPr>
          <a:xfrm>
            <a:off x="571757" y="5513548"/>
            <a:ext cx="3746803" cy="143629"/>
          </a:xfrm>
          <a:prstGeom prst="rect">
            <a:avLst/>
          </a:prstGeom>
          <a:noFill/>
        </p:spPr>
        <p:txBody>
          <a:bodyPr wrap="square" lIns="0" tIns="0" rIns="0" bIns="0" anchor="t">
            <a:spAutoFit/>
          </a:bodyPr>
          <a:lstStyle/>
          <a:p>
            <a:pPr algn="l">
              <a:lnSpc>
                <a:spcPct val="113333"/>
              </a:lnSpc>
            </a:pPr>
            <a:r>
              <a:rPr lang="en-US" sz="900">
                <a:solidFill>
                  <a:srgbClr val="808080"/>
                </a:solidFill>
                <a:latin typeface="Arial"/>
              </a:rPr>
              <a:t>(Resnik &amp; Elliott, 2019; Finn &amp; Wright, 2016; Tychola &amp; Rantos, 2025)</a:t>
            </a:r>
            <a:endParaRPr sz="900" dirty="0">
              <a:solidFill>
                <a:srgbClr val="80808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476250"/>
            <a:ext cx="22098000" cy="571500"/>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Public Access vs Inaccessibility</a:t>
            </a:r>
          </a:p>
        </p:txBody>
      </p:sp>
      <p:pic>
        <p:nvPicPr>
          <p:cNvPr id="3" name="Picture 2" descr="temp_icon_slide_0_el_1.png"/>
          <p:cNvPicPr>
            <a:picLocks noChangeAspect="1"/>
          </p:cNvPicPr>
          <p:nvPr/>
        </p:nvPicPr>
        <p:blipFill>
          <a:blip r:embed="rId3"/>
          <a:stretch>
            <a:fillRect/>
          </a:stretch>
        </p:blipFill>
        <p:spPr>
          <a:xfrm>
            <a:off x="1085850" y="1485381"/>
            <a:ext cx="257175" cy="285750"/>
          </a:xfrm>
          <a:prstGeom prst="rect">
            <a:avLst/>
          </a:prstGeom>
        </p:spPr>
      </p:pic>
      <p:sp>
        <p:nvSpPr>
          <p:cNvPr id="4" name="TextBox 3"/>
          <p:cNvSpPr txBox="1"/>
          <p:nvPr/>
        </p:nvSpPr>
        <p:spPr>
          <a:xfrm>
            <a:off x="1214437" y="1483290"/>
            <a:ext cx="9667564" cy="424090"/>
          </a:xfrm>
          <a:prstGeom prst="rect">
            <a:avLst/>
          </a:prstGeom>
          <a:noFill/>
        </p:spPr>
        <p:txBody>
          <a:bodyPr wrap="square" lIns="0" tIns="0" rIns="0" bIns="0" anchor="t">
            <a:spAutoFit/>
          </a:bodyPr>
          <a:lstStyle/>
          <a:p>
            <a:pPr algn="ctr">
              <a:lnSpc>
                <a:spcPct val="138125"/>
              </a:lnSpc>
            </a:pPr>
            <a:r>
              <a:rPr lang="en-US" sz="2250" i="1" dirty="0">
                <a:solidFill>
                  <a:srgbClr val="1E1E1E"/>
                </a:solidFill>
                <a:latin typeface="Arial"/>
              </a:rPr>
              <a:t>Is it ethical to keep publicly funded GIS data not accessible to the public?</a:t>
            </a:r>
          </a:p>
        </p:txBody>
      </p:sp>
      <p:pic>
        <p:nvPicPr>
          <p:cNvPr id="5" name="Picture 4" descr="temp_icon_slide_0_el_3.png"/>
          <p:cNvPicPr>
            <a:picLocks noChangeAspect="1"/>
          </p:cNvPicPr>
          <p:nvPr/>
        </p:nvPicPr>
        <p:blipFill>
          <a:blip r:embed="rId4"/>
          <a:stretch>
            <a:fillRect/>
          </a:stretch>
        </p:blipFill>
        <p:spPr>
          <a:xfrm>
            <a:off x="10720388" y="1464239"/>
            <a:ext cx="257175" cy="285750"/>
          </a:xfrm>
          <a:prstGeom prst="rect">
            <a:avLst/>
          </a:prstGeom>
        </p:spPr>
      </p:pic>
      <p:pic>
        <p:nvPicPr>
          <p:cNvPr id="6" name="Picture 5" descr="temp_slide_0_el_4.png"/>
          <p:cNvPicPr>
            <a:picLocks noChangeAspect="1"/>
          </p:cNvPicPr>
          <p:nvPr/>
        </p:nvPicPr>
        <p:blipFill>
          <a:blip r:embed="rId5"/>
          <a:stretch>
            <a:fillRect/>
          </a:stretch>
        </p:blipFill>
        <p:spPr>
          <a:xfrm>
            <a:off x="295275" y="2193131"/>
            <a:ext cx="5905500" cy="2726531"/>
          </a:xfrm>
          <a:prstGeom prst="rect">
            <a:avLst/>
          </a:prstGeom>
        </p:spPr>
      </p:pic>
      <p:sp>
        <p:nvSpPr>
          <p:cNvPr id="7" name="Rectangle 6"/>
          <p:cNvSpPr/>
          <p:nvPr/>
        </p:nvSpPr>
        <p:spPr>
          <a:xfrm>
            <a:off x="581025" y="2512218"/>
            <a:ext cx="76200" cy="2135981"/>
          </a:xfrm>
          <a:prstGeom prst="rect">
            <a:avLst/>
          </a:prstGeom>
          <a:solidFill>
            <a:srgbClr val="8B9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emp_slide_0_el_6.png"/>
          <p:cNvPicPr>
            <a:picLocks noChangeAspect="1"/>
          </p:cNvPicPr>
          <p:nvPr/>
        </p:nvPicPr>
        <p:blipFill>
          <a:blip r:embed="rId6"/>
          <a:stretch>
            <a:fillRect/>
          </a:stretch>
        </p:blipFill>
        <p:spPr>
          <a:xfrm>
            <a:off x="633413" y="2562223"/>
            <a:ext cx="1028700" cy="1028700"/>
          </a:xfrm>
          <a:prstGeom prst="rect">
            <a:avLst/>
          </a:prstGeom>
        </p:spPr>
      </p:pic>
      <p:sp>
        <p:nvSpPr>
          <p:cNvPr id="10" name="TextBox 9"/>
          <p:cNvSpPr txBox="1"/>
          <p:nvPr/>
        </p:nvSpPr>
        <p:spPr>
          <a:xfrm>
            <a:off x="1527313" y="2806974"/>
            <a:ext cx="4330562" cy="600421"/>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Public-good argument </a:t>
            </a:r>
            <a:r>
              <a:rPr lang="en-US" dirty="0">
                <a:solidFill>
                  <a:srgbClr val="1E1E1E"/>
                </a:solidFill>
                <a:latin typeface="Arial"/>
              </a:rPr>
              <a:t>to </a:t>
            </a:r>
            <a:r>
              <a:rPr lang="en-US" sz="1800" dirty="0">
                <a:solidFill>
                  <a:srgbClr val="1E1E1E"/>
                </a:solidFill>
                <a:latin typeface="Arial"/>
              </a:rPr>
              <a:t>access </a:t>
            </a:r>
            <a:r>
              <a:rPr lang="en-US" dirty="0">
                <a:solidFill>
                  <a:srgbClr val="1E1E1E"/>
                </a:solidFill>
                <a:latin typeface="Arial"/>
              </a:rPr>
              <a:t>publicly funded data </a:t>
            </a:r>
            <a:endParaRPr lang="en-US" sz="1800" dirty="0">
              <a:solidFill>
                <a:srgbClr val="1E1E1E"/>
              </a:solidFill>
              <a:latin typeface="Arial"/>
            </a:endParaRPr>
          </a:p>
        </p:txBody>
      </p:sp>
      <p:sp>
        <p:nvSpPr>
          <p:cNvPr id="12" name="TextBox 11"/>
          <p:cNvSpPr txBox="1"/>
          <p:nvPr/>
        </p:nvSpPr>
        <p:spPr>
          <a:xfrm>
            <a:off x="828674" y="3658253"/>
            <a:ext cx="4886325" cy="619125"/>
          </a:xfrm>
          <a:prstGeom prst="rect">
            <a:avLst/>
          </a:prstGeom>
          <a:noFill/>
        </p:spPr>
        <p:txBody>
          <a:bodyPr wrap="square" lIns="0" tIns="0" rIns="0" bIns="0" anchor="t">
            <a:spAutoFit/>
          </a:bodyPr>
          <a:lstStyle/>
          <a:p>
            <a:pPr algn="l">
              <a:lnSpc>
                <a:spcPct val="138125"/>
              </a:lnSpc>
            </a:pPr>
            <a:r>
              <a:rPr sz="1500" dirty="0">
                <a:solidFill>
                  <a:srgbClr val="808080"/>
                </a:solidFill>
                <a:latin typeface="Arial"/>
              </a:rPr>
              <a:t>Shared data can </a:t>
            </a:r>
            <a:r>
              <a:rPr lang="en-US" sz="1500" dirty="0">
                <a:solidFill>
                  <a:srgbClr val="808080"/>
                </a:solidFill>
                <a:latin typeface="Arial"/>
              </a:rPr>
              <a:t>be used to </a:t>
            </a:r>
            <a:r>
              <a:rPr sz="1500" dirty="0">
                <a:solidFill>
                  <a:srgbClr val="808080"/>
                </a:solidFill>
                <a:latin typeface="Arial"/>
              </a:rPr>
              <a:t>support planning, </a:t>
            </a:r>
            <a:r>
              <a:rPr lang="en-US" sz="1500" dirty="0">
                <a:solidFill>
                  <a:srgbClr val="808080"/>
                </a:solidFill>
                <a:latin typeface="Arial"/>
              </a:rPr>
              <a:t>enhance security </a:t>
            </a:r>
            <a:r>
              <a:rPr sz="1500" dirty="0">
                <a:solidFill>
                  <a:srgbClr val="808080"/>
                </a:solidFill>
                <a:latin typeface="Arial"/>
              </a:rPr>
              <a:t>monitoring, and </a:t>
            </a:r>
            <a:r>
              <a:rPr lang="en-US" sz="1500" dirty="0">
                <a:solidFill>
                  <a:srgbClr val="808080"/>
                </a:solidFill>
                <a:latin typeface="Arial"/>
              </a:rPr>
              <a:t>broader </a:t>
            </a:r>
            <a:r>
              <a:rPr sz="1500" dirty="0">
                <a:solidFill>
                  <a:srgbClr val="808080"/>
                </a:solidFill>
                <a:latin typeface="Arial"/>
              </a:rPr>
              <a:t>community benefits.</a:t>
            </a:r>
          </a:p>
        </p:txBody>
      </p:sp>
      <p:pic>
        <p:nvPicPr>
          <p:cNvPr id="13" name="Picture 12" descr="temp_slide_0_el_11.png"/>
          <p:cNvPicPr>
            <a:picLocks noChangeAspect="1"/>
          </p:cNvPicPr>
          <p:nvPr/>
        </p:nvPicPr>
        <p:blipFill>
          <a:blip r:embed="rId7"/>
          <a:stretch>
            <a:fillRect/>
          </a:stretch>
        </p:blipFill>
        <p:spPr>
          <a:xfrm>
            <a:off x="6000750" y="2216943"/>
            <a:ext cx="5905500" cy="2726531"/>
          </a:xfrm>
          <a:prstGeom prst="rect">
            <a:avLst/>
          </a:prstGeom>
        </p:spPr>
      </p:pic>
      <p:sp>
        <p:nvSpPr>
          <p:cNvPr id="14" name="Rectangle 13"/>
          <p:cNvSpPr/>
          <p:nvPr/>
        </p:nvSpPr>
        <p:spPr>
          <a:xfrm>
            <a:off x="6296025" y="2512218"/>
            <a:ext cx="76200" cy="2135981"/>
          </a:xfrm>
          <a:prstGeom prst="rect">
            <a:avLst/>
          </a:prstGeom>
          <a:solidFill>
            <a:srgbClr val="A67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temp_slide_0_el_13.png"/>
          <p:cNvPicPr>
            <a:picLocks noChangeAspect="1"/>
          </p:cNvPicPr>
          <p:nvPr/>
        </p:nvPicPr>
        <p:blipFill>
          <a:blip r:embed="rId8"/>
          <a:stretch>
            <a:fillRect/>
          </a:stretch>
        </p:blipFill>
        <p:spPr>
          <a:xfrm>
            <a:off x="6362700" y="2578893"/>
            <a:ext cx="1028700" cy="1028700"/>
          </a:xfrm>
          <a:prstGeom prst="rect">
            <a:avLst/>
          </a:prstGeom>
        </p:spPr>
      </p:pic>
      <p:sp>
        <p:nvSpPr>
          <p:cNvPr id="17" name="TextBox 16"/>
          <p:cNvSpPr txBox="1"/>
          <p:nvPr/>
        </p:nvSpPr>
        <p:spPr>
          <a:xfrm>
            <a:off x="7248525" y="2806975"/>
            <a:ext cx="4219575" cy="600421"/>
          </a:xfrm>
          <a:prstGeom prst="rect">
            <a:avLst/>
          </a:prstGeom>
          <a:noFill/>
        </p:spPr>
        <p:txBody>
          <a:bodyPr wrap="square" lIns="0" tIns="0" rIns="0" bIns="0" anchor="t">
            <a:spAutoFit/>
          </a:bodyPr>
          <a:lstStyle/>
          <a:p>
            <a:pPr algn="l">
              <a:lnSpc>
                <a:spcPct val="113333"/>
              </a:lnSpc>
            </a:pPr>
            <a:r>
              <a:rPr sz="1800" dirty="0">
                <a:solidFill>
                  <a:srgbClr val="1E1E1E"/>
                </a:solidFill>
                <a:latin typeface="Arial"/>
              </a:rPr>
              <a:t>Rights/risk argument for limit</a:t>
            </a:r>
            <a:r>
              <a:rPr lang="en-US" sz="1800" dirty="0">
                <a:solidFill>
                  <a:srgbClr val="1E1E1E"/>
                </a:solidFill>
                <a:latin typeface="Arial"/>
              </a:rPr>
              <a:t>ing publicly funded data </a:t>
            </a:r>
            <a:endParaRPr sz="1800" dirty="0">
              <a:solidFill>
                <a:srgbClr val="1E1E1E"/>
              </a:solidFill>
              <a:latin typeface="Arial"/>
            </a:endParaRPr>
          </a:p>
        </p:txBody>
      </p:sp>
      <p:sp>
        <p:nvSpPr>
          <p:cNvPr id="19" name="TextBox 18"/>
          <p:cNvSpPr txBox="1"/>
          <p:nvPr/>
        </p:nvSpPr>
        <p:spPr>
          <a:xfrm>
            <a:off x="6608445" y="3581399"/>
            <a:ext cx="5019675" cy="619125"/>
          </a:xfrm>
          <a:prstGeom prst="rect">
            <a:avLst/>
          </a:prstGeom>
          <a:noFill/>
        </p:spPr>
        <p:txBody>
          <a:bodyPr wrap="square" lIns="0" tIns="0" rIns="0" bIns="0" anchor="t">
            <a:spAutoFit/>
          </a:bodyPr>
          <a:lstStyle/>
          <a:p>
            <a:pPr>
              <a:lnSpc>
                <a:spcPct val="138125"/>
              </a:lnSpc>
            </a:pPr>
            <a:r>
              <a:rPr lang="en-US" sz="1500" dirty="0">
                <a:solidFill>
                  <a:srgbClr val="808080"/>
                </a:solidFill>
                <a:latin typeface="Arial"/>
              </a:rPr>
              <a:t>Open and unrestricted</a:t>
            </a:r>
            <a:r>
              <a:rPr sz="1500" dirty="0">
                <a:solidFill>
                  <a:srgbClr val="808080"/>
                </a:solidFill>
                <a:latin typeface="Arial"/>
              </a:rPr>
              <a:t> access can </a:t>
            </a:r>
            <a:r>
              <a:rPr lang="en-US" sz="1500" dirty="0">
                <a:solidFill>
                  <a:srgbClr val="808080"/>
                </a:solidFill>
                <a:latin typeface="Arial"/>
              </a:rPr>
              <a:t>augment risks of </a:t>
            </a:r>
            <a:r>
              <a:rPr sz="1500" dirty="0">
                <a:solidFill>
                  <a:srgbClr val="808080"/>
                </a:solidFill>
                <a:latin typeface="Arial"/>
              </a:rPr>
              <a:t>privacy </a:t>
            </a:r>
            <a:r>
              <a:rPr lang="en-US" sz="1500" dirty="0">
                <a:solidFill>
                  <a:srgbClr val="808080"/>
                </a:solidFill>
                <a:latin typeface="Arial"/>
              </a:rPr>
              <a:t>violations</a:t>
            </a:r>
            <a:r>
              <a:rPr sz="1500" dirty="0">
                <a:solidFill>
                  <a:srgbClr val="808080"/>
                </a:solidFill>
                <a:latin typeface="Arial"/>
              </a:rPr>
              <a:t>, safety, misuse, </a:t>
            </a:r>
            <a:r>
              <a:rPr lang="en-US" sz="1500" dirty="0">
                <a:solidFill>
                  <a:srgbClr val="808080"/>
                </a:solidFill>
                <a:latin typeface="Arial"/>
              </a:rPr>
              <a:t>biases, </a:t>
            </a:r>
            <a:r>
              <a:rPr sz="1500" dirty="0">
                <a:solidFill>
                  <a:srgbClr val="808080"/>
                </a:solidFill>
                <a:latin typeface="Arial"/>
              </a:rPr>
              <a:t>and inequity.</a:t>
            </a:r>
          </a:p>
        </p:txBody>
      </p:sp>
      <p:sp>
        <p:nvSpPr>
          <p:cNvPr id="20" name="Rounded Rectangle 19"/>
          <p:cNvSpPr/>
          <p:nvPr/>
        </p:nvSpPr>
        <p:spPr>
          <a:xfrm>
            <a:off x="571500" y="4962525"/>
            <a:ext cx="11049000" cy="1076325"/>
          </a:xfrm>
          <a:prstGeom prst="roundRect">
            <a:avLst>
              <a:gd name="adj" fmla="val 21238"/>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temp_slide_0_el_19.png"/>
          <p:cNvPicPr>
            <a:picLocks noChangeAspect="1"/>
          </p:cNvPicPr>
          <p:nvPr/>
        </p:nvPicPr>
        <p:blipFill>
          <a:blip r:embed="rId9"/>
          <a:stretch>
            <a:fillRect/>
          </a:stretch>
        </p:blipFill>
        <p:spPr>
          <a:xfrm>
            <a:off x="519113" y="5029200"/>
            <a:ext cx="1028700" cy="1028700"/>
          </a:xfrm>
          <a:prstGeom prst="rect">
            <a:avLst/>
          </a:prstGeom>
        </p:spPr>
      </p:pic>
      <p:sp>
        <p:nvSpPr>
          <p:cNvPr id="23" name="TextBox 22"/>
          <p:cNvSpPr txBox="1"/>
          <p:nvPr/>
        </p:nvSpPr>
        <p:spPr>
          <a:xfrm>
            <a:off x="1495425" y="5219699"/>
            <a:ext cx="9906000" cy="619125"/>
          </a:xfrm>
          <a:prstGeom prst="rect">
            <a:avLst/>
          </a:prstGeom>
          <a:noFill/>
        </p:spPr>
        <p:txBody>
          <a:bodyPr wrap="square" lIns="0" tIns="0" rIns="0" bIns="0" anchor="t">
            <a:spAutoFit/>
          </a:bodyPr>
          <a:lstStyle/>
          <a:p>
            <a:pPr algn="l">
              <a:lnSpc>
                <a:spcPct val="138125"/>
              </a:lnSpc>
            </a:pPr>
            <a:r>
              <a:rPr sz="1500" b="1" dirty="0">
                <a:solidFill>
                  <a:srgbClr val="C9B8A0"/>
                </a:solidFill>
                <a:latin typeface="Arial"/>
              </a:rPr>
              <a:t>Practical Takeaway:</a:t>
            </a:r>
            <a:r>
              <a:rPr sz="1500" dirty="0">
                <a:solidFill>
                  <a:srgbClr val="FFFFFF"/>
                </a:solidFill>
                <a:latin typeface="Arial"/>
              </a:rPr>
              <a:t> Access </a:t>
            </a:r>
            <a:r>
              <a:rPr lang="en-US" sz="1500" dirty="0">
                <a:solidFill>
                  <a:srgbClr val="FFFFFF"/>
                </a:solidFill>
                <a:latin typeface="Arial"/>
              </a:rPr>
              <a:t>to publicly funded data decisions sh</a:t>
            </a:r>
            <a:r>
              <a:rPr sz="1500" dirty="0">
                <a:solidFill>
                  <a:srgbClr val="FFFFFF"/>
                </a:solidFill>
                <a:latin typeface="Arial"/>
              </a:rPr>
              <a:t>ould </a:t>
            </a:r>
            <a:r>
              <a:rPr lang="en-US" sz="1500" dirty="0">
                <a:solidFill>
                  <a:srgbClr val="FFFFFF"/>
                </a:solidFill>
                <a:latin typeface="Arial"/>
              </a:rPr>
              <a:t>be based on a </a:t>
            </a:r>
            <a:r>
              <a:rPr sz="1500" dirty="0">
                <a:solidFill>
                  <a:srgbClr val="FFFFFF"/>
                </a:solidFill>
                <a:latin typeface="Arial"/>
              </a:rPr>
              <a:t>balance </a:t>
            </a:r>
            <a:r>
              <a:rPr lang="en-US" sz="1500" dirty="0">
                <a:solidFill>
                  <a:srgbClr val="FFFFFF"/>
                </a:solidFill>
                <a:latin typeface="Arial"/>
              </a:rPr>
              <a:t>of </a:t>
            </a:r>
            <a:r>
              <a:rPr sz="1500" dirty="0">
                <a:solidFill>
                  <a:srgbClr val="FFFFFF"/>
                </a:solidFill>
                <a:latin typeface="Arial"/>
              </a:rPr>
              <a:t>public benefit with privacy, safety, security, and justice concerns </a:t>
            </a:r>
            <a:r>
              <a:rPr lang="en-US" sz="1500" dirty="0">
                <a:solidFill>
                  <a:srgbClr val="FFFFFF"/>
                </a:solidFill>
                <a:latin typeface="Arial"/>
              </a:rPr>
              <a:t>shown</a:t>
            </a:r>
            <a:r>
              <a:rPr sz="1500" dirty="0">
                <a:solidFill>
                  <a:srgbClr val="FFFFFF"/>
                </a:solidFill>
                <a:latin typeface="Arial"/>
              </a:rPr>
              <a:t> in this analysis.</a:t>
            </a:r>
          </a:p>
        </p:txBody>
      </p:sp>
      <p:pic>
        <p:nvPicPr>
          <p:cNvPr id="24" name="Picture 23" descr="temp_slide_0_el_22.png"/>
          <p:cNvPicPr>
            <a:picLocks noChangeAspect="1"/>
          </p:cNvPicPr>
          <p:nvPr/>
        </p:nvPicPr>
        <p:blipFill>
          <a:blip r:embed="rId10"/>
          <a:stretch>
            <a:fillRect/>
          </a:stretch>
        </p:blipFill>
        <p:spPr>
          <a:xfrm>
            <a:off x="285750" y="6057900"/>
            <a:ext cx="800100" cy="800100"/>
          </a:xfrm>
          <a:prstGeom prst="rect">
            <a:avLst/>
          </a:prstGeom>
        </p:spPr>
      </p:pic>
      <p:sp>
        <p:nvSpPr>
          <p:cNvPr id="25" name="TextBox 24"/>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26" name="TextBox 25"/>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3940-5467-C540-C3EF-237D19F455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D82467-F228-2DEA-26D6-74942F674D5A}"/>
              </a:ext>
            </a:extLst>
          </p:cNvPr>
          <p:cNvSpPr txBox="1"/>
          <p:nvPr/>
        </p:nvSpPr>
        <p:spPr>
          <a:xfrm>
            <a:off x="571500" y="476250"/>
            <a:ext cx="11258191" cy="623248"/>
          </a:xfrm>
          <a:prstGeom prst="rect">
            <a:avLst/>
          </a:prstGeom>
          <a:noFill/>
        </p:spPr>
        <p:txBody>
          <a:bodyPr wrap="square" lIns="0" tIns="0" rIns="0" bIns="0" anchor="t">
            <a:spAutoFit/>
          </a:bodyPr>
          <a:lstStyle/>
          <a:p>
            <a:pPr algn="l">
              <a:lnSpc>
                <a:spcPct val="90000"/>
              </a:lnSpc>
            </a:pPr>
            <a:r>
              <a:rPr lang="en-US" sz="4500" dirty="0">
                <a:solidFill>
                  <a:srgbClr val="1E1E1E"/>
                </a:solidFill>
                <a:latin typeface="Century Gothic"/>
              </a:rPr>
              <a:t>In Conclusion: Drone and GIS Ethical Use</a:t>
            </a:r>
          </a:p>
        </p:txBody>
      </p:sp>
      <p:pic>
        <p:nvPicPr>
          <p:cNvPr id="6" name="Picture 5" descr="temp_slide_0_el_4.png">
            <a:extLst>
              <a:ext uri="{FF2B5EF4-FFF2-40B4-BE49-F238E27FC236}">
                <a16:creationId xmlns:a16="http://schemas.microsoft.com/office/drawing/2014/main" id="{DD107E76-BD2D-AA36-4462-BC1A73908126}"/>
              </a:ext>
            </a:extLst>
          </p:cNvPr>
          <p:cNvPicPr>
            <a:picLocks noChangeAspect="1"/>
          </p:cNvPicPr>
          <p:nvPr/>
        </p:nvPicPr>
        <p:blipFill>
          <a:blip r:embed="rId3"/>
          <a:stretch>
            <a:fillRect/>
          </a:stretch>
        </p:blipFill>
        <p:spPr>
          <a:xfrm>
            <a:off x="148949" y="1854862"/>
            <a:ext cx="5905500" cy="4738774"/>
          </a:xfrm>
          <a:prstGeom prst="rect">
            <a:avLst/>
          </a:prstGeom>
        </p:spPr>
      </p:pic>
      <p:sp>
        <p:nvSpPr>
          <p:cNvPr id="10" name="TextBox 9">
            <a:extLst>
              <a:ext uri="{FF2B5EF4-FFF2-40B4-BE49-F238E27FC236}">
                <a16:creationId xmlns:a16="http://schemas.microsoft.com/office/drawing/2014/main" id="{93002F41-F061-BC58-E7BB-807FFAE8FB68}"/>
              </a:ext>
            </a:extLst>
          </p:cNvPr>
          <p:cNvSpPr txBox="1"/>
          <p:nvPr/>
        </p:nvSpPr>
        <p:spPr>
          <a:xfrm>
            <a:off x="758766" y="3860998"/>
            <a:ext cx="2123209" cy="294529"/>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Privacy by design</a:t>
            </a:r>
          </a:p>
        </p:txBody>
      </p:sp>
      <p:sp>
        <p:nvSpPr>
          <p:cNvPr id="12" name="TextBox 11">
            <a:extLst>
              <a:ext uri="{FF2B5EF4-FFF2-40B4-BE49-F238E27FC236}">
                <a16:creationId xmlns:a16="http://schemas.microsoft.com/office/drawing/2014/main" id="{41381921-390A-B895-027A-91CD198DCAFD}"/>
              </a:ext>
            </a:extLst>
          </p:cNvPr>
          <p:cNvSpPr txBox="1"/>
          <p:nvPr/>
        </p:nvSpPr>
        <p:spPr>
          <a:xfrm>
            <a:off x="871161" y="4205683"/>
            <a:ext cx="497222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Minimize identifiable data, limit retention, and control sharing.</a:t>
            </a:r>
          </a:p>
        </p:txBody>
      </p:sp>
      <p:pic>
        <p:nvPicPr>
          <p:cNvPr id="13" name="Picture 12" descr="temp_slide_0_el_11.png">
            <a:extLst>
              <a:ext uri="{FF2B5EF4-FFF2-40B4-BE49-F238E27FC236}">
                <a16:creationId xmlns:a16="http://schemas.microsoft.com/office/drawing/2014/main" id="{B1454A20-8410-1AE6-4C01-799607B208BD}"/>
              </a:ext>
            </a:extLst>
          </p:cNvPr>
          <p:cNvPicPr>
            <a:picLocks noChangeAspect="1"/>
          </p:cNvPicPr>
          <p:nvPr/>
        </p:nvPicPr>
        <p:blipFill>
          <a:blip r:embed="rId4"/>
          <a:stretch>
            <a:fillRect/>
          </a:stretch>
        </p:blipFill>
        <p:spPr>
          <a:xfrm>
            <a:off x="5882640" y="1836522"/>
            <a:ext cx="5905500" cy="4638009"/>
          </a:xfrm>
          <a:prstGeom prst="rect">
            <a:avLst/>
          </a:prstGeom>
        </p:spPr>
      </p:pic>
      <p:pic>
        <p:nvPicPr>
          <p:cNvPr id="21" name="Picture 20" descr="temp_slide_0_el_19.png">
            <a:extLst>
              <a:ext uri="{FF2B5EF4-FFF2-40B4-BE49-F238E27FC236}">
                <a16:creationId xmlns:a16="http://schemas.microsoft.com/office/drawing/2014/main" id="{C4BCAE27-6BF9-9852-E8E7-55E5BC3052C6}"/>
              </a:ext>
            </a:extLst>
          </p:cNvPr>
          <p:cNvPicPr>
            <a:picLocks noChangeAspect="1"/>
          </p:cNvPicPr>
          <p:nvPr/>
        </p:nvPicPr>
        <p:blipFill>
          <a:blip r:embed="rId5"/>
          <a:stretch>
            <a:fillRect/>
          </a:stretch>
        </p:blipFill>
        <p:spPr>
          <a:xfrm>
            <a:off x="519113" y="5029200"/>
            <a:ext cx="1028700" cy="1028700"/>
          </a:xfrm>
          <a:prstGeom prst="rect">
            <a:avLst/>
          </a:prstGeom>
        </p:spPr>
      </p:pic>
      <p:pic>
        <p:nvPicPr>
          <p:cNvPr id="24" name="Picture 23" descr="temp_slide_0_el_22.png">
            <a:extLst>
              <a:ext uri="{FF2B5EF4-FFF2-40B4-BE49-F238E27FC236}">
                <a16:creationId xmlns:a16="http://schemas.microsoft.com/office/drawing/2014/main" id="{08C6E155-D2F1-0E95-714F-C608942062F3}"/>
              </a:ext>
            </a:extLst>
          </p:cNvPr>
          <p:cNvPicPr>
            <a:picLocks noChangeAspect="1"/>
          </p:cNvPicPr>
          <p:nvPr/>
        </p:nvPicPr>
        <p:blipFill>
          <a:blip r:embed="rId6"/>
          <a:stretch>
            <a:fillRect/>
          </a:stretch>
        </p:blipFill>
        <p:spPr>
          <a:xfrm>
            <a:off x="285750" y="6057900"/>
            <a:ext cx="800100" cy="800100"/>
          </a:xfrm>
          <a:prstGeom prst="rect">
            <a:avLst/>
          </a:prstGeom>
        </p:spPr>
      </p:pic>
      <p:sp>
        <p:nvSpPr>
          <p:cNvPr id="25" name="TextBox 24">
            <a:extLst>
              <a:ext uri="{FF2B5EF4-FFF2-40B4-BE49-F238E27FC236}">
                <a16:creationId xmlns:a16="http://schemas.microsoft.com/office/drawing/2014/main" id="{9A705B58-1C86-A20D-78DC-40558B2747A6}"/>
              </a:ext>
            </a:extLst>
          </p:cNvPr>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26" name="TextBox 25">
            <a:extLst>
              <a:ext uri="{FF2B5EF4-FFF2-40B4-BE49-F238E27FC236}">
                <a16:creationId xmlns:a16="http://schemas.microsoft.com/office/drawing/2014/main" id="{90E7D1B7-6476-4EF5-6331-045B41FBB36A}"/>
              </a:ext>
            </a:extLst>
          </p:cNvPr>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09</a:t>
            </a:r>
          </a:p>
        </p:txBody>
      </p:sp>
      <p:sp>
        <p:nvSpPr>
          <p:cNvPr id="16" name="TextBox 15">
            <a:extLst>
              <a:ext uri="{FF2B5EF4-FFF2-40B4-BE49-F238E27FC236}">
                <a16:creationId xmlns:a16="http://schemas.microsoft.com/office/drawing/2014/main" id="{5F5582C6-2E75-9560-EAF2-A65C73DCE0B2}"/>
              </a:ext>
            </a:extLst>
          </p:cNvPr>
          <p:cNvSpPr txBox="1"/>
          <p:nvPr/>
        </p:nvSpPr>
        <p:spPr>
          <a:xfrm>
            <a:off x="758766" y="4996734"/>
            <a:ext cx="2123209" cy="294529"/>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Operate safely</a:t>
            </a:r>
          </a:p>
        </p:txBody>
      </p:sp>
      <p:sp>
        <p:nvSpPr>
          <p:cNvPr id="18" name="TextBox 17">
            <a:extLst>
              <a:ext uri="{FF2B5EF4-FFF2-40B4-BE49-F238E27FC236}">
                <a16:creationId xmlns:a16="http://schemas.microsoft.com/office/drawing/2014/main" id="{06430BF4-0B8B-F923-3CAD-68EE57C9D3D3}"/>
              </a:ext>
            </a:extLst>
          </p:cNvPr>
          <p:cNvSpPr txBox="1"/>
          <p:nvPr/>
        </p:nvSpPr>
        <p:spPr>
          <a:xfrm>
            <a:off x="871161" y="5341419"/>
            <a:ext cx="485056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Trained pilots, FAA compliance, and plans for wildlife/noise impacts.</a:t>
            </a:r>
          </a:p>
        </p:txBody>
      </p:sp>
      <p:sp>
        <p:nvSpPr>
          <p:cNvPr id="22" name="TextBox 21">
            <a:extLst>
              <a:ext uri="{FF2B5EF4-FFF2-40B4-BE49-F238E27FC236}">
                <a16:creationId xmlns:a16="http://schemas.microsoft.com/office/drawing/2014/main" id="{EBC89396-10E5-4701-53BD-7CCAAECF390C}"/>
              </a:ext>
            </a:extLst>
          </p:cNvPr>
          <p:cNvSpPr txBox="1"/>
          <p:nvPr/>
        </p:nvSpPr>
        <p:spPr>
          <a:xfrm>
            <a:off x="694689" y="2567982"/>
            <a:ext cx="2123209" cy="294529"/>
          </a:xfrm>
          <a:prstGeom prst="rect">
            <a:avLst/>
          </a:prstGeom>
          <a:noFill/>
        </p:spPr>
        <p:txBody>
          <a:bodyPr wrap="square" lIns="0" tIns="0" rIns="0" bIns="0" anchor="t">
            <a:spAutoFit/>
          </a:bodyPr>
          <a:lstStyle/>
          <a:p>
            <a:pPr>
              <a:lnSpc>
                <a:spcPct val="113333"/>
              </a:lnSpc>
            </a:pPr>
            <a:r>
              <a:rPr lang="en-US" dirty="0">
                <a:solidFill>
                  <a:srgbClr val="1E1E1E"/>
                </a:solidFill>
                <a:latin typeface="Arial"/>
              </a:rPr>
              <a:t>Set Purpose</a:t>
            </a:r>
            <a:endParaRPr lang="en-US" sz="1800" dirty="0">
              <a:solidFill>
                <a:srgbClr val="1E1E1E"/>
              </a:solidFill>
              <a:latin typeface="Arial"/>
            </a:endParaRPr>
          </a:p>
        </p:txBody>
      </p:sp>
      <p:sp>
        <p:nvSpPr>
          <p:cNvPr id="27" name="TextBox 26">
            <a:extLst>
              <a:ext uri="{FF2B5EF4-FFF2-40B4-BE49-F238E27FC236}">
                <a16:creationId xmlns:a16="http://schemas.microsoft.com/office/drawing/2014/main" id="{9F0A2B4E-0425-52FD-766C-91E5DF1EF3A7}"/>
              </a:ext>
            </a:extLst>
          </p:cNvPr>
          <p:cNvSpPr txBox="1"/>
          <p:nvPr/>
        </p:nvSpPr>
        <p:spPr>
          <a:xfrm>
            <a:off x="871160" y="2928320"/>
            <a:ext cx="497222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Set a clear purpose and acceptable-use policy before any flights</a:t>
            </a:r>
          </a:p>
        </p:txBody>
      </p:sp>
      <p:sp>
        <p:nvSpPr>
          <p:cNvPr id="28" name="TextBox 27">
            <a:extLst>
              <a:ext uri="{FF2B5EF4-FFF2-40B4-BE49-F238E27FC236}">
                <a16:creationId xmlns:a16="http://schemas.microsoft.com/office/drawing/2014/main" id="{BA0AA7A8-11F6-8F9F-7313-A51C45EC4717}"/>
              </a:ext>
            </a:extLst>
          </p:cNvPr>
          <p:cNvSpPr txBox="1"/>
          <p:nvPr/>
        </p:nvSpPr>
        <p:spPr>
          <a:xfrm>
            <a:off x="6542606" y="2513697"/>
            <a:ext cx="2123209" cy="294529"/>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Secure the data</a:t>
            </a:r>
          </a:p>
        </p:txBody>
      </p:sp>
      <p:sp>
        <p:nvSpPr>
          <p:cNvPr id="29" name="TextBox 28">
            <a:extLst>
              <a:ext uri="{FF2B5EF4-FFF2-40B4-BE49-F238E27FC236}">
                <a16:creationId xmlns:a16="http://schemas.microsoft.com/office/drawing/2014/main" id="{2DE1092B-B0F8-A135-99A1-62A38197B246}"/>
              </a:ext>
            </a:extLst>
          </p:cNvPr>
          <p:cNvSpPr txBox="1"/>
          <p:nvPr/>
        </p:nvSpPr>
        <p:spPr>
          <a:xfrm>
            <a:off x="6655001" y="2858382"/>
            <a:ext cx="497222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Encryption, access control, audit logs, and integrity checks.</a:t>
            </a:r>
          </a:p>
        </p:txBody>
      </p:sp>
      <p:sp>
        <p:nvSpPr>
          <p:cNvPr id="30" name="TextBox 29">
            <a:extLst>
              <a:ext uri="{FF2B5EF4-FFF2-40B4-BE49-F238E27FC236}">
                <a16:creationId xmlns:a16="http://schemas.microsoft.com/office/drawing/2014/main" id="{EE2174CF-DFD1-AF92-35A6-4F5B45CC691B}"/>
              </a:ext>
            </a:extLst>
          </p:cNvPr>
          <p:cNvSpPr txBox="1"/>
          <p:nvPr/>
        </p:nvSpPr>
        <p:spPr>
          <a:xfrm>
            <a:off x="6542606" y="3655546"/>
            <a:ext cx="2123209" cy="294529"/>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Equity</a:t>
            </a:r>
          </a:p>
        </p:txBody>
      </p:sp>
      <p:sp>
        <p:nvSpPr>
          <p:cNvPr id="31" name="TextBox 30">
            <a:extLst>
              <a:ext uri="{FF2B5EF4-FFF2-40B4-BE49-F238E27FC236}">
                <a16:creationId xmlns:a16="http://schemas.microsoft.com/office/drawing/2014/main" id="{BA80BAAF-7FF1-D388-5952-A2A84C44D377}"/>
              </a:ext>
            </a:extLst>
          </p:cNvPr>
          <p:cNvSpPr txBox="1"/>
          <p:nvPr/>
        </p:nvSpPr>
        <p:spPr>
          <a:xfrm>
            <a:off x="6655001" y="4000231"/>
            <a:ext cx="497222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Avoid one-sided surveillance; involve communities and share benefits.</a:t>
            </a:r>
          </a:p>
        </p:txBody>
      </p:sp>
      <p:sp>
        <p:nvSpPr>
          <p:cNvPr id="32" name="TextBox 31">
            <a:extLst>
              <a:ext uri="{FF2B5EF4-FFF2-40B4-BE49-F238E27FC236}">
                <a16:creationId xmlns:a16="http://schemas.microsoft.com/office/drawing/2014/main" id="{80F2688B-6AA9-444A-4811-1CF93DAB1361}"/>
              </a:ext>
            </a:extLst>
          </p:cNvPr>
          <p:cNvSpPr txBox="1"/>
          <p:nvPr/>
        </p:nvSpPr>
        <p:spPr>
          <a:xfrm>
            <a:off x="6542606" y="4702205"/>
            <a:ext cx="2123209" cy="294529"/>
          </a:xfrm>
          <a:prstGeom prst="rect">
            <a:avLst/>
          </a:prstGeom>
          <a:noFill/>
        </p:spPr>
        <p:txBody>
          <a:bodyPr wrap="square" lIns="0" tIns="0" rIns="0" bIns="0" anchor="t">
            <a:spAutoFit/>
          </a:bodyPr>
          <a:lstStyle/>
          <a:p>
            <a:pPr>
              <a:lnSpc>
                <a:spcPct val="113333"/>
              </a:lnSpc>
            </a:pPr>
            <a:r>
              <a:rPr lang="en-US" sz="1800" dirty="0">
                <a:solidFill>
                  <a:srgbClr val="1E1E1E"/>
                </a:solidFill>
                <a:latin typeface="Arial"/>
              </a:rPr>
              <a:t>Publicly funded data</a:t>
            </a:r>
          </a:p>
        </p:txBody>
      </p:sp>
      <p:sp>
        <p:nvSpPr>
          <p:cNvPr id="33" name="TextBox 32">
            <a:extLst>
              <a:ext uri="{FF2B5EF4-FFF2-40B4-BE49-F238E27FC236}">
                <a16:creationId xmlns:a16="http://schemas.microsoft.com/office/drawing/2014/main" id="{9B5C2EE5-9631-840B-821F-AE9DC749FAD1}"/>
              </a:ext>
            </a:extLst>
          </p:cNvPr>
          <p:cNvSpPr txBox="1"/>
          <p:nvPr/>
        </p:nvSpPr>
        <p:spPr>
          <a:xfrm>
            <a:off x="6655001" y="5046890"/>
            <a:ext cx="4972223" cy="601255"/>
          </a:xfrm>
          <a:prstGeom prst="rect">
            <a:avLst/>
          </a:prstGeom>
          <a:noFill/>
        </p:spPr>
        <p:txBody>
          <a:bodyPr wrap="square" lIns="0" tIns="0" rIns="0" bIns="0" anchor="t">
            <a:spAutoFit/>
          </a:bodyPr>
          <a:lstStyle/>
          <a:p>
            <a:pPr algn="l">
              <a:lnSpc>
                <a:spcPct val="138125"/>
              </a:lnSpc>
            </a:pPr>
            <a:r>
              <a:rPr lang="en-US" sz="1500" dirty="0">
                <a:solidFill>
                  <a:srgbClr val="808080"/>
                </a:solidFill>
                <a:latin typeface="Arial"/>
              </a:rPr>
              <a:t>Publicly funded data: use tiered access (public, restricted, internal) based on risk</a:t>
            </a:r>
          </a:p>
        </p:txBody>
      </p:sp>
      <p:pic>
        <p:nvPicPr>
          <p:cNvPr id="34" name="Picture 33" descr="temp_icon_slide_0_el_1.png">
            <a:extLst>
              <a:ext uri="{FF2B5EF4-FFF2-40B4-BE49-F238E27FC236}">
                <a16:creationId xmlns:a16="http://schemas.microsoft.com/office/drawing/2014/main" id="{A48461CC-37AA-EF14-BFC9-CF2444D1B127}"/>
              </a:ext>
            </a:extLst>
          </p:cNvPr>
          <p:cNvPicPr>
            <a:picLocks noChangeAspect="1"/>
          </p:cNvPicPr>
          <p:nvPr/>
        </p:nvPicPr>
        <p:blipFill>
          <a:blip r:embed="rId7"/>
          <a:stretch>
            <a:fillRect/>
          </a:stretch>
        </p:blipFill>
        <p:spPr>
          <a:xfrm>
            <a:off x="969754" y="1423348"/>
            <a:ext cx="257175" cy="285750"/>
          </a:xfrm>
          <a:prstGeom prst="rect">
            <a:avLst/>
          </a:prstGeom>
        </p:spPr>
      </p:pic>
      <p:sp>
        <p:nvSpPr>
          <p:cNvPr id="35" name="TextBox 34">
            <a:extLst>
              <a:ext uri="{FF2B5EF4-FFF2-40B4-BE49-F238E27FC236}">
                <a16:creationId xmlns:a16="http://schemas.microsoft.com/office/drawing/2014/main" id="{2552432F-1914-160C-597E-68E539ABA44F}"/>
              </a:ext>
            </a:extLst>
          </p:cNvPr>
          <p:cNvSpPr txBox="1"/>
          <p:nvPr/>
        </p:nvSpPr>
        <p:spPr>
          <a:xfrm>
            <a:off x="1214438" y="1483290"/>
            <a:ext cx="8642680" cy="424090"/>
          </a:xfrm>
          <a:prstGeom prst="rect">
            <a:avLst/>
          </a:prstGeom>
          <a:noFill/>
        </p:spPr>
        <p:txBody>
          <a:bodyPr wrap="square" lIns="0" tIns="0" rIns="0" bIns="0" anchor="t">
            <a:spAutoFit/>
          </a:bodyPr>
          <a:lstStyle/>
          <a:p>
            <a:pPr algn="ctr">
              <a:lnSpc>
                <a:spcPct val="138125"/>
              </a:lnSpc>
            </a:pPr>
            <a:r>
              <a:rPr lang="en-US" sz="2250" i="1" dirty="0">
                <a:solidFill>
                  <a:srgbClr val="1E1E1E"/>
                </a:solidFill>
                <a:latin typeface="Arial"/>
              </a:rPr>
              <a:t>Drone-based GIS can deliver value, but only with clear safeguards!</a:t>
            </a:r>
          </a:p>
        </p:txBody>
      </p:sp>
      <p:pic>
        <p:nvPicPr>
          <p:cNvPr id="36" name="Picture 35" descr="temp_icon_slide_0_el_3.png">
            <a:extLst>
              <a:ext uri="{FF2B5EF4-FFF2-40B4-BE49-F238E27FC236}">
                <a16:creationId xmlns:a16="http://schemas.microsoft.com/office/drawing/2014/main" id="{21BE3048-2A0C-E826-0F23-73DA5A632EB3}"/>
              </a:ext>
            </a:extLst>
          </p:cNvPr>
          <p:cNvPicPr>
            <a:picLocks noChangeAspect="1"/>
          </p:cNvPicPr>
          <p:nvPr/>
        </p:nvPicPr>
        <p:blipFill>
          <a:blip r:embed="rId8"/>
          <a:stretch>
            <a:fillRect/>
          </a:stretch>
        </p:blipFill>
        <p:spPr>
          <a:xfrm>
            <a:off x="9857118" y="1391118"/>
            <a:ext cx="257175" cy="285750"/>
          </a:xfrm>
          <a:prstGeom prst="rect">
            <a:avLst/>
          </a:prstGeom>
        </p:spPr>
      </p:pic>
    </p:spTree>
    <p:extLst>
      <p:ext uri="{BB962C8B-B14F-4D97-AF65-F5344CB8AC3E}">
        <p14:creationId xmlns:p14="http://schemas.microsoft.com/office/powerpoint/2010/main" val="4197256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476250"/>
            <a:ext cx="22098000" cy="623248"/>
          </a:xfrm>
          <a:prstGeom prst="rect">
            <a:avLst/>
          </a:prstGeom>
          <a:noFill/>
        </p:spPr>
        <p:txBody>
          <a:bodyPr wrap="square" lIns="0" tIns="0" rIns="0" bIns="0" anchor="t">
            <a:spAutoFit/>
          </a:bodyPr>
          <a:lstStyle/>
          <a:p>
            <a:pPr algn="l">
              <a:lnSpc>
                <a:spcPct val="90000"/>
              </a:lnSpc>
            </a:pPr>
            <a:r>
              <a:rPr sz="4500" dirty="0">
                <a:solidFill>
                  <a:srgbClr val="1E1E1E"/>
                </a:solidFill>
                <a:latin typeface="Century Gothic"/>
              </a:rPr>
              <a:t>References </a:t>
            </a:r>
          </a:p>
        </p:txBody>
      </p:sp>
      <p:pic>
        <p:nvPicPr>
          <p:cNvPr id="10" name="Picture 9" descr="temp_slide_0_el_8.png"/>
          <p:cNvPicPr>
            <a:picLocks noChangeAspect="1"/>
          </p:cNvPicPr>
          <p:nvPr/>
        </p:nvPicPr>
        <p:blipFill>
          <a:blip r:embed="rId3"/>
          <a:stretch>
            <a:fillRect/>
          </a:stretch>
        </p:blipFill>
        <p:spPr>
          <a:xfrm>
            <a:off x="285750" y="6057900"/>
            <a:ext cx="800100" cy="800100"/>
          </a:xfrm>
          <a:prstGeom prst="rect">
            <a:avLst/>
          </a:prstGeom>
        </p:spPr>
      </p:pic>
      <p:sp>
        <p:nvSpPr>
          <p:cNvPr id="11" name="TextBox 10"/>
          <p:cNvSpPr txBox="1"/>
          <p:nvPr/>
        </p:nvSpPr>
        <p:spPr>
          <a:xfrm>
            <a:off x="914400" y="6381750"/>
            <a:ext cx="3467100" cy="152400"/>
          </a:xfrm>
          <a:prstGeom prst="rect">
            <a:avLst/>
          </a:prstGeom>
          <a:noFill/>
        </p:spPr>
        <p:txBody>
          <a:bodyPr wrap="square" lIns="0" tIns="0" rIns="0" bIns="0" anchor="t">
            <a:spAutoFit/>
          </a:bodyPr>
          <a:lstStyle/>
          <a:p>
            <a:pPr algn="l">
              <a:lnSpc>
                <a:spcPct val="113333"/>
              </a:lnSpc>
            </a:pPr>
            <a:r>
              <a:rPr sz="900">
                <a:solidFill>
                  <a:srgbClr val="808080"/>
                </a:solidFill>
                <a:latin typeface="Arial"/>
              </a:rPr>
              <a:t>Ethical Issues in GIS Technologies</a:t>
            </a:r>
          </a:p>
        </p:txBody>
      </p:sp>
      <p:sp>
        <p:nvSpPr>
          <p:cNvPr id="12" name="TextBox 11"/>
          <p:cNvSpPr txBox="1"/>
          <p:nvPr/>
        </p:nvSpPr>
        <p:spPr>
          <a:xfrm>
            <a:off x="11468100" y="6362700"/>
            <a:ext cx="320040" cy="190500"/>
          </a:xfrm>
          <a:prstGeom prst="rect">
            <a:avLst/>
          </a:prstGeom>
          <a:noFill/>
        </p:spPr>
        <p:txBody>
          <a:bodyPr wrap="square" lIns="0" tIns="0" rIns="0" bIns="0" anchor="t">
            <a:spAutoFit/>
          </a:bodyPr>
          <a:lstStyle/>
          <a:p>
            <a:pPr algn="l">
              <a:lnSpc>
                <a:spcPct val="121429"/>
              </a:lnSpc>
            </a:pPr>
            <a:r>
              <a:rPr sz="1050">
                <a:solidFill>
                  <a:srgbClr val="99A1AF"/>
                </a:solidFill>
                <a:latin typeface="Arial"/>
              </a:rPr>
              <a:t>10</a:t>
            </a:r>
          </a:p>
        </p:txBody>
      </p:sp>
      <p:sp>
        <p:nvSpPr>
          <p:cNvPr id="13" name="TextBox 12">
            <a:extLst>
              <a:ext uri="{FF2B5EF4-FFF2-40B4-BE49-F238E27FC236}">
                <a16:creationId xmlns:a16="http://schemas.microsoft.com/office/drawing/2014/main" id="{FAB4935B-F473-C4C3-7F8C-2C1F4AAD6213}"/>
              </a:ext>
            </a:extLst>
          </p:cNvPr>
          <p:cNvSpPr txBox="1"/>
          <p:nvPr/>
        </p:nvSpPr>
        <p:spPr>
          <a:xfrm>
            <a:off x="812722" y="1201467"/>
            <a:ext cx="11022496" cy="5078313"/>
          </a:xfrm>
          <a:prstGeom prst="rect">
            <a:avLst/>
          </a:prstGeom>
          <a:noFill/>
        </p:spPr>
        <p:txBody>
          <a:bodyPr wrap="square" rtlCol="0">
            <a:spAutoFit/>
          </a:bodyPr>
          <a:lstStyle/>
          <a:p>
            <a:r>
              <a:rPr lang="en-US" sz="1200" dirty="0" err="1"/>
              <a:t>Abiala</a:t>
            </a:r>
            <a:r>
              <a:rPr lang="en-US" sz="1200" dirty="0"/>
              <a:t>, F. (2023, April 13). </a:t>
            </a:r>
            <a:r>
              <a:rPr lang="en-US" sz="1200" i="1" dirty="0"/>
              <a:t>The ethical implications of AI in geospatial industry: Privacy and security concerns</a:t>
            </a:r>
            <a:r>
              <a:rPr lang="en-US" sz="1200" dirty="0"/>
              <a:t>. </a:t>
            </a:r>
            <a:r>
              <a:rPr lang="en-US" sz="1200" dirty="0" err="1"/>
              <a:t>Spatialnode</a:t>
            </a:r>
            <a:r>
              <a:rPr lang="en-US" sz="1200" dirty="0"/>
              <a:t>.  https://www.spatialnode.net/articles/the-ethical-implications-of-ai-in-geospatial-industry-privacy-and-security-concerns693be0</a:t>
            </a:r>
          </a:p>
          <a:p>
            <a:endParaRPr lang="en-US" sz="1200" dirty="0"/>
          </a:p>
          <a:p>
            <a:r>
              <a:rPr lang="en-US" sz="1200" dirty="0"/>
              <a:t>Afridi, S., Laporte-</a:t>
            </a:r>
            <a:r>
              <a:rPr lang="en-US" sz="1200" dirty="0" err="1"/>
              <a:t>Devylder</a:t>
            </a:r>
            <a:r>
              <a:rPr lang="en-US" sz="1200" dirty="0"/>
              <a:t>, L., Maalouf, G., et al. (2025, April 1). Impact of drone disturbances on wildlife: A review. </a:t>
            </a:r>
            <a:r>
              <a:rPr lang="en-US" sz="1200" i="1" dirty="0"/>
              <a:t>Drones, 9</a:t>
            </a:r>
            <a:r>
              <a:rPr lang="en-US" sz="1200" dirty="0"/>
              <a:t>(4), Article 311. https://doi.org/10.3390/drones9040311</a:t>
            </a:r>
          </a:p>
          <a:p>
            <a:r>
              <a:rPr lang="en-US" sz="1200" dirty="0"/>
              <a:t> </a:t>
            </a:r>
          </a:p>
          <a:p>
            <a:r>
              <a:rPr lang="en-US" sz="1200" dirty="0"/>
              <a:t>Dempsey, C. (2015, September 10). </a:t>
            </a:r>
            <a:r>
              <a:rPr lang="en-US" sz="1200" i="1" dirty="0"/>
              <a:t>Drones and GIS: A look at the legal and ethical issues.</a:t>
            </a:r>
            <a:r>
              <a:rPr lang="en-US" sz="1200" dirty="0"/>
              <a:t> </a:t>
            </a:r>
            <a:r>
              <a:rPr lang="en-US" sz="1200" dirty="0" err="1"/>
              <a:t>GeographyRealm</a:t>
            </a:r>
            <a:r>
              <a:rPr lang="en-US" sz="1200" dirty="0"/>
              <a:t>. https://www.geographyrealm.com/drones-and-gis-a-look-at-the-legal-and-ethical-issues/</a:t>
            </a:r>
          </a:p>
          <a:p>
            <a:endParaRPr lang="en-US" sz="1200" dirty="0"/>
          </a:p>
          <a:p>
            <a:r>
              <a:rPr lang="en-US" sz="1200" dirty="0"/>
              <a:t>Finn, R. L., &amp; Wright, D. (2016). Privacy, data protection and ethics for civil drone practice: A survey of industry, regulators and civil society </a:t>
            </a:r>
            <a:r>
              <a:rPr lang="en-US" sz="1200" dirty="0" err="1"/>
              <a:t>organisations</a:t>
            </a:r>
            <a:r>
              <a:rPr lang="en-US" sz="1200" dirty="0"/>
              <a:t> [PDF]. </a:t>
            </a:r>
            <a:r>
              <a:rPr lang="en-US" sz="1200" i="1" dirty="0"/>
              <a:t>Computer Law &amp; Security Review, 32</a:t>
            </a:r>
            <a:r>
              <a:rPr lang="en-US" sz="1200" dirty="0"/>
              <a:t>(5), 577–586. https://www.dhi.ac.uk/san/waysofbeing/data/data-crone-finn-2016.pdf</a:t>
            </a:r>
          </a:p>
          <a:p>
            <a:r>
              <a:rPr lang="en-US" sz="1200" dirty="0"/>
              <a:t> </a:t>
            </a:r>
          </a:p>
          <a:p>
            <a:r>
              <a:rPr lang="en-US" sz="1200" dirty="0"/>
              <a:t>Paneque-Gálvez, J., Vargas-Ramírez, N., Napoletano, B. M., &amp; Cummings, A. (2017, December 7). Grassroots innovation using drones for indigenous mapping and monitoring. Land, 6(4), 86. https://doi.org/10.3390/land6040086</a:t>
            </a:r>
          </a:p>
          <a:p>
            <a:endParaRPr lang="en-US" sz="1200" dirty="0"/>
          </a:p>
          <a:p>
            <a:r>
              <a:rPr lang="en-US" sz="1200" dirty="0"/>
              <a:t>Oluoch, I. (2024). Crossing Boundaries: The Ethics of AI and Geographic Information Technologies. </a:t>
            </a:r>
            <a:r>
              <a:rPr lang="en-US" sz="1200" i="1" dirty="0"/>
              <a:t>ISPRS International Journal of Geo-Information</a:t>
            </a:r>
            <a:r>
              <a:rPr lang="en-US" sz="1200" dirty="0"/>
              <a:t>, </a:t>
            </a:r>
            <a:r>
              <a:rPr lang="en-US" sz="1200" i="1" dirty="0"/>
              <a:t>13</a:t>
            </a:r>
            <a:r>
              <a:rPr lang="en-US" sz="1200" dirty="0"/>
              <a:t>(3), 87. https://doi.org/10.3390/ijgi13030087</a:t>
            </a:r>
          </a:p>
          <a:p>
            <a:r>
              <a:rPr lang="en-US" sz="1200" dirty="0"/>
              <a:t> </a:t>
            </a:r>
          </a:p>
          <a:p>
            <a:r>
              <a:rPr lang="en-US" sz="1200" dirty="0"/>
              <a:t>Resnik, D. B., &amp; Elliott, K. C. (2019). Using drones to study human beings: Ethical and regulatory issues. </a:t>
            </a:r>
            <a:r>
              <a:rPr lang="en-US" sz="1200" i="1" dirty="0"/>
              <a:t>Science and Engineering Ethics, 25</a:t>
            </a:r>
            <a:r>
              <a:rPr lang="en-US" sz="1200" dirty="0"/>
              <a:t>, 707–718. https://doi.org/10.1007/s11948-018-0032-6</a:t>
            </a:r>
          </a:p>
          <a:p>
            <a:endParaRPr lang="en-US" sz="1200" dirty="0"/>
          </a:p>
          <a:p>
            <a:r>
              <a:rPr lang="en-US" sz="1200" dirty="0" err="1"/>
              <a:t>Sumerling</a:t>
            </a:r>
            <a:r>
              <a:rPr lang="en-US" sz="1200" dirty="0"/>
              <a:t>, G. (2017, July 28). </a:t>
            </a:r>
            <a:r>
              <a:rPr lang="en-US" sz="1200" i="1" dirty="0"/>
              <a:t>Considerations before you fly your drone for mapping </a:t>
            </a:r>
            <a:r>
              <a:rPr lang="en-US" sz="1200" dirty="0"/>
              <a:t>[Image]. Esri Australia Technical Blog.  https://esriaustraliatechblog.wordpress.com/2017/07/28/considerations-before-you-fly-your-drone-for-mapping/</a:t>
            </a:r>
          </a:p>
          <a:p>
            <a:endParaRPr lang="en-US" sz="1200" dirty="0"/>
          </a:p>
          <a:p>
            <a:r>
              <a:rPr lang="en-US" sz="1200" dirty="0" err="1"/>
              <a:t>Tychola</a:t>
            </a:r>
            <a:r>
              <a:rPr lang="en-US" sz="1200" dirty="0"/>
              <a:t>, K. A., &amp; </a:t>
            </a:r>
            <a:r>
              <a:rPr lang="en-US" sz="1200" dirty="0" err="1"/>
              <a:t>Rantos</a:t>
            </a:r>
            <a:r>
              <a:rPr lang="en-US" sz="1200" dirty="0"/>
              <a:t>, K. (2025). Cyberthreats and security measures in drone-assisted agriculture</a:t>
            </a:r>
            <a:r>
              <a:rPr lang="en-US" sz="1200" i="1" dirty="0"/>
              <a:t>. Electronics</a:t>
            </a:r>
            <a:r>
              <a:rPr lang="en-US" sz="1200" dirty="0"/>
              <a:t>, </a:t>
            </a:r>
            <a:r>
              <a:rPr lang="en-US" sz="1200" i="1" dirty="0"/>
              <a:t>14</a:t>
            </a:r>
            <a:r>
              <a:rPr lang="en-US" sz="1200" dirty="0"/>
              <a:t>(1), Article 149. https://doi.org/10.3390/electronics14010149 </a:t>
            </a:r>
          </a:p>
          <a:p>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core.xml><?xml version="1.0" encoding="utf-8"?>
<cp:coreProperties xmlns:cp="http://schemas.openxmlformats.org/package/2006/metadata/core-properties" xmlns:dc="http://purl.org/dc/elements/1.1/">
  <dc:creator>Alexander S. Ricciardi</dc:creator>
</cp:coreProperties>
</file>