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Types>
</file>

<file path=_rels/.rels><?xml version='1.0' encoding='utf-8'?>
<Relationships xmlns="http://schemas.openxmlformats.org/package/2006/relationships"><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8"/>
  </p:notesMasterIdLst>
  <p:sldIdLst>
    <p:sldId id="256" r:id="rId2"/>
    <p:sldId id="257" r:id="rId3"/>
    <p:sldId id="29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5143500" type="screen16x9"/>
  <p:notesSz cx="5143500" cy="9144000"/>
  <p:embeddedFontLst>
    <p:embeddedFont>
      <p:font typeface="Inter" panose="02000503000000020004"/>
      <p:regular r:id="rId3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395"/>
    <p:restoredTop sz="72329"/>
  </p:normalViewPr>
  <p:slideViewPr>
    <p:cSldViewPr snapToGrid="0" snapToObjects="1">
      <p:cViewPr varScale="1">
        <p:scale>
          <a:sx n="120" d="100"/>
          <a:sy n="120" d="100"/>
        </p:scale>
        <p:origin x="12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473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following is a web application is an “Algorithm and Data Structure Comparison Tool” that compares search algorithms, linked structures, tree-backed maps, hash tables, priority queues, graph-based methods, sets, Bubble Sort, and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inside one </a:t>
            </a:r>
            <a:r>
              <a:rPr lang="en-US" sz="1200" kern="1200" dirty="0" err="1">
                <a:solidFill>
                  <a:schemeClr val="tx1"/>
                </a:solidFill>
                <a:effectLst/>
                <a:latin typeface="+mn-lt"/>
                <a:ea typeface="+mn-ea"/>
                <a:cs typeface="+mn-cs"/>
              </a:rPr>
              <a:t>Streamlit</a:t>
            </a:r>
            <a:r>
              <a:rPr lang="en-US" sz="1200" kern="1200" dirty="0">
                <a:solidFill>
                  <a:schemeClr val="tx1"/>
                </a:solidFill>
                <a:effectLst/>
                <a:latin typeface="+mn-lt"/>
                <a:ea typeface="+mn-ea"/>
                <a:cs typeface="+mn-cs"/>
              </a:rPr>
              <a:t> interface.</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project is part of the final portfolio that implements benchmark evidence, written analysis, and recommendation guidance.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 am Alexander Ricciardi. This is my final portfolio presentation for my CSC506 - Design and Analysis of Algorithms at Colorado State University Global course</a:t>
            </a:r>
            <a:r>
              <a:rPr lang="en-US"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804FB-C29B-6DB8-952E-9032AE1C0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82A4B-AC8A-0B75-763A-6E69C0B1A1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2A663-ED8D-DAEE-75D4-9741239AB3CB}"/>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 purpose of this slide is to explain the presentation scope.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Note that only all the Bubble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Sets” module features are explored fully, as well as the final comprehensive performance analysis.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Only the overview, analysis, and recommendation guides features of the Search Comparison, Linked Structures, Tree Map, Hash Priority, and Graph Algorithms modules are explored in this presentation, as these modules were previously examined in detail in prior course assignments.</a:t>
            </a:r>
          </a:p>
        </p:txBody>
      </p:sp>
      <p:sp>
        <p:nvSpPr>
          <p:cNvPr id="4" name="Slide Number Placeholder 3">
            <a:extLst>
              <a:ext uri="{FF2B5EF4-FFF2-40B4-BE49-F238E27FC236}">
                <a16:creationId xmlns:a16="http://schemas.microsoft.com/office/drawing/2014/main" id="{9C4DEC92-6A6C-7C6D-8D13-CC6DA8CD56A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85836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the Landing page of the application. It gives an overview of the application feature and provides navigation tabs to Search Comparison, Linked Structures, Tree Map, Hash Priority, Graph Algorithms, Bubble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Sets, and Comprehensive Analysis features. </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is important to note that each tab represents a different module of the project.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Search Comparison focuses on comparing two fundamental search algorithms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Linked Structures focuses on access.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Tree Map focuses on ordered lookup.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Hash Priority focuses on key-based retrieval and priority ordering.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Graph Algorithms focuses on relationships, traversal, and shortest paths.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Bubble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Sets focuses on uniqueness, sorting, and rank selection.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Comprehensive Analysis is a performance and comparison analysis of algorithms and data structures explored in this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the landing page of the “Search Comparison” feature, showcasing the functionality of the Search algorithms module. It provides an overview of the different search algorithms.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Feature’s tabs: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Overview introduces the concept.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Dataset Builder prepares input values.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Search Playground runs the algorithms.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Compare Algorithms places them side by side.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Benchmark Lab measures behavior.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Big-O Analysis and Recommendation Guide explains what the measured results mean.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showcases the “Search Comparison Big-O Analysis” for the “Search Comparison”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analysis uses a Big-O perspective to analyze the search algorithms.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analysis results: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Linear search shows worst-case `O(n)` behavior because it may need to inspect every value in the dataset.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Binary search has worst-case `O(log n)` behavior because each comparison removes one half of the remaining interval.</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Note that the analysis implemented a theoretical and empirical approach.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analysis compares counts, step traces, and benchmark evidence.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showcases the recommendation guide for the “Search Comparison”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recommendation guide uses analysis results to guide decision-making: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Binary search is the stronger choice when the dataset is pre-sorted or when repeated searches are required.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Linear search is a practical choice when the dataset is small, unsorted, or changing often.</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key lesson from the guide and analysis is that algorithm choice depends on workload rather than on a universal ranking.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the landing page of the “Linked Structures” feature, showcasing the functionality of the Linked structures module. It provides an overview of the different abstract data types.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data structures explored are list-backed Stack, Queue, and Deque, along with a custom doubly linked `LinkedList`.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feature provides the user with the following tabs/functionalities: build datasets, run operations, compare structure behavior, benchmark workloads, and read supporting analysis.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feature functionality allows the user to explore LIFO, FIFO, double-ended access, and node traversal concepts and implement their behavior. In practical terms, this module explains why linear structures can behave very differently under different workloads.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showcases the “Linked Structures Written Analysis” for the “Linked Structures”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analysis results show that implementation details matter just as much as abstract definitions of the data structure.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example: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 stack performs well when push and pop happen on the favorable end of a Python list.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Queue and Deque behavior depends on which end receives most of the work.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 linked list avoids some shifting costs, but traversal still grows with the structure length.</a:t>
            </a:r>
            <a:r>
              <a:rPr lang="en-US"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showcases the recommendation guide for the “Linked Structures” feature.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recommendation guide explains how to match a structure to the operation pattern of an application. For example: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 stack is best suited for last-in, first-out behavior.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 queue is best suited for first-in, first-out workflows.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 deque is best when both ends matter.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The `LinkedList` is best when node-based insertion, removal, and traversal behavior fit the problem better than list shifting.</a:t>
            </a:r>
            <a:r>
              <a:rPr lang="en-US"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the landing page of the “Tree Map” feature, showcasing the functionality of the tree map module. It provides an overview of the importance of tree maps in computer science. They combine key-based lookup with an ordered structure. The feature explores Binary Search Tree, a BST-backed `</a:t>
            </a:r>
            <a:r>
              <a:rPr lang="en-US" sz="1200" kern="1200" dirty="0" err="1">
                <a:solidFill>
                  <a:schemeClr val="tx1"/>
                </a:solidFill>
                <a:effectLst/>
                <a:latin typeface="+mn-lt"/>
                <a:ea typeface="+mn-ea"/>
                <a:cs typeface="+mn-cs"/>
              </a:rPr>
              <a:t>TreeMap</a:t>
            </a:r>
            <a:r>
              <a:rPr lang="en-US" sz="1200" kern="1200" dirty="0">
                <a:solidFill>
                  <a:schemeClr val="tx1"/>
                </a:solidFill>
                <a:effectLst/>
                <a:latin typeface="+mn-lt"/>
                <a:ea typeface="+mn-ea"/>
                <a:cs typeface="+mn-cs"/>
              </a:rPr>
              <a:t>`, and a list-backed `</a:t>
            </a:r>
            <a:r>
              <a:rPr lang="en-US" sz="1200" kern="1200" dirty="0" err="1">
                <a:solidFill>
                  <a:schemeClr val="tx1"/>
                </a:solidFill>
                <a:effectLst/>
                <a:latin typeface="+mn-lt"/>
                <a:ea typeface="+mn-ea"/>
                <a:cs typeface="+mn-cs"/>
              </a:rPr>
              <a:t>ListMap</a:t>
            </a:r>
            <a:r>
              <a:rPr lang="en-US" sz="1200" kern="1200" dirty="0">
                <a:solidFill>
                  <a:schemeClr val="tx1"/>
                </a:solidFill>
                <a:effectLst/>
                <a:latin typeface="+mn-lt"/>
                <a:ea typeface="+mn-ea"/>
                <a:cs typeface="+mn-cs"/>
              </a:rPr>
              <a:t>` baseline. It also explores insertion, search, deletion, traversal, minimum and maximum lookups, height reporting, balance detection operations, and a map comparison workflow.</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features allow users to explore how a tree shape influences performance.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shows that tree-backed lookup can be efficient when the tree height is low; it shows how a plain BST is not self-correcting.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feature also provides an explanation of why ordered lookup can be powerful and why insertion order still matters.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showcases the “Tree Map Written Analysis” for the “Tree Map”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analysis uses a Big-O approach to show why BST behavior depends on height `h`.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example: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The search, insert, delete, minimum, and maximum operations have a complexity of `O(h)`.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However, when the tree is short, this complexity is closer to `O(log 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When the tree becomes heavily skewed, this complexity is closer to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Note: the same structure can behave very differently depending on insertion order.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showcases the recommendation guide for the “Tree Map”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recommendation guide explains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TreeMap</a:t>
            </a:r>
            <a:r>
              <a:rPr lang="en-US" sz="1200" kern="1200" dirty="0">
                <a:solidFill>
                  <a:schemeClr val="tx1"/>
                </a:solidFill>
                <a:effectLst/>
                <a:latin typeface="+mn-lt"/>
                <a:ea typeface="+mn-ea"/>
                <a:cs typeface="+mn-cs"/>
              </a:rPr>
              <a:t>` is best suited for situations when ordered traversal, repeated lookup, and minimum or maximum queries are required.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ListMap</a:t>
            </a:r>
            <a:r>
              <a:rPr lang="en-US" sz="1200" kern="1200" dirty="0">
                <a:solidFill>
                  <a:schemeClr val="tx1"/>
                </a:solidFill>
                <a:effectLst/>
                <a:latin typeface="+mn-lt"/>
                <a:ea typeface="+mn-ea"/>
                <a:cs typeface="+mn-cs"/>
              </a:rPr>
              <a:t>` is easier to implement, but less efficient for large datasets, but it can still be a practical implementation for modest-sized datasets or simpler workloads.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Tree-backed maps are useful when the tree shapes are not skewed.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the landing page of the “Hash Priority” feature, showcasing the functionality of the hash tables and priority queues. These data structures are used to solve different kinds of retrieval problems.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example: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The hash table supports insert, search, delete, update, resizing, and bucket inspection using separate chaining.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The priority queue supports min-heap and max-heap workflows, including insert, peek, extract, search, and delete.</a:t>
            </a:r>
          </a:p>
          <a:p>
            <a:r>
              <a:rPr lang="en-US" sz="1200" kern="1200" dirty="0">
                <a:solidFill>
                  <a:schemeClr val="tx1"/>
                </a:solidFill>
                <a:effectLst/>
                <a:latin typeface="+mn-lt"/>
                <a:ea typeface="+mn-ea"/>
                <a:cs typeface="+mn-cs"/>
              </a:rPr>
              <a:t>The module compares two solutions for two different access requirements: that is, hash tables are built for direct key lookup, while heaps are designed for repeated access to the next highest or lowest priority item.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showcases the “Hash Priority Written Analysis” for the “Hash Priority”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analysis uses a Big-O perspective to analyze hash tables and priority queues [from both theoretical and practical viewpoints.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analysis results: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 hash table can have a complexity average of `O(1)` for insert, search, and delete operations because keys map directly to bucket locations. It is important to note, however, that collisions may be an issue. Separate chaining preserves correctness, but depending on the key distribution, searching inside a bucket could be more expensive.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The priority queue shows different results. Heap insert and extract operations are typically `O(log n)` because the heap may need to restore order. Peek remains efficient because the highest or lowest priority value is stored at the root.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showcases the recommendation guide for the “Hash Priority”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explains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Hash tables are the best choice when repeated key-based lookups are required and when key distribution can be maintained.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Priority queues are the best choice when the application requires repeatedly removing the highest or lowest priority value.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Linear search is useful for simple implementation, educational purposes, and as a comparison point.</a:t>
            </a:r>
            <a:r>
              <a:rPr lang="en-US"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is the landing page of the “Graph Algorithms”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highlights the importance of graphs, which are used to represent relationships between objects. The module showcases adjacency-list and adjacency-matrix data structure representations, and BFS, DFS, Dijkstra, and Bellman-Ford algorithms. It also provides labs for sparse and dense graph behavior.</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features tabs: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Graph Builder allows the user to build different graph structures.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Graph Structure Lab showcases the different graph behaviors.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Traversal Lab showcases BFS and DFS.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Shortest Path Lab compares Dijkstra and Bellman-Ford algorithms for short path operations.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Benchmark Lab runs benchmarks for the different graph structures and the algorithms.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Written Analysis and Recommendation Guide analyzes the lab results and base on the results, gives guidance.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showcases the “Graph Algorithms Written Analysis” for the “Graph Algorithms”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shows that choosing a graph representation depends on the workload.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example: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An adjacency list stores only real neighbor relationships and is usually a strong fit for sparse graphs.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An adjacency matrix allocates a full row-column position for each source-target pair, which can be useful for dense workloads or direct adjacency checks.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algorithm analysis also explores BFS and DFS, both these algorithms explore vertices, but they organize that exploration differently. The analysis shows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Dijkstra is faster, but it is best suited for a graph with non-negative edge weights.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Bellman-Ford is slower but supports negative edges and negative-cycle detection.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showcases the recommendation guide for the “Graph Algorithms”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explains when to use each graph structure and algorithm.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example: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 Adjacency lists are useful when the graph is sparse or when neighbor scans are common.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Adjacency matrices become more attractive when direct pair checks matter or when the graph is dense and stable.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BFS is well-suited for breadth-oriented unweighted exploration.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DFS is well-suited for depth-oriented traversal.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Dijkstra is well-suited for non-negative weighted shortest paths.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Bellman-Ford is well-suited to situations where negative weights are required.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is the landing page of the “Bubble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Sets” feature of the Bubble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Sets module.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includes an overview of the `</a:t>
            </a:r>
            <a:r>
              <a:rPr lang="en-US" sz="1200" kern="1200" dirty="0" err="1">
                <a:solidFill>
                  <a:schemeClr val="tx1"/>
                </a:solidFill>
                <a:effectLst/>
                <a:latin typeface="+mn-lt"/>
                <a:ea typeface="+mn-ea"/>
                <a:cs typeface="+mn-cs"/>
              </a:rPr>
              <a:t>CourseSet</a:t>
            </a:r>
            <a:r>
              <a:rPr lang="en-US" sz="1200" kern="1200" dirty="0">
                <a:solidFill>
                  <a:schemeClr val="tx1"/>
                </a:solidFill>
                <a:effectLst/>
                <a:latin typeface="+mn-lt"/>
                <a:ea typeface="+mn-ea"/>
                <a:cs typeface="+mn-cs"/>
              </a:rPr>
              <a:t>` implementation, the Bubble Sort routine with trace output,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for kth-smallest selection, benchmark comparison, and written analysis. </a:t>
            </a:r>
          </a:p>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Build Set Lab section of the feature, the user can build Set A and Set B, which are displayed so the user.</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is important to note that the central idea of sets is uniqueness. Duplicates are not allowed, and item membership to a set matters more than order. </a:t>
            </a:r>
          </a:p>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demonstrates Dynamic set operations. Operations such as `add`, `remove`, and `contains` are displayed; these operations either change a set or test whether a value is present.</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From a Big-O perspective, the set behavior differs from sorting or indexing behavior, with the point being not to find where a value sits in a sequence, but to determine whether the value belongs to the collection.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demonstrates static set operations. They compare two collections and produce a result from them. The static operations are union, intersection, difference, and symmetric. These operations do not depend on position, but they depend on relationships between the two source sets.</a:t>
            </a:r>
            <a:r>
              <a:rPr lang="en-US"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Bubble Sort Lab feature demonstrates bubble sort operations within a lab. This slide shows the set-up potion of the feature. The algorithm continually compares neighboring values and swaps them when they are in the wrong order.  Bubble Sort is valuable for educational purposes and comparison with other sorting algorithms rather than for real-world applications.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shows the traced result of the lab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analysis uses a Big-O perspective to analyze Bubble Sort, which shows average and worst-case time complexity of `O(n^2)` as it may require fully scanning the list twice.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When the dataset is pre-sorted, Bubble Sort can stop quickly, it may have a complexity of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When the dataset is in disorder state, Bubble Sort may have a quadratic cost.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Lab feature demonstrates bubble sort operations within a lab.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slide shows the selection validation of the feature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which is used to answer a different question than a full sorting algorithm, like Bubble sort;  its main purpose is to find a requested rank, such as the kth-smallest value, without having to fully to have to order the dataset. </a:t>
            </a:r>
            <a:br>
              <a:rPr lang="en-US" sz="1200" kern="1200" dirty="0">
                <a:solidFill>
                  <a:schemeClr val="tx1"/>
                </a:solidFill>
                <a:effectLst/>
                <a:latin typeface="+mn-lt"/>
                <a:ea typeface="+mn-ea"/>
                <a:cs typeface="+mn-cs"/>
              </a:rPr>
            </a:b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has an average time complexity of `O(n)` as it recursively partitions the dataset and only selects and compares the side of the partition that can still contain the requested rank, rather than comparing each value in the dataset.</a:t>
            </a:r>
            <a:br>
              <a:rPr lang="en-US" sz="1200" kern="1200" dirty="0">
                <a:solidFill>
                  <a:schemeClr val="tx1"/>
                </a:solidFill>
                <a:effectLst/>
                <a:latin typeface="+mn-lt"/>
                <a:ea typeface="+mn-ea"/>
                <a:cs typeface="+mn-cs"/>
              </a:rPr>
            </a:b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is best suited for workloads that require a specific rank rather (or a single element rather) than a fully sorted result.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shows the value validation process of the lab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verifies that A requested rank falls within the bounds of the dataset being processed. When it does not, the app prevents the operation and provides a message.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Note that the app is not only implementing the algorithm itself. It is also handling the workflow by managing edge cases so that results are valid and understandable</a:t>
            </a:r>
            <a:r>
              <a:rPr lang="en-US" dirty="0">
                <a:effectLst/>
              </a:rPr>
              <a:t> </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Bubble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Sets Benchmark Lab feature demonstrates running the benchmark lab on the set data structure and on the Bubble Sort and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algorithms.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slide shows the comparison of Bubble Sort with Python's built-in `sorted()` and compares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with selecting from a fully ordered list. </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Note that the fastest result is not always the algorithm with the best asymptotic time complexity, but rather the one with smaller constant factors or better optimization for the specific input size.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Bubble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Sets Written Analysis Lab feature displays a written analysis of Bubble Sort,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and the set data structure.</a:t>
            </a:r>
          </a:p>
          <a:p>
            <a:r>
              <a:rPr lang="en-US" sz="1200" kern="1200" dirty="0">
                <a:solidFill>
                  <a:schemeClr val="tx1"/>
                </a:solidFill>
                <a:effectLst/>
                <a:latin typeface="+mn-lt"/>
                <a:ea typeface="+mn-ea"/>
                <a:cs typeface="+mn-cs"/>
              </a:rPr>
              <a:t>This slide shows the analysis of the Bubble Sort and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algorithms of the feature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Bubble Sort is used to produce a fully ordered list.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is used to find one requested rank.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Those are related problems, but with different purposes.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practical terms, this slide reinforces a central course idea. The best algorithm depends on the question being asked. If full ordering is required, a sorting algorithm is necessary. If only one rank is needed,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may be the more direct solution.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slide shows the set operations portion of the analysis. It explains that sets evaluate uniqueness, membership, and collection relationships. These operations are used to know whether a value belongs to a collection or how two collections relate to each other.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practical terms, sets help answer questions that search, sorting, and rank selection do not answer as directly.</a:t>
            </a:r>
          </a:p>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shows the main learning outcomes that analysis provides.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explains how: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CourseSet</a:t>
            </a:r>
            <a:r>
              <a:rPr lang="en-US" sz="1200" kern="1200" dirty="0">
                <a:solidFill>
                  <a:schemeClr val="tx1"/>
                </a:solidFill>
                <a:effectLst/>
                <a:latin typeface="+mn-lt"/>
                <a:ea typeface="+mn-ea"/>
                <a:cs typeface="+mn-cs"/>
              </a:rPr>
              <a:t>` adds set algebra and membership logic.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Bubble Sort adds a traceable sorting demonstration.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adds efficient rank selection.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Comprehensive Analysis feature provides a full written analysis of all the algorithms and data explored by the app.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brings together the written analyses, benchmark, and recommendation logic from all the app features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purpose of the analysis is to examine the different approaches both theoretically and practically.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other words, it is a comparison system that explains how different growth rates, data structures, and workload influence design and technical decision-making.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slide displays the executive overview of the analysis, a comparison of linear search vs binary search algorithms, and a comparison of sorting and selection using the Bubble Sort and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algorithm.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displays an analysis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The set data structure’s uniqueness, static operations, and dynamic mutations characteristics.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Linked data structures: Stack, Queue, Deque, Linked List.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Trees and maps data structures: BST, </a:t>
            </a:r>
            <a:r>
              <a:rPr lang="en-US" sz="1200" kern="1200" dirty="0" err="1">
                <a:solidFill>
                  <a:schemeClr val="tx1"/>
                </a:solidFill>
                <a:effectLst/>
                <a:latin typeface="+mn-lt"/>
                <a:ea typeface="+mn-ea"/>
                <a:cs typeface="+mn-cs"/>
              </a:rPr>
              <a:t>TreeMap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ListMap</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slide places search, sorting, and selection in the same discussion: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Search algorithms locate values.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Sorting algorithms generate order.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Selection algorithms find one requested rank.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Note that the analysis shows that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The binary search works well when items are ordered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Bubble Sort is expensive on larger unsorted workloads.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Quickselect</a:t>
            </a:r>
            <a:r>
              <a:rPr lang="en-US" sz="1200" kern="1200" dirty="0">
                <a:solidFill>
                  <a:schemeClr val="tx1"/>
                </a:solidFill>
                <a:effectLst/>
                <a:latin typeface="+mn-lt"/>
                <a:ea typeface="+mn-ea"/>
                <a:cs typeface="+mn-cs"/>
              </a:rPr>
              <a:t> is one-rank selection rather than a full ordering algorithm.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displays an analysis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Hash tables and priority queues data structures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Graphs data structure and the BFS, DFS, and Dijkstra algorithms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analysis explains that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Linked structures manage endpoint work, shifting, and traversal tradeoffs.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Trees and maps balance ordered lookup and height sensitivity.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Hash tables handle direct key-based access and collision effects.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Priority queues are used for priority removal.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Graphs are a relationship storage and traversal strategy.</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analysis explains that data structures are selected by workload requirement, not by a simple ranking from best to worst.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displays a Recommendation Matrix. The matrix provides a summarized analysis of the algorithms and data structures that can be easily translated into decisions.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covers repeated search, sorted lookup, full ordering, kth-rank selection, uniqueness, FIFO access, LIFO access, priority removal, sparse traversal, or dense adjacency checks.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matrix does not treat one algorithm as the winner in every category. Instead, it shows that different tools are useful because they optimize different operations under different constraints.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final slide displays the analysis conclusion and a Recommendation Matrix summarizing all the labs and analyses into a comprehensive recommendation guide.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project integrates earlier assignments from CSC506.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includes dataset builders, guided labs, structure visualizations, algorithm traces, benchmark workflows, written analyses, and recommendation guides.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provides the central learning outcome stating that algorithm analysis is most useful when theory, implementation, measurement, and recommendation are considered together, that 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Big-O notation explains growth.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Benchmarks labs provide empirically measured behavior confirming the theoretical findings from time and space complexity analysis.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Showing that the most important question is not “Which algorithm is best?" is "Which algorithm or data structure is the best fit for this data, this access pattern, and this implementation context?"</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534924" y="946404"/>
            <a:ext cx="8092440" cy="342900"/>
          </a:xfrm>
          <a:prstGeom prst="rect">
            <a:avLst/>
          </a:prstGeom>
          <a:noFill/>
          <a:ln/>
        </p:spPr>
        <p:txBody>
          <a:bodyPr/>
          <a:lstStyle/>
          <a:p>
            <a:endParaRPr lang="en-US"/>
          </a:p>
        </p:txBody>
      </p:sp>
      <p:sp>
        <p:nvSpPr>
          <p:cNvPr id="6" name="Shape 3"/>
          <p:cNvSpPr/>
          <p:nvPr/>
        </p:nvSpPr>
        <p:spPr>
          <a:xfrm>
            <a:off x="534924" y="946404"/>
            <a:ext cx="8092440" cy="342900"/>
          </a:xfrm>
          <a:prstGeom prst="rect">
            <a:avLst/>
          </a:prstGeom>
          <a:noFill/>
          <a:ln/>
        </p:spPr>
        <p:txBody>
          <a:bodyPr/>
          <a:lstStyle/>
          <a:p>
            <a:endParaRPr lang="en-US"/>
          </a:p>
        </p:txBody>
      </p:sp>
      <p:sp>
        <p:nvSpPr>
          <p:cNvPr id="7" name="Text 4"/>
          <p:cNvSpPr/>
          <p:nvPr/>
        </p:nvSpPr>
        <p:spPr>
          <a:xfrm>
            <a:off x="534924" y="946404"/>
            <a:ext cx="8092440" cy="342900"/>
          </a:xfrm>
          <a:prstGeom prst="rect">
            <a:avLst/>
          </a:prstGeom>
          <a:noFill/>
          <a:ln/>
        </p:spPr>
        <p:txBody>
          <a:bodyPr wrap="square" lIns="0" tIns="0" rIns="0" bIns="0" rtlCol="0" anchor="ctr"/>
          <a:lstStyle/>
          <a:p>
            <a:pPr marL="0" indent="0" algn="l">
              <a:lnSpc>
                <a:spcPts val="2587"/>
              </a:lnSpc>
              <a:buNone/>
            </a:pPr>
            <a:r>
              <a:rPr lang="en-US" sz="2138" b="1" dirty="0">
                <a:solidFill>
                  <a:srgbClr val="213A31">
                    <a:alpha val="99000"/>
                  </a:srgbClr>
                </a:solidFill>
                <a:latin typeface="Inter" pitchFamily="34" charset="0"/>
                <a:ea typeface="Inter" pitchFamily="34" charset="-122"/>
                <a:cs typeface="Inter" pitchFamily="34" charset="-120"/>
              </a:rPr>
              <a:t>Algorithm and Data Structure Comparison Tool</a:t>
            </a:r>
            <a:endParaRPr lang="en-US" sz="2138" dirty="0"/>
          </a:p>
        </p:txBody>
      </p:sp>
      <p:sp>
        <p:nvSpPr>
          <p:cNvPr id="8" name="Shape 5"/>
          <p:cNvSpPr/>
          <p:nvPr/>
        </p:nvSpPr>
        <p:spPr>
          <a:xfrm>
            <a:off x="534924" y="1392174"/>
            <a:ext cx="7406640" cy="246888"/>
          </a:xfrm>
          <a:prstGeom prst="rect">
            <a:avLst/>
          </a:prstGeom>
          <a:noFill/>
          <a:ln/>
        </p:spPr>
        <p:txBody>
          <a:bodyPr/>
          <a:lstStyle/>
          <a:p>
            <a:endParaRPr lang="en-US"/>
          </a:p>
        </p:txBody>
      </p:sp>
      <p:sp>
        <p:nvSpPr>
          <p:cNvPr id="9" name="Shape 6"/>
          <p:cNvSpPr/>
          <p:nvPr/>
        </p:nvSpPr>
        <p:spPr>
          <a:xfrm>
            <a:off x="534924" y="1392174"/>
            <a:ext cx="7406640" cy="246888"/>
          </a:xfrm>
          <a:prstGeom prst="rect">
            <a:avLst/>
          </a:prstGeom>
          <a:noFill/>
          <a:ln/>
        </p:spPr>
        <p:txBody>
          <a:bodyPr/>
          <a:lstStyle/>
          <a:p>
            <a:endParaRPr lang="en-US"/>
          </a:p>
        </p:txBody>
      </p:sp>
      <p:sp>
        <p:nvSpPr>
          <p:cNvPr id="10" name="Text 7"/>
          <p:cNvSpPr/>
          <p:nvPr/>
        </p:nvSpPr>
        <p:spPr>
          <a:xfrm>
            <a:off x="534924" y="1392174"/>
            <a:ext cx="7406640" cy="246888"/>
          </a:xfrm>
          <a:prstGeom prst="rect">
            <a:avLst/>
          </a:prstGeom>
          <a:noFill/>
          <a:ln/>
        </p:spPr>
        <p:txBody>
          <a:bodyPr wrap="square" lIns="0" tIns="0" rIns="0" bIns="0" rtlCol="0" anchor="ctr"/>
          <a:lstStyle/>
          <a:p>
            <a:pPr marL="0" indent="0" algn="l">
              <a:lnSpc>
                <a:spcPts val="1725"/>
              </a:lnSpc>
              <a:buNone/>
            </a:pPr>
            <a:r>
              <a:rPr lang="en-US" sz="1425" dirty="0">
                <a:solidFill>
                  <a:srgbClr val="34423D">
                    <a:alpha val="99000"/>
                  </a:srgbClr>
                </a:solidFill>
                <a:latin typeface="Inter" pitchFamily="34" charset="0"/>
                <a:ea typeface="Inter" pitchFamily="34" charset="-122"/>
                <a:cs typeface="Inter" pitchFamily="34" charset="-120"/>
              </a:rPr>
              <a:t>CSC506 Final Portfolio Presentation</a:t>
            </a:r>
            <a:endParaRPr lang="en-US" sz="1425" dirty="0"/>
          </a:p>
        </p:txBody>
      </p:sp>
      <p:sp>
        <p:nvSpPr>
          <p:cNvPr id="11" name="Shape 8"/>
          <p:cNvSpPr/>
          <p:nvPr/>
        </p:nvSpPr>
        <p:spPr>
          <a:xfrm>
            <a:off x="534924" y="1954530"/>
            <a:ext cx="2880360" cy="178308"/>
          </a:xfrm>
          <a:prstGeom prst="rect">
            <a:avLst/>
          </a:prstGeom>
          <a:noFill/>
          <a:ln/>
        </p:spPr>
        <p:txBody>
          <a:bodyPr/>
          <a:lstStyle/>
          <a:p>
            <a:endParaRPr lang="en-US"/>
          </a:p>
        </p:txBody>
      </p:sp>
      <p:sp>
        <p:nvSpPr>
          <p:cNvPr id="12" name="Shape 9"/>
          <p:cNvSpPr/>
          <p:nvPr/>
        </p:nvSpPr>
        <p:spPr>
          <a:xfrm>
            <a:off x="534924" y="1954530"/>
            <a:ext cx="2880360" cy="178308"/>
          </a:xfrm>
          <a:prstGeom prst="rect">
            <a:avLst/>
          </a:prstGeom>
          <a:noFill/>
          <a:ln/>
        </p:spPr>
        <p:txBody>
          <a:bodyPr/>
          <a:lstStyle/>
          <a:p>
            <a:endParaRPr lang="en-US"/>
          </a:p>
        </p:txBody>
      </p:sp>
      <p:sp>
        <p:nvSpPr>
          <p:cNvPr id="13" name="Shape 10"/>
          <p:cNvSpPr/>
          <p:nvPr/>
        </p:nvSpPr>
        <p:spPr>
          <a:xfrm>
            <a:off x="533400" y="2157413"/>
            <a:ext cx="6789420" cy="925830"/>
          </a:xfrm>
          <a:prstGeom prst="rect">
            <a:avLst/>
          </a:prstGeom>
          <a:noFill/>
          <a:ln/>
        </p:spPr>
        <p:txBody>
          <a:bodyPr/>
          <a:lstStyle/>
          <a:p>
            <a:endParaRPr lang="en-US"/>
          </a:p>
        </p:txBody>
      </p:sp>
      <p:sp>
        <p:nvSpPr>
          <p:cNvPr id="14" name="Shape 11"/>
          <p:cNvSpPr/>
          <p:nvPr/>
        </p:nvSpPr>
        <p:spPr>
          <a:xfrm>
            <a:off x="533400" y="2157413"/>
            <a:ext cx="6789420" cy="925830"/>
          </a:xfrm>
          <a:prstGeom prst="rect">
            <a:avLst/>
          </a:prstGeom>
          <a:noFill/>
          <a:ln/>
        </p:spPr>
        <p:txBody>
          <a:bodyPr/>
          <a:lstStyle/>
          <a:p>
            <a:endParaRPr lang="en-US"/>
          </a:p>
        </p:txBody>
      </p:sp>
      <p:sp>
        <p:nvSpPr>
          <p:cNvPr id="15" name="Text 12"/>
          <p:cNvSpPr/>
          <p:nvPr/>
        </p:nvSpPr>
        <p:spPr>
          <a:xfrm>
            <a:off x="533400" y="1392174"/>
            <a:ext cx="6789420" cy="2208276"/>
          </a:xfrm>
          <a:prstGeom prst="rect">
            <a:avLst/>
          </a:prstGeom>
          <a:noFill/>
          <a:ln/>
        </p:spPr>
        <p:txBody>
          <a:bodyPr wrap="square" lIns="0" tIns="0" rIns="0" bIns="0" rtlCol="0" anchor="ctr"/>
          <a:lstStyle/>
          <a:p>
            <a:pPr marL="0" indent="0" algn="l">
              <a:lnSpc>
                <a:spcPts val="1638"/>
              </a:lnSpc>
              <a:buNone/>
            </a:pPr>
            <a:r>
              <a:rPr lang="en-US" sz="1354" dirty="0">
                <a:solidFill>
                  <a:srgbClr val="34423D">
                    <a:alpha val="99000"/>
                  </a:srgbClr>
                </a:solidFill>
                <a:latin typeface="Inter" pitchFamily="34" charset="0"/>
                <a:ea typeface="Inter" pitchFamily="34" charset="-122"/>
                <a:cs typeface="Inter" pitchFamily="34" charset="-120"/>
              </a:rPr>
              <a:t>Integrated system across search, linked structures, maps, hashes, priority queues, graphs, sets, Bubble Sort, and </a:t>
            </a:r>
            <a:r>
              <a:rPr lang="en-US" sz="1354" dirty="0" err="1">
                <a:solidFill>
                  <a:srgbClr val="34423D">
                    <a:alpha val="99000"/>
                  </a:srgbClr>
                </a:solidFill>
                <a:latin typeface="Inter" pitchFamily="34" charset="0"/>
                <a:ea typeface="Inter" pitchFamily="34" charset="-122"/>
                <a:cs typeface="Inter" pitchFamily="34" charset="-120"/>
              </a:rPr>
              <a:t>Quickselect</a:t>
            </a:r>
            <a:r>
              <a:rPr lang="en-US" sz="1354" dirty="0">
                <a:solidFill>
                  <a:srgbClr val="34423D">
                    <a:alpha val="99000"/>
                  </a:srgbClr>
                </a:solidFill>
                <a:latin typeface="Inter" pitchFamily="34" charset="0"/>
                <a:ea typeface="Inter" pitchFamily="34" charset="-122"/>
                <a:cs typeface="Inter" pitchFamily="34" charset="-120"/>
              </a:rPr>
              <a:t>.</a:t>
            </a:r>
            <a:endParaRPr lang="en-US" sz="1354" dirty="0"/>
          </a:p>
          <a:p>
            <a:pPr>
              <a:lnSpc>
                <a:spcPts val="1638"/>
              </a:lnSpc>
            </a:pPr>
            <a:r>
              <a:rPr lang="en-US" sz="1354" dirty="0">
                <a:solidFill>
                  <a:srgbClr val="34423D">
                    <a:alpha val="99000"/>
                  </a:srgbClr>
                </a:solidFill>
                <a:latin typeface="Inter" pitchFamily="34" charset="0"/>
                <a:ea typeface="Inter" pitchFamily="34" charset="-122"/>
                <a:cs typeface="Inter" pitchFamily="34" charset="-120"/>
              </a:rPr>
              <a:t>Built to show theory, implementation, benchmarks, and recommendations as one final portfolio Only the overview, analysis, and recommendation guides features of the Search Comparison, Linked Structures, Tree Map, Hash Priority, and Graph Algorithms modules are explored in this presentation.. </a:t>
            </a:r>
            <a:br>
              <a:rPr lang="en-US" sz="1354" dirty="0">
                <a:solidFill>
                  <a:srgbClr val="34423D">
                    <a:alpha val="99000"/>
                  </a:srgbClr>
                </a:solidFill>
                <a:latin typeface="Inter" pitchFamily="34" charset="0"/>
                <a:ea typeface="Inter" pitchFamily="34" charset="-122"/>
                <a:cs typeface="Inter" pitchFamily="34" charset="-120"/>
              </a:rPr>
            </a:br>
            <a:endParaRPr lang="en-US" sz="1354" dirty="0"/>
          </a:p>
        </p:txBody>
      </p:sp>
      <p:sp>
        <p:nvSpPr>
          <p:cNvPr id="16" name="Shape 13"/>
          <p:cNvSpPr/>
          <p:nvPr/>
        </p:nvSpPr>
        <p:spPr>
          <a:xfrm>
            <a:off x="534924" y="3600450"/>
            <a:ext cx="2125980" cy="0"/>
          </a:xfrm>
          <a:prstGeom prst="rect">
            <a:avLst/>
          </a:prstGeom>
          <a:noFill/>
          <a:ln w="4977">
            <a:solidFill>
              <a:srgbClr val="D3A93A"/>
            </a:solidFill>
            <a:prstDash val="solid"/>
          </a:ln>
        </p:spPr>
        <p:txBody>
          <a:bodyPr/>
          <a:lstStyle/>
          <a:p>
            <a:endParaRPr lang="en-US"/>
          </a:p>
        </p:txBody>
      </p:sp>
      <p:sp>
        <p:nvSpPr>
          <p:cNvPr id="17" name="Shape 14"/>
          <p:cNvSpPr/>
          <p:nvPr/>
        </p:nvSpPr>
        <p:spPr>
          <a:xfrm>
            <a:off x="534924" y="4745736"/>
            <a:ext cx="2057400" cy="123444"/>
          </a:xfrm>
          <a:prstGeom prst="rect">
            <a:avLst/>
          </a:prstGeom>
          <a:noFill/>
          <a:ln/>
        </p:spPr>
        <p:txBody>
          <a:bodyPr/>
          <a:lstStyle/>
          <a:p>
            <a:endParaRPr lang="en-US"/>
          </a:p>
        </p:txBody>
      </p:sp>
      <p:sp>
        <p:nvSpPr>
          <p:cNvPr id="18" name="Shape 15"/>
          <p:cNvSpPr/>
          <p:nvPr/>
        </p:nvSpPr>
        <p:spPr>
          <a:xfrm>
            <a:off x="534924" y="4745736"/>
            <a:ext cx="2057400" cy="123444"/>
          </a:xfrm>
          <a:prstGeom prst="rect">
            <a:avLst/>
          </a:prstGeom>
          <a:noFill/>
          <a:ln/>
        </p:spPr>
        <p:txBody>
          <a:bodyPr/>
          <a:lstStyle/>
          <a:p>
            <a:endParaRPr lang="en-US"/>
          </a:p>
        </p:txBody>
      </p:sp>
      <p:sp>
        <p:nvSpPr>
          <p:cNvPr id="19" name="Text 16"/>
          <p:cNvSpPr/>
          <p:nvPr/>
        </p:nvSpPr>
        <p:spPr>
          <a:xfrm>
            <a:off x="534924" y="4745736"/>
            <a:ext cx="2057400" cy="123444"/>
          </a:xfrm>
          <a:prstGeom prst="rect">
            <a:avLst/>
          </a:prstGeom>
          <a:noFill/>
          <a:ln/>
        </p:spPr>
        <p:txBody>
          <a:bodyPr wrap="square" lIns="0" tIns="0" rIns="0" bIns="0" rtlCol="0" anchor="ctr"/>
          <a:lstStyle/>
          <a:p>
            <a:pPr marL="0" indent="0" algn="l">
              <a:lnSpc>
                <a:spcPts val="604"/>
              </a:lnSpc>
              <a:buNone/>
            </a:pPr>
            <a:r>
              <a:rPr lang="en-US" sz="499" dirty="0">
                <a:solidFill>
                  <a:srgbClr val="66746E">
                    <a:alpha val="99000"/>
                  </a:srgbClr>
                </a:solidFill>
                <a:latin typeface="Inter" pitchFamily="34" charset="0"/>
                <a:ea typeface="Inter" pitchFamily="34" charset="-122"/>
                <a:cs typeface="Inter" pitchFamily="34" charset="-120"/>
              </a:rPr>
              <a:t>License: Apache-2.0</a:t>
            </a:r>
            <a:endParaRPr lang="en-US" sz="499" dirty="0"/>
          </a:p>
        </p:txBody>
      </p:sp>
      <p:sp>
        <p:nvSpPr>
          <p:cNvPr id="20" name="Shape 17"/>
          <p:cNvSpPr/>
          <p:nvPr/>
        </p:nvSpPr>
        <p:spPr>
          <a:xfrm>
            <a:off x="8606790" y="4834890"/>
            <a:ext cx="240030" cy="102870"/>
          </a:xfrm>
          <a:prstGeom prst="rect">
            <a:avLst/>
          </a:prstGeom>
          <a:noFill/>
          <a:ln/>
        </p:spPr>
        <p:txBody>
          <a:bodyPr/>
          <a:lstStyle/>
          <a:p>
            <a:endParaRPr lang="en-US"/>
          </a:p>
        </p:txBody>
      </p:sp>
      <p:sp>
        <p:nvSpPr>
          <p:cNvPr id="21" name="Shape 18"/>
          <p:cNvSpPr/>
          <p:nvPr/>
        </p:nvSpPr>
        <p:spPr>
          <a:xfrm>
            <a:off x="8606790" y="4834890"/>
            <a:ext cx="240030" cy="102870"/>
          </a:xfrm>
          <a:prstGeom prst="rect">
            <a:avLst/>
          </a:prstGeom>
          <a:noFill/>
          <a:ln/>
        </p:spPr>
        <p:txBody>
          <a:bodyPr/>
          <a:lstStyle/>
          <a:p>
            <a:endParaRPr lang="en-US"/>
          </a:p>
        </p:txBody>
      </p:sp>
      <p:sp>
        <p:nvSpPr>
          <p:cNvPr id="22" name="Text 19"/>
          <p:cNvSpPr/>
          <p:nvPr/>
        </p:nvSpPr>
        <p:spPr>
          <a:xfrm>
            <a:off x="8606790"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a:t>
            </a:r>
            <a:endParaRPr lang="en-US" sz="42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0" y="288036"/>
            <a:ext cx="8263890" cy="301752"/>
          </a:xfrm>
          <a:prstGeom prst="rect">
            <a:avLst/>
          </a:prstGeom>
          <a:noFill/>
          <a:ln/>
        </p:spPr>
        <p:txBody>
          <a:bodyPr/>
          <a:lstStyle/>
          <a:p>
            <a:endParaRPr lang="en-US"/>
          </a:p>
        </p:txBody>
      </p:sp>
      <p:sp>
        <p:nvSpPr>
          <p:cNvPr id="6" name="Shape 3"/>
          <p:cNvSpPr/>
          <p:nvPr/>
        </p:nvSpPr>
        <p:spPr>
          <a:xfrm>
            <a:off x="377190" y="288036"/>
            <a:ext cx="8263890" cy="301752"/>
          </a:xfrm>
          <a:prstGeom prst="rect">
            <a:avLst/>
          </a:prstGeom>
          <a:noFill/>
          <a:ln/>
        </p:spPr>
        <p:txBody>
          <a:bodyPr/>
          <a:lstStyle/>
          <a:p>
            <a:endParaRPr lang="en-US"/>
          </a:p>
        </p:txBody>
      </p:sp>
      <p:sp>
        <p:nvSpPr>
          <p:cNvPr id="7" name="Text 4"/>
          <p:cNvSpPr/>
          <p:nvPr/>
        </p:nvSpPr>
        <p:spPr>
          <a:xfrm>
            <a:off x="377190" y="366698"/>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Presenter Information</a:t>
            </a:r>
            <a:endParaRPr lang="en-US" sz="1710" dirty="0"/>
          </a:p>
        </p:txBody>
      </p:sp>
      <p:sp>
        <p:nvSpPr>
          <p:cNvPr id="8" name="Shape 5"/>
          <p:cNvSpPr/>
          <p:nvPr/>
        </p:nvSpPr>
        <p:spPr>
          <a:xfrm>
            <a:off x="377190" y="630936"/>
            <a:ext cx="8263890" cy="192024"/>
          </a:xfrm>
          <a:prstGeom prst="rect">
            <a:avLst/>
          </a:prstGeom>
          <a:noFill/>
          <a:ln/>
        </p:spPr>
        <p:txBody>
          <a:bodyPr/>
          <a:lstStyle/>
          <a:p>
            <a:endParaRPr lang="en-US"/>
          </a:p>
        </p:txBody>
      </p:sp>
      <p:sp>
        <p:nvSpPr>
          <p:cNvPr id="9" name="Shape 6"/>
          <p:cNvSpPr/>
          <p:nvPr/>
        </p:nvSpPr>
        <p:spPr>
          <a:xfrm>
            <a:off x="377190" y="630936"/>
            <a:ext cx="8263890" cy="192024"/>
          </a:xfrm>
          <a:prstGeom prst="rect">
            <a:avLst/>
          </a:prstGeom>
          <a:noFill/>
          <a:ln/>
        </p:spPr>
        <p:txBody>
          <a:bodyPr/>
          <a:lstStyle/>
          <a:p>
            <a:endParaRPr lang="en-US"/>
          </a:p>
        </p:txBody>
      </p:sp>
      <p:sp>
        <p:nvSpPr>
          <p:cNvPr id="11" name="Shape 8"/>
          <p:cNvSpPr/>
          <p:nvPr/>
        </p:nvSpPr>
        <p:spPr>
          <a:xfrm>
            <a:off x="377190"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514350" y="1200150"/>
            <a:ext cx="3840480" cy="1611630"/>
          </a:xfrm>
          <a:prstGeom prst="rect">
            <a:avLst/>
          </a:prstGeom>
          <a:noFill/>
          <a:ln/>
        </p:spPr>
        <p:txBody>
          <a:bodyPr/>
          <a:lstStyle/>
          <a:p>
            <a:endParaRPr lang="en-US"/>
          </a:p>
        </p:txBody>
      </p:sp>
      <p:sp>
        <p:nvSpPr>
          <p:cNvPr id="13" name="Shape 10"/>
          <p:cNvSpPr/>
          <p:nvPr/>
        </p:nvSpPr>
        <p:spPr>
          <a:xfrm>
            <a:off x="514350" y="1200150"/>
            <a:ext cx="3840480" cy="1611630"/>
          </a:xfrm>
          <a:prstGeom prst="rect">
            <a:avLst/>
          </a:prstGeom>
          <a:noFill/>
          <a:ln/>
        </p:spPr>
        <p:txBody>
          <a:bodyPr/>
          <a:lstStyle/>
          <a:p>
            <a:endParaRPr lang="en-US"/>
          </a:p>
        </p:txBody>
      </p:sp>
      <p:sp>
        <p:nvSpPr>
          <p:cNvPr id="15" name="Shape 12"/>
          <p:cNvSpPr/>
          <p:nvPr/>
        </p:nvSpPr>
        <p:spPr>
          <a:xfrm>
            <a:off x="8606791" y="4834890"/>
            <a:ext cx="240030" cy="102870"/>
          </a:xfrm>
          <a:prstGeom prst="rect">
            <a:avLst/>
          </a:prstGeom>
          <a:noFill/>
          <a:ln/>
        </p:spPr>
        <p:txBody>
          <a:bodyPr/>
          <a:lstStyle/>
          <a:p>
            <a:endParaRPr lang="en-US"/>
          </a:p>
        </p:txBody>
      </p:sp>
      <p:sp>
        <p:nvSpPr>
          <p:cNvPr id="16" name="Shape 13"/>
          <p:cNvSpPr/>
          <p:nvPr/>
        </p:nvSpPr>
        <p:spPr>
          <a:xfrm>
            <a:off x="8606791" y="4834890"/>
            <a:ext cx="240030" cy="102870"/>
          </a:xfrm>
          <a:prstGeom prst="rect">
            <a:avLst/>
          </a:prstGeom>
          <a:noFill/>
          <a:ln/>
        </p:spPr>
        <p:txBody>
          <a:bodyPr/>
          <a:lstStyle/>
          <a:p>
            <a:endParaRPr lang="en-US"/>
          </a:p>
        </p:txBody>
      </p:sp>
      <p:sp>
        <p:nvSpPr>
          <p:cNvPr id="17" name="Text 14"/>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a:t>
            </a:r>
            <a:endParaRPr lang="en-US" sz="427" dirty="0"/>
          </a:p>
        </p:txBody>
      </p:sp>
      <p:sp>
        <p:nvSpPr>
          <p:cNvPr id="2" name="Text 12">
            <a:extLst>
              <a:ext uri="{FF2B5EF4-FFF2-40B4-BE49-F238E27FC236}">
                <a16:creationId xmlns:a16="http://schemas.microsoft.com/office/drawing/2014/main" id="{617203DF-4EA3-9535-EBAE-5495ABB19BE5}"/>
              </a:ext>
            </a:extLst>
          </p:cNvPr>
          <p:cNvSpPr/>
          <p:nvPr/>
        </p:nvSpPr>
        <p:spPr>
          <a:xfrm>
            <a:off x="1114425" y="1296033"/>
            <a:ext cx="6789420" cy="2551433"/>
          </a:xfrm>
          <a:prstGeom prst="rect">
            <a:avLst/>
          </a:prstGeom>
          <a:noFill/>
          <a:ln/>
        </p:spPr>
        <p:txBody>
          <a:bodyPr wrap="square" lIns="0" tIns="0" rIns="0" bIns="0" rtlCol="0" anchor="ctr"/>
          <a:lstStyle/>
          <a:p>
            <a:pPr algn="ctr">
              <a:lnSpc>
                <a:spcPts val="1983"/>
              </a:lnSpc>
              <a:spcBef>
                <a:spcPts val="1200"/>
              </a:spcBef>
            </a:pPr>
            <a:r>
              <a:rPr lang="en-US" sz="2000" dirty="0">
                <a:solidFill>
                  <a:srgbClr val="34423D">
                    <a:alpha val="99000"/>
                  </a:srgbClr>
                </a:solidFill>
                <a:ea typeface="Inter" pitchFamily="34" charset="-122"/>
                <a:cs typeface="Inter" pitchFamily="34" charset="-120"/>
              </a:rPr>
              <a:t>Alexander Ricciardi  </a:t>
            </a:r>
            <a:endParaRPr lang="en-US" sz="2000" dirty="0"/>
          </a:p>
          <a:p>
            <a:pPr algn="ctr">
              <a:lnSpc>
                <a:spcPts val="1983"/>
              </a:lnSpc>
              <a:spcBef>
                <a:spcPts val="1200"/>
              </a:spcBef>
            </a:pPr>
            <a:r>
              <a:rPr lang="en-US" sz="2000" dirty="0">
                <a:solidFill>
                  <a:srgbClr val="34423D">
                    <a:alpha val="99000"/>
                  </a:srgbClr>
                </a:solidFill>
                <a:ea typeface="Inter" pitchFamily="34" charset="-122"/>
                <a:cs typeface="Inter" pitchFamily="34" charset="-120"/>
              </a:rPr>
              <a:t>Colorado State University Global  </a:t>
            </a:r>
            <a:endParaRPr lang="en-US" sz="2000" dirty="0"/>
          </a:p>
          <a:p>
            <a:pPr algn="ctr">
              <a:lnSpc>
                <a:spcPts val="1983"/>
              </a:lnSpc>
              <a:spcBef>
                <a:spcPts val="1200"/>
              </a:spcBef>
            </a:pPr>
            <a:r>
              <a:rPr lang="en-US" sz="2000" dirty="0">
                <a:solidFill>
                  <a:srgbClr val="34423D">
                    <a:alpha val="99000"/>
                  </a:srgbClr>
                </a:solidFill>
                <a:ea typeface="Inter" pitchFamily="34" charset="-122"/>
                <a:cs typeface="Inter" pitchFamily="34" charset="-120"/>
              </a:rPr>
              <a:t>CSC506 - Design and Analysis of Algorithms  </a:t>
            </a:r>
            <a:endParaRPr lang="en-US" sz="2000" dirty="0"/>
          </a:p>
          <a:p>
            <a:pPr algn="ctr">
              <a:lnSpc>
                <a:spcPts val="1983"/>
              </a:lnSpc>
              <a:spcBef>
                <a:spcPts val="1200"/>
              </a:spcBef>
            </a:pPr>
            <a:r>
              <a:rPr lang="en-US" sz="2000" dirty="0">
                <a:solidFill>
                  <a:srgbClr val="34423D">
                    <a:alpha val="99000"/>
                  </a:srgbClr>
                </a:solidFill>
                <a:ea typeface="Inter" pitchFamily="34" charset="-122"/>
                <a:cs typeface="Inter" pitchFamily="34" charset="-120"/>
              </a:rPr>
              <a:t>Professor Dr. Jonathan Vanover  </a:t>
            </a:r>
            <a:endParaRPr lang="en-US" sz="2000" dirty="0"/>
          </a:p>
          <a:p>
            <a:pPr algn="ctr">
              <a:lnSpc>
                <a:spcPts val="1983"/>
              </a:lnSpc>
              <a:spcBef>
                <a:spcPts val="1200"/>
              </a:spcBef>
            </a:pPr>
            <a:r>
              <a:rPr lang="en-US" sz="2000" dirty="0">
                <a:solidFill>
                  <a:srgbClr val="34423D">
                    <a:alpha val="99000"/>
                  </a:srgbClr>
                </a:solidFill>
                <a:ea typeface="Inter" pitchFamily="34" charset="-122"/>
                <a:cs typeface="Inter" pitchFamily="34" charset="-120"/>
              </a:rPr>
              <a:t>May 10, 2026</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7"/>
        </a:solidFill>
        <a:effectLst/>
      </p:bgPr>
    </p:bg>
    <p:spTree>
      <p:nvGrpSpPr>
        <p:cNvPr id="1" name="">
          <a:extLst>
            <a:ext uri="{FF2B5EF4-FFF2-40B4-BE49-F238E27FC236}">
              <a16:creationId xmlns:a16="http://schemas.microsoft.com/office/drawing/2014/main" id="{8048B8F2-4327-EC1F-4DA2-146A8893BFA4}"/>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D07E62C3-286D-E5B1-6823-16647F67426D}"/>
              </a:ext>
            </a:extLst>
          </p:cNvPr>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a:extLst>
              <a:ext uri="{FF2B5EF4-FFF2-40B4-BE49-F238E27FC236}">
                <a16:creationId xmlns:a16="http://schemas.microsoft.com/office/drawing/2014/main" id="{C867D961-CB25-EF3A-4B57-D8F0437C7304}"/>
              </a:ext>
            </a:extLst>
          </p:cNvPr>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a:extLst>
              <a:ext uri="{FF2B5EF4-FFF2-40B4-BE49-F238E27FC236}">
                <a16:creationId xmlns:a16="http://schemas.microsoft.com/office/drawing/2014/main" id="{4DB9781D-A0B9-B6CA-CE8C-E56D09F1CF35}"/>
              </a:ext>
            </a:extLst>
          </p:cNvPr>
          <p:cNvSpPr/>
          <p:nvPr/>
        </p:nvSpPr>
        <p:spPr>
          <a:xfrm>
            <a:off x="377190" y="288036"/>
            <a:ext cx="8263890" cy="301752"/>
          </a:xfrm>
          <a:prstGeom prst="rect">
            <a:avLst/>
          </a:prstGeom>
          <a:noFill/>
          <a:ln/>
        </p:spPr>
        <p:txBody>
          <a:bodyPr/>
          <a:lstStyle/>
          <a:p>
            <a:endParaRPr lang="en-US"/>
          </a:p>
        </p:txBody>
      </p:sp>
      <p:sp>
        <p:nvSpPr>
          <p:cNvPr id="6" name="Shape 3">
            <a:extLst>
              <a:ext uri="{FF2B5EF4-FFF2-40B4-BE49-F238E27FC236}">
                <a16:creationId xmlns:a16="http://schemas.microsoft.com/office/drawing/2014/main" id="{8295434B-61CF-23B9-304F-FD048833799F}"/>
              </a:ext>
            </a:extLst>
          </p:cNvPr>
          <p:cNvSpPr/>
          <p:nvPr/>
        </p:nvSpPr>
        <p:spPr>
          <a:xfrm>
            <a:off x="377190" y="288036"/>
            <a:ext cx="8263890" cy="301752"/>
          </a:xfrm>
          <a:prstGeom prst="rect">
            <a:avLst/>
          </a:prstGeom>
          <a:noFill/>
          <a:ln/>
        </p:spPr>
        <p:txBody>
          <a:bodyPr/>
          <a:lstStyle/>
          <a:p>
            <a:endParaRPr lang="en-US"/>
          </a:p>
        </p:txBody>
      </p:sp>
      <p:sp>
        <p:nvSpPr>
          <p:cNvPr id="7" name="Text 4">
            <a:extLst>
              <a:ext uri="{FF2B5EF4-FFF2-40B4-BE49-F238E27FC236}">
                <a16:creationId xmlns:a16="http://schemas.microsoft.com/office/drawing/2014/main" id="{877F82B9-C543-BD59-ECD7-64E782D15E3F}"/>
              </a:ext>
            </a:extLst>
          </p:cNvPr>
          <p:cNvSpPr/>
          <p:nvPr/>
        </p:nvSpPr>
        <p:spPr>
          <a:xfrm>
            <a:off x="377190" y="366698"/>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Important Note</a:t>
            </a:r>
            <a:endParaRPr lang="en-US" sz="1710" dirty="0"/>
          </a:p>
        </p:txBody>
      </p:sp>
      <p:sp>
        <p:nvSpPr>
          <p:cNvPr id="8" name="Shape 5">
            <a:extLst>
              <a:ext uri="{FF2B5EF4-FFF2-40B4-BE49-F238E27FC236}">
                <a16:creationId xmlns:a16="http://schemas.microsoft.com/office/drawing/2014/main" id="{0FA8F3AA-B69A-B3B2-6486-49B65A1D53C3}"/>
              </a:ext>
            </a:extLst>
          </p:cNvPr>
          <p:cNvSpPr/>
          <p:nvPr/>
        </p:nvSpPr>
        <p:spPr>
          <a:xfrm>
            <a:off x="377190" y="630936"/>
            <a:ext cx="8263890" cy="192024"/>
          </a:xfrm>
          <a:prstGeom prst="rect">
            <a:avLst/>
          </a:prstGeom>
          <a:noFill/>
          <a:ln/>
        </p:spPr>
        <p:txBody>
          <a:bodyPr/>
          <a:lstStyle/>
          <a:p>
            <a:endParaRPr lang="en-US"/>
          </a:p>
        </p:txBody>
      </p:sp>
      <p:sp>
        <p:nvSpPr>
          <p:cNvPr id="9" name="Shape 6">
            <a:extLst>
              <a:ext uri="{FF2B5EF4-FFF2-40B4-BE49-F238E27FC236}">
                <a16:creationId xmlns:a16="http://schemas.microsoft.com/office/drawing/2014/main" id="{0B352D7E-4E6B-4AD4-A034-E4EEF7394C3E}"/>
              </a:ext>
            </a:extLst>
          </p:cNvPr>
          <p:cNvSpPr/>
          <p:nvPr/>
        </p:nvSpPr>
        <p:spPr>
          <a:xfrm>
            <a:off x="377190" y="630936"/>
            <a:ext cx="8263890" cy="192024"/>
          </a:xfrm>
          <a:prstGeom prst="rect">
            <a:avLst/>
          </a:prstGeom>
          <a:noFill/>
          <a:ln/>
        </p:spPr>
        <p:txBody>
          <a:bodyPr/>
          <a:lstStyle/>
          <a:p>
            <a:endParaRPr lang="en-US"/>
          </a:p>
        </p:txBody>
      </p:sp>
      <p:sp>
        <p:nvSpPr>
          <p:cNvPr id="11" name="Shape 8">
            <a:extLst>
              <a:ext uri="{FF2B5EF4-FFF2-40B4-BE49-F238E27FC236}">
                <a16:creationId xmlns:a16="http://schemas.microsoft.com/office/drawing/2014/main" id="{9FD11744-18E4-1869-EF0E-CDA8B296C6BF}"/>
              </a:ext>
            </a:extLst>
          </p:cNvPr>
          <p:cNvSpPr/>
          <p:nvPr/>
        </p:nvSpPr>
        <p:spPr>
          <a:xfrm>
            <a:off x="377190" y="870966"/>
            <a:ext cx="8263890" cy="0"/>
          </a:xfrm>
          <a:prstGeom prst="rect">
            <a:avLst/>
          </a:prstGeom>
          <a:noFill/>
          <a:ln w="4524">
            <a:solidFill>
              <a:srgbClr val="D3A93A"/>
            </a:solidFill>
            <a:prstDash val="solid"/>
          </a:ln>
        </p:spPr>
        <p:txBody>
          <a:bodyPr/>
          <a:lstStyle/>
          <a:p>
            <a:endParaRPr lang="en-US"/>
          </a:p>
        </p:txBody>
      </p:sp>
      <p:sp>
        <p:nvSpPr>
          <p:cNvPr id="12" name="Shape 9">
            <a:extLst>
              <a:ext uri="{FF2B5EF4-FFF2-40B4-BE49-F238E27FC236}">
                <a16:creationId xmlns:a16="http://schemas.microsoft.com/office/drawing/2014/main" id="{BA962BB9-F7D4-C0E8-EFE8-03457BC7902D}"/>
              </a:ext>
            </a:extLst>
          </p:cNvPr>
          <p:cNvSpPr/>
          <p:nvPr/>
        </p:nvSpPr>
        <p:spPr>
          <a:xfrm>
            <a:off x="514350" y="1200150"/>
            <a:ext cx="3840480" cy="1611630"/>
          </a:xfrm>
          <a:prstGeom prst="rect">
            <a:avLst/>
          </a:prstGeom>
          <a:noFill/>
          <a:ln/>
        </p:spPr>
        <p:txBody>
          <a:bodyPr/>
          <a:lstStyle/>
          <a:p>
            <a:endParaRPr lang="en-US"/>
          </a:p>
        </p:txBody>
      </p:sp>
      <p:sp>
        <p:nvSpPr>
          <p:cNvPr id="13" name="Shape 10">
            <a:extLst>
              <a:ext uri="{FF2B5EF4-FFF2-40B4-BE49-F238E27FC236}">
                <a16:creationId xmlns:a16="http://schemas.microsoft.com/office/drawing/2014/main" id="{2B9E4378-3F6A-D394-9679-EAE886E2DA8A}"/>
              </a:ext>
            </a:extLst>
          </p:cNvPr>
          <p:cNvSpPr/>
          <p:nvPr/>
        </p:nvSpPr>
        <p:spPr>
          <a:xfrm>
            <a:off x="514350" y="1200150"/>
            <a:ext cx="3840480" cy="1611630"/>
          </a:xfrm>
          <a:prstGeom prst="rect">
            <a:avLst/>
          </a:prstGeom>
          <a:noFill/>
          <a:ln/>
        </p:spPr>
        <p:txBody>
          <a:bodyPr/>
          <a:lstStyle/>
          <a:p>
            <a:endParaRPr lang="en-US"/>
          </a:p>
        </p:txBody>
      </p:sp>
      <p:sp>
        <p:nvSpPr>
          <p:cNvPr id="15" name="Shape 12">
            <a:extLst>
              <a:ext uri="{FF2B5EF4-FFF2-40B4-BE49-F238E27FC236}">
                <a16:creationId xmlns:a16="http://schemas.microsoft.com/office/drawing/2014/main" id="{37B89A0D-A907-510F-8A35-EDA8425174C2}"/>
              </a:ext>
            </a:extLst>
          </p:cNvPr>
          <p:cNvSpPr/>
          <p:nvPr/>
        </p:nvSpPr>
        <p:spPr>
          <a:xfrm>
            <a:off x="8606791" y="4834890"/>
            <a:ext cx="240030" cy="102870"/>
          </a:xfrm>
          <a:prstGeom prst="rect">
            <a:avLst/>
          </a:prstGeom>
          <a:noFill/>
          <a:ln/>
        </p:spPr>
        <p:txBody>
          <a:bodyPr/>
          <a:lstStyle/>
          <a:p>
            <a:endParaRPr lang="en-US"/>
          </a:p>
        </p:txBody>
      </p:sp>
      <p:sp>
        <p:nvSpPr>
          <p:cNvPr id="16" name="Shape 13">
            <a:extLst>
              <a:ext uri="{FF2B5EF4-FFF2-40B4-BE49-F238E27FC236}">
                <a16:creationId xmlns:a16="http://schemas.microsoft.com/office/drawing/2014/main" id="{00E4FC7F-A1CA-FBA5-3E87-9B5A6348B4F8}"/>
              </a:ext>
            </a:extLst>
          </p:cNvPr>
          <p:cNvSpPr/>
          <p:nvPr/>
        </p:nvSpPr>
        <p:spPr>
          <a:xfrm>
            <a:off x="8606791" y="4834890"/>
            <a:ext cx="240030" cy="102870"/>
          </a:xfrm>
          <a:prstGeom prst="rect">
            <a:avLst/>
          </a:prstGeom>
          <a:noFill/>
          <a:ln/>
        </p:spPr>
        <p:txBody>
          <a:bodyPr/>
          <a:lstStyle/>
          <a:p>
            <a:endParaRPr lang="en-US"/>
          </a:p>
        </p:txBody>
      </p:sp>
      <p:sp>
        <p:nvSpPr>
          <p:cNvPr id="17" name="Text 14">
            <a:extLst>
              <a:ext uri="{FF2B5EF4-FFF2-40B4-BE49-F238E27FC236}">
                <a16:creationId xmlns:a16="http://schemas.microsoft.com/office/drawing/2014/main" id="{FA552DE7-CB5C-E164-AAFE-08FF5213064D}"/>
              </a:ext>
            </a:extLst>
          </p:cNvPr>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a:t>
            </a:r>
            <a:endParaRPr lang="en-US" sz="427" dirty="0"/>
          </a:p>
        </p:txBody>
      </p:sp>
      <p:sp>
        <p:nvSpPr>
          <p:cNvPr id="2" name="Text 12">
            <a:extLst>
              <a:ext uri="{FF2B5EF4-FFF2-40B4-BE49-F238E27FC236}">
                <a16:creationId xmlns:a16="http://schemas.microsoft.com/office/drawing/2014/main" id="{914E4E39-7B1B-5C76-90DF-F212C10E59EF}"/>
              </a:ext>
            </a:extLst>
          </p:cNvPr>
          <p:cNvSpPr/>
          <p:nvPr/>
        </p:nvSpPr>
        <p:spPr>
          <a:xfrm>
            <a:off x="1114425" y="1296033"/>
            <a:ext cx="6789420" cy="2551433"/>
          </a:xfrm>
          <a:prstGeom prst="rect">
            <a:avLst/>
          </a:prstGeom>
          <a:noFill/>
          <a:ln/>
        </p:spPr>
        <p:txBody>
          <a:bodyPr wrap="square" lIns="0" tIns="0" rIns="0" bIns="0" rtlCol="0" anchor="ctr"/>
          <a:lstStyle/>
          <a:p>
            <a:pPr>
              <a:lnSpc>
                <a:spcPts val="1983"/>
              </a:lnSpc>
              <a:spcBef>
                <a:spcPts val="1200"/>
              </a:spcBef>
            </a:pPr>
            <a:r>
              <a:rPr lang="en-US" sz="1600" dirty="0"/>
              <a:t>This presentation showcases the </a:t>
            </a:r>
            <a:r>
              <a:rPr lang="en-US" sz="1600" dirty="0">
                <a:ea typeface="Inter" pitchFamily="34" charset="-122"/>
                <a:cs typeface="Inter" pitchFamily="34" charset="-120"/>
              </a:rPr>
              <a:t>CSC506 Final Portfolio Presentation.</a:t>
            </a:r>
          </a:p>
          <a:p>
            <a:pPr>
              <a:lnSpc>
                <a:spcPts val="1983"/>
              </a:lnSpc>
              <a:spcBef>
                <a:spcPts val="1200"/>
              </a:spcBef>
            </a:pPr>
            <a:r>
              <a:rPr lang="en-US" sz="1600" dirty="0">
                <a:ea typeface="Inter" pitchFamily="34" charset="-122"/>
                <a:cs typeface="Inter" pitchFamily="34" charset="-120"/>
              </a:rPr>
              <a:t>It focuses the integration of the prior milestone and critical thinking projects and on the last module of the course: Bubble </a:t>
            </a:r>
            <a:r>
              <a:rPr lang="en-US" sz="1600" dirty="0" err="1">
                <a:ea typeface="Inter" pitchFamily="34" charset="-122"/>
                <a:cs typeface="Inter" pitchFamily="34" charset="-120"/>
              </a:rPr>
              <a:t>Quickselect</a:t>
            </a:r>
            <a:r>
              <a:rPr lang="en-US" sz="1600" dirty="0">
                <a:ea typeface="Inter" pitchFamily="34" charset="-122"/>
                <a:cs typeface="Inter" pitchFamily="34" charset="-120"/>
              </a:rPr>
              <a:t> Sets; as well as the final comprehensive performance analysis.</a:t>
            </a:r>
          </a:p>
          <a:p>
            <a:pPr>
              <a:lnSpc>
                <a:spcPts val="1983"/>
              </a:lnSpc>
              <a:spcBef>
                <a:spcPts val="1200"/>
              </a:spcBef>
            </a:pPr>
            <a:r>
              <a:rPr lang="en-US" sz="1600" dirty="0"/>
              <a:t>Only the overview, analysis, and recommendation guides features of the Search Comparison, Linked Structures, Tree Map, Hash Priority, and Graph Algorithms modules are explored in this presentation.</a:t>
            </a:r>
          </a:p>
        </p:txBody>
      </p:sp>
    </p:spTree>
    <p:extLst>
      <p:ext uri="{BB962C8B-B14F-4D97-AF65-F5344CB8AC3E}">
        <p14:creationId xmlns:p14="http://schemas.microsoft.com/office/powerpoint/2010/main" val="3774091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App Landing Page</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Show the root application as the unified entry point for the complete Portfolio Module 8 system.</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5"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dirty="0"/>
          </a:p>
        </p:txBody>
      </p:sp>
      <p:sp>
        <p:nvSpPr>
          <p:cNvPr id="13" name="Shape 10"/>
          <p:cNvSpPr/>
          <p:nvPr/>
        </p:nvSpPr>
        <p:spPr>
          <a:xfrm>
            <a:off x="617220" y="1282446"/>
            <a:ext cx="3326130" cy="192024"/>
          </a:xfrm>
          <a:prstGeom prst="rect">
            <a:avLst/>
          </a:prstGeom>
          <a:noFill/>
          <a:ln/>
        </p:spPr>
        <p:txBody>
          <a:bodyPr/>
          <a:lstStyle/>
          <a:p>
            <a:endParaRPr lang="en-US"/>
          </a:p>
        </p:txBody>
      </p:sp>
      <p:sp>
        <p:nvSpPr>
          <p:cNvPr id="14" name="Shape 11"/>
          <p:cNvSpPr/>
          <p:nvPr/>
        </p:nvSpPr>
        <p:spPr>
          <a:xfrm>
            <a:off x="617220" y="1282446"/>
            <a:ext cx="3326130" cy="192024"/>
          </a:xfrm>
          <a:prstGeom prst="rect">
            <a:avLst/>
          </a:prstGeom>
          <a:noFill/>
          <a:ln/>
        </p:spPr>
        <p:txBody>
          <a:bodyPr/>
          <a:lstStyle/>
          <a:p>
            <a:endParaRPr lang="en-US"/>
          </a:p>
        </p:txBody>
      </p:sp>
      <p:sp>
        <p:nvSpPr>
          <p:cNvPr id="15" name="Text 12"/>
          <p:cNvSpPr/>
          <p:nvPr/>
        </p:nvSpPr>
        <p:spPr>
          <a:xfrm>
            <a:off x="617220" y="1282446"/>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
        <p:nvSpPr>
          <p:cNvPr id="16" name="Shape 13"/>
          <p:cNvSpPr/>
          <p:nvPr/>
        </p:nvSpPr>
        <p:spPr>
          <a:xfrm>
            <a:off x="644651" y="1693926"/>
            <a:ext cx="3257550" cy="720090"/>
          </a:xfrm>
          <a:prstGeom prst="rect">
            <a:avLst/>
          </a:prstGeom>
          <a:noFill/>
          <a:ln/>
        </p:spPr>
        <p:txBody>
          <a:bodyPr/>
          <a:lstStyle/>
          <a:p>
            <a:endParaRPr lang="en-US"/>
          </a:p>
        </p:txBody>
      </p:sp>
      <p:sp>
        <p:nvSpPr>
          <p:cNvPr id="17" name="Shape 14"/>
          <p:cNvSpPr/>
          <p:nvPr/>
        </p:nvSpPr>
        <p:spPr>
          <a:xfrm>
            <a:off x="644651" y="1693926"/>
            <a:ext cx="3257550" cy="720090"/>
          </a:xfrm>
          <a:prstGeom prst="rect">
            <a:avLst/>
          </a:prstGeom>
          <a:noFill/>
          <a:ln/>
        </p:spPr>
        <p:txBody>
          <a:bodyPr/>
          <a:lstStyle/>
          <a:p>
            <a:endParaRPr lang="en-US"/>
          </a:p>
        </p:txBody>
      </p:sp>
      <p:sp>
        <p:nvSpPr>
          <p:cNvPr id="18" name="Text 15"/>
          <p:cNvSpPr/>
          <p:nvPr/>
        </p:nvSpPr>
        <p:spPr>
          <a:xfrm>
            <a:off x="644651"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One Streamlit entry point unifies every portfolio module.</a:t>
            </a:r>
            <a:endParaRPr lang="en-US" sz="1568" dirty="0"/>
          </a:p>
        </p:txBody>
      </p:sp>
      <p:sp>
        <p:nvSpPr>
          <p:cNvPr id="19" name="Shape 16"/>
          <p:cNvSpPr/>
          <p:nvPr/>
        </p:nvSpPr>
        <p:spPr>
          <a:xfrm>
            <a:off x="644651" y="2667762"/>
            <a:ext cx="3257550" cy="720090"/>
          </a:xfrm>
          <a:prstGeom prst="rect">
            <a:avLst/>
          </a:prstGeom>
          <a:noFill/>
          <a:ln/>
        </p:spPr>
        <p:txBody>
          <a:bodyPr/>
          <a:lstStyle/>
          <a:p>
            <a:endParaRPr lang="en-US"/>
          </a:p>
        </p:txBody>
      </p:sp>
      <p:sp>
        <p:nvSpPr>
          <p:cNvPr id="20" name="Shape 17"/>
          <p:cNvSpPr/>
          <p:nvPr/>
        </p:nvSpPr>
        <p:spPr>
          <a:xfrm>
            <a:off x="644651" y="2667762"/>
            <a:ext cx="3257550" cy="720090"/>
          </a:xfrm>
          <a:prstGeom prst="rect">
            <a:avLst/>
          </a:prstGeom>
          <a:noFill/>
          <a:ln/>
        </p:spPr>
        <p:txBody>
          <a:bodyPr/>
          <a:lstStyle/>
          <a:p>
            <a:endParaRPr lang="en-US"/>
          </a:p>
        </p:txBody>
      </p:sp>
      <p:sp>
        <p:nvSpPr>
          <p:cNvPr id="21" name="Text 18"/>
          <p:cNvSpPr/>
          <p:nvPr/>
        </p:nvSpPr>
        <p:spPr>
          <a:xfrm>
            <a:off x="644651"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Tabs separate search, structures, maps, hashes, graphs, sets, and analysis.</a:t>
            </a:r>
            <a:endParaRPr lang="en-US" sz="1568" dirty="0"/>
          </a:p>
        </p:txBody>
      </p:sp>
      <p:sp>
        <p:nvSpPr>
          <p:cNvPr id="22" name="Shape 19"/>
          <p:cNvSpPr/>
          <p:nvPr/>
        </p:nvSpPr>
        <p:spPr>
          <a:xfrm>
            <a:off x="644651" y="3641598"/>
            <a:ext cx="3257550" cy="720090"/>
          </a:xfrm>
          <a:prstGeom prst="rect">
            <a:avLst/>
          </a:prstGeom>
          <a:noFill/>
          <a:ln/>
        </p:spPr>
        <p:txBody>
          <a:bodyPr/>
          <a:lstStyle/>
          <a:p>
            <a:endParaRPr lang="en-US"/>
          </a:p>
        </p:txBody>
      </p:sp>
      <p:sp>
        <p:nvSpPr>
          <p:cNvPr id="23" name="Shape 20"/>
          <p:cNvSpPr/>
          <p:nvPr/>
        </p:nvSpPr>
        <p:spPr>
          <a:xfrm>
            <a:off x="644651" y="3641598"/>
            <a:ext cx="3257550" cy="720090"/>
          </a:xfrm>
          <a:prstGeom prst="rect">
            <a:avLst/>
          </a:prstGeom>
          <a:noFill/>
          <a:ln/>
        </p:spPr>
        <p:txBody>
          <a:bodyPr/>
          <a:lstStyle/>
          <a:p>
            <a:endParaRPr lang="en-US"/>
          </a:p>
        </p:txBody>
      </p:sp>
      <p:sp>
        <p:nvSpPr>
          <p:cNvPr id="24" name="Text 21"/>
          <p:cNvSpPr/>
          <p:nvPr/>
        </p:nvSpPr>
        <p:spPr>
          <a:xfrm>
            <a:off x="644651"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screenshot proves the final system is integrated, not separate demos.</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488532" y="1083564"/>
            <a:ext cx="2498906"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3</a:t>
            </a:r>
            <a:endParaRPr lang="en-US" sz="4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Search Comparison Overview</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Introduce the Search Comparison module and its workflow for linear search, binary search, and supporting analysis tabs.</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889754" y="1049273"/>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dirty="0"/>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7" y="1693926"/>
            <a:ext cx="3257550" cy="720090"/>
          </a:xfrm>
          <a:prstGeom prst="rect">
            <a:avLst/>
          </a:prstGeom>
          <a:noFill/>
          <a:ln/>
        </p:spPr>
        <p:txBody>
          <a:bodyPr/>
          <a:lstStyle/>
          <a:p>
            <a:endParaRPr lang="en-US"/>
          </a:p>
        </p:txBody>
      </p:sp>
      <p:sp>
        <p:nvSpPr>
          <p:cNvPr id="17" name="Shape 14"/>
          <p:cNvSpPr/>
          <p:nvPr/>
        </p:nvSpPr>
        <p:spPr>
          <a:xfrm>
            <a:off x="5122927" y="1693926"/>
            <a:ext cx="3257550" cy="720090"/>
          </a:xfrm>
          <a:prstGeom prst="rect">
            <a:avLst/>
          </a:prstGeom>
          <a:noFill/>
          <a:ln/>
        </p:spPr>
        <p:txBody>
          <a:bodyPr/>
          <a:lstStyle/>
          <a:p>
            <a:endParaRPr lang="en-US"/>
          </a:p>
        </p:txBody>
      </p:sp>
      <p:sp>
        <p:nvSpPr>
          <p:cNvPr id="18" name="Text 15"/>
          <p:cNvSpPr/>
          <p:nvPr/>
        </p:nvSpPr>
        <p:spPr>
          <a:xfrm>
            <a:off x="5122927" y="167063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Linear search and binary search are compared in one workflow.</a:t>
            </a:r>
            <a:endParaRPr lang="en-US" sz="1568" dirty="0"/>
          </a:p>
        </p:txBody>
      </p:sp>
      <p:sp>
        <p:nvSpPr>
          <p:cNvPr id="19" name="Shape 16"/>
          <p:cNvSpPr/>
          <p:nvPr/>
        </p:nvSpPr>
        <p:spPr>
          <a:xfrm>
            <a:off x="5122927" y="2667762"/>
            <a:ext cx="3257550" cy="720090"/>
          </a:xfrm>
          <a:prstGeom prst="rect">
            <a:avLst/>
          </a:prstGeom>
          <a:noFill/>
          <a:ln/>
        </p:spPr>
        <p:txBody>
          <a:bodyPr/>
          <a:lstStyle/>
          <a:p>
            <a:endParaRPr lang="en-US"/>
          </a:p>
        </p:txBody>
      </p:sp>
      <p:sp>
        <p:nvSpPr>
          <p:cNvPr id="20" name="Shape 17"/>
          <p:cNvSpPr/>
          <p:nvPr/>
        </p:nvSpPr>
        <p:spPr>
          <a:xfrm>
            <a:off x="5122927" y="2667762"/>
            <a:ext cx="3257550" cy="720090"/>
          </a:xfrm>
          <a:prstGeom prst="rect">
            <a:avLst/>
          </a:prstGeom>
          <a:noFill/>
          <a:ln/>
        </p:spPr>
        <p:txBody>
          <a:bodyPr/>
          <a:lstStyle/>
          <a:p>
            <a:endParaRPr lang="en-US"/>
          </a:p>
        </p:txBody>
      </p:sp>
      <p:sp>
        <p:nvSpPr>
          <p:cNvPr id="21" name="Text 18"/>
          <p:cNvSpPr/>
          <p:nvPr/>
        </p:nvSpPr>
        <p:spPr>
          <a:xfrm>
            <a:off x="5122927" y="264447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Local tabs move from setup to execution, benchmark, and guidance.</a:t>
            </a:r>
            <a:endParaRPr lang="en-US" sz="1568" dirty="0"/>
          </a:p>
        </p:txBody>
      </p:sp>
      <p:sp>
        <p:nvSpPr>
          <p:cNvPr id="22" name="Shape 19"/>
          <p:cNvSpPr/>
          <p:nvPr/>
        </p:nvSpPr>
        <p:spPr>
          <a:xfrm>
            <a:off x="5122927" y="3641598"/>
            <a:ext cx="3257550" cy="720090"/>
          </a:xfrm>
          <a:prstGeom prst="rect">
            <a:avLst/>
          </a:prstGeom>
          <a:noFill/>
          <a:ln/>
        </p:spPr>
        <p:txBody>
          <a:bodyPr/>
          <a:lstStyle/>
          <a:p>
            <a:endParaRPr lang="en-US"/>
          </a:p>
        </p:txBody>
      </p:sp>
      <p:sp>
        <p:nvSpPr>
          <p:cNvPr id="23" name="Shape 20"/>
          <p:cNvSpPr/>
          <p:nvPr/>
        </p:nvSpPr>
        <p:spPr>
          <a:xfrm>
            <a:off x="5122927" y="3641598"/>
            <a:ext cx="3257550" cy="720090"/>
          </a:xfrm>
          <a:prstGeom prst="rect">
            <a:avLst/>
          </a:prstGeom>
          <a:noFill/>
          <a:ln/>
        </p:spPr>
        <p:txBody>
          <a:bodyPr/>
          <a:lstStyle/>
          <a:p>
            <a:endParaRPr lang="en-US"/>
          </a:p>
        </p:txBody>
      </p:sp>
      <p:sp>
        <p:nvSpPr>
          <p:cNvPr id="24" name="Text 21"/>
          <p:cNvSpPr/>
          <p:nvPr/>
        </p:nvSpPr>
        <p:spPr>
          <a:xfrm>
            <a:off x="5122927" y="361830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screen turns a textbook comparison into a visible lab.</a:t>
            </a:r>
            <a:endParaRPr lang="en-US" sz="1568" dirty="0"/>
          </a:p>
        </p:txBody>
      </p:sp>
      <p:sp>
        <p:nvSpPr>
          <p:cNvPr id="25" name="Shape 22"/>
          <p:cNvSpPr/>
          <p:nvPr/>
        </p:nvSpPr>
        <p:spPr>
          <a:xfrm>
            <a:off x="493777"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897017" y="1083564"/>
            <a:ext cx="3068285"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4</a:t>
            </a:r>
            <a:endParaRPr lang="en-US" sz="427" dirty="0"/>
          </a:p>
        </p:txBody>
      </p:sp>
      <p:sp>
        <p:nvSpPr>
          <p:cNvPr id="2" name="Text 12">
            <a:extLst>
              <a:ext uri="{FF2B5EF4-FFF2-40B4-BE49-F238E27FC236}">
                <a16:creationId xmlns:a16="http://schemas.microsoft.com/office/drawing/2014/main" id="{29B5B734-5714-C517-6F9C-45F8325C3D51}"/>
              </a:ext>
            </a:extLst>
          </p:cNvPr>
          <p:cNvSpPr/>
          <p:nvPr/>
        </p:nvSpPr>
        <p:spPr>
          <a:xfrm>
            <a:off x="5054347" y="1193292"/>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Search Comparison Big-O Analysis</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Connect the search module to Big-O notation and explain why linear and logarithmic growth behave differently.</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7"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54" y="1693926"/>
            <a:ext cx="3257550" cy="720090"/>
          </a:xfrm>
          <a:prstGeom prst="rect">
            <a:avLst/>
          </a:prstGeom>
          <a:noFill/>
          <a:ln/>
        </p:spPr>
        <p:txBody>
          <a:bodyPr/>
          <a:lstStyle/>
          <a:p>
            <a:endParaRPr lang="en-US"/>
          </a:p>
        </p:txBody>
      </p:sp>
      <p:sp>
        <p:nvSpPr>
          <p:cNvPr id="17" name="Shape 14"/>
          <p:cNvSpPr/>
          <p:nvPr/>
        </p:nvSpPr>
        <p:spPr>
          <a:xfrm>
            <a:off x="644654" y="1693926"/>
            <a:ext cx="3257550" cy="720090"/>
          </a:xfrm>
          <a:prstGeom prst="rect">
            <a:avLst/>
          </a:prstGeom>
          <a:noFill/>
          <a:ln/>
        </p:spPr>
        <p:txBody>
          <a:bodyPr/>
          <a:lstStyle/>
          <a:p>
            <a:endParaRPr lang="en-US"/>
          </a:p>
        </p:txBody>
      </p:sp>
      <p:sp>
        <p:nvSpPr>
          <p:cNvPr id="18" name="Text 15"/>
          <p:cNvSpPr/>
          <p:nvPr/>
        </p:nvSpPr>
        <p:spPr>
          <a:xfrm>
            <a:off x="644654"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Linear search can inspect every item: O(n).</a:t>
            </a:r>
            <a:endParaRPr lang="en-US" sz="1568" dirty="0"/>
          </a:p>
        </p:txBody>
      </p:sp>
      <p:sp>
        <p:nvSpPr>
          <p:cNvPr id="19" name="Shape 16"/>
          <p:cNvSpPr/>
          <p:nvPr/>
        </p:nvSpPr>
        <p:spPr>
          <a:xfrm>
            <a:off x="644654" y="2667762"/>
            <a:ext cx="3257550" cy="720090"/>
          </a:xfrm>
          <a:prstGeom prst="rect">
            <a:avLst/>
          </a:prstGeom>
          <a:noFill/>
          <a:ln/>
        </p:spPr>
        <p:txBody>
          <a:bodyPr/>
          <a:lstStyle/>
          <a:p>
            <a:endParaRPr lang="en-US"/>
          </a:p>
        </p:txBody>
      </p:sp>
      <p:sp>
        <p:nvSpPr>
          <p:cNvPr id="20" name="Shape 17"/>
          <p:cNvSpPr/>
          <p:nvPr/>
        </p:nvSpPr>
        <p:spPr>
          <a:xfrm>
            <a:off x="644654" y="2667762"/>
            <a:ext cx="3257550" cy="720090"/>
          </a:xfrm>
          <a:prstGeom prst="rect">
            <a:avLst/>
          </a:prstGeom>
          <a:noFill/>
          <a:ln/>
        </p:spPr>
        <p:txBody>
          <a:bodyPr/>
          <a:lstStyle/>
          <a:p>
            <a:endParaRPr lang="en-US"/>
          </a:p>
        </p:txBody>
      </p:sp>
      <p:sp>
        <p:nvSpPr>
          <p:cNvPr id="21" name="Text 18"/>
          <p:cNvSpPr/>
          <p:nvPr/>
        </p:nvSpPr>
        <p:spPr>
          <a:xfrm>
            <a:off x="644654"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Binary search halves the remaining range: O(log n).</a:t>
            </a:r>
            <a:endParaRPr lang="en-US" sz="1568" dirty="0"/>
          </a:p>
        </p:txBody>
      </p:sp>
      <p:sp>
        <p:nvSpPr>
          <p:cNvPr id="22" name="Shape 19"/>
          <p:cNvSpPr/>
          <p:nvPr/>
        </p:nvSpPr>
        <p:spPr>
          <a:xfrm>
            <a:off x="644654" y="3641598"/>
            <a:ext cx="3257550" cy="720090"/>
          </a:xfrm>
          <a:prstGeom prst="rect">
            <a:avLst/>
          </a:prstGeom>
          <a:noFill/>
          <a:ln/>
        </p:spPr>
        <p:txBody>
          <a:bodyPr/>
          <a:lstStyle/>
          <a:p>
            <a:endParaRPr lang="en-US"/>
          </a:p>
        </p:txBody>
      </p:sp>
      <p:sp>
        <p:nvSpPr>
          <p:cNvPr id="23" name="Shape 20"/>
          <p:cNvSpPr/>
          <p:nvPr/>
        </p:nvSpPr>
        <p:spPr>
          <a:xfrm>
            <a:off x="644654" y="3641598"/>
            <a:ext cx="3257550" cy="720090"/>
          </a:xfrm>
          <a:prstGeom prst="rect">
            <a:avLst/>
          </a:prstGeom>
          <a:noFill/>
          <a:ln/>
        </p:spPr>
        <p:txBody>
          <a:bodyPr/>
          <a:lstStyle/>
          <a:p>
            <a:endParaRPr lang="en-US"/>
          </a:p>
        </p:txBody>
      </p:sp>
      <p:sp>
        <p:nvSpPr>
          <p:cNvPr id="24" name="Text 21"/>
          <p:cNvSpPr/>
          <p:nvPr/>
        </p:nvSpPr>
        <p:spPr>
          <a:xfrm>
            <a:off x="644654"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screenshot connects Big-O notation to measured comparison behavior.</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580548" y="1083564"/>
            <a:ext cx="2314874"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5</a:t>
            </a:r>
            <a:endParaRPr lang="en-US" sz="427" dirty="0"/>
          </a:p>
        </p:txBody>
      </p:sp>
      <p:sp>
        <p:nvSpPr>
          <p:cNvPr id="2" name="Text 12">
            <a:extLst>
              <a:ext uri="{FF2B5EF4-FFF2-40B4-BE49-F238E27FC236}">
                <a16:creationId xmlns:a16="http://schemas.microsoft.com/office/drawing/2014/main" id="{8A28DF64-5E0C-D2F6-0B0D-82ED870BE422}"/>
              </a:ext>
            </a:extLst>
          </p:cNvPr>
          <p:cNvSpPr/>
          <p:nvPr/>
        </p:nvSpPr>
        <p:spPr>
          <a:xfrm>
            <a:off x="617220" y="1282446"/>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Search Comparison Recommendation Guide</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Translate the search comparison evidence into practical recommendations about when to use each algorithm.</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Binary search wins when sorted data or repeated lookup is available.</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Linear search still fits small, unsorted, or changing datasets.</a:t>
            </a:r>
            <a:endParaRPr lang="en-US" sz="1568" dirty="0"/>
          </a:p>
        </p:txBody>
      </p:sp>
      <p:sp>
        <p:nvSpPr>
          <p:cNvPr id="22" name="Shape 19"/>
          <p:cNvSpPr/>
          <p:nvPr/>
        </p:nvSpPr>
        <p:spPr>
          <a:xfrm>
            <a:off x="5122925" y="3641598"/>
            <a:ext cx="3257550" cy="720090"/>
          </a:xfrm>
          <a:prstGeom prst="rect">
            <a:avLst/>
          </a:prstGeom>
          <a:noFill/>
          <a:ln/>
        </p:spPr>
        <p:txBody>
          <a:bodyPr/>
          <a:lstStyle/>
          <a:p>
            <a:endParaRPr lang="en-US"/>
          </a:p>
        </p:txBody>
      </p:sp>
      <p:sp>
        <p:nvSpPr>
          <p:cNvPr id="23" name="Shape 20"/>
          <p:cNvSpPr/>
          <p:nvPr/>
        </p:nvSpPr>
        <p:spPr>
          <a:xfrm>
            <a:off x="5122925" y="3641598"/>
            <a:ext cx="3257550" cy="720090"/>
          </a:xfrm>
          <a:prstGeom prst="rect">
            <a:avLst/>
          </a:prstGeom>
          <a:noFill/>
          <a:ln/>
        </p:spPr>
        <p:txBody>
          <a:bodyPr/>
          <a:lstStyle/>
          <a:p>
            <a:endParaRPr lang="en-US"/>
          </a:p>
        </p:txBody>
      </p:sp>
      <p:sp>
        <p:nvSpPr>
          <p:cNvPr id="24" name="Text 21"/>
          <p:cNvSpPr/>
          <p:nvPr/>
        </p:nvSpPr>
        <p:spPr>
          <a:xfrm>
            <a:off x="5122925"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guide frames algorithm choice as workload fit.</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698562" y="1083564"/>
            <a:ext cx="3465199"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6</a:t>
            </a:r>
            <a:endParaRPr lang="en-US" sz="427" dirty="0"/>
          </a:p>
        </p:txBody>
      </p:sp>
      <p:sp>
        <p:nvSpPr>
          <p:cNvPr id="2" name="Text 12">
            <a:extLst>
              <a:ext uri="{FF2B5EF4-FFF2-40B4-BE49-F238E27FC236}">
                <a16:creationId xmlns:a16="http://schemas.microsoft.com/office/drawing/2014/main" id="{38BD28CF-2FF9-41D2-8161-4947382E53EE}"/>
              </a:ext>
            </a:extLst>
          </p:cNvPr>
          <p:cNvSpPr/>
          <p:nvPr/>
        </p:nvSpPr>
        <p:spPr>
          <a:xfrm>
            <a:off x="5095494" y="1327023"/>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Linked Structures Overview</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Introduce the Linked Structures module and its workflows for Stack, Queue, Deque, and LinkedList behavior.</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Stack, Queue, Deque, and LinkedList each model a different access pattern.</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module links operations, benchmarks, and written analysis.</a:t>
            </a:r>
            <a:endParaRPr lang="en-US" sz="1568" dirty="0"/>
          </a:p>
        </p:txBody>
      </p:sp>
      <p:sp>
        <p:nvSpPr>
          <p:cNvPr id="22" name="Shape 19"/>
          <p:cNvSpPr/>
          <p:nvPr/>
        </p:nvSpPr>
        <p:spPr>
          <a:xfrm>
            <a:off x="5122925" y="3641598"/>
            <a:ext cx="3257550" cy="720090"/>
          </a:xfrm>
          <a:prstGeom prst="rect">
            <a:avLst/>
          </a:prstGeom>
          <a:noFill/>
          <a:ln/>
        </p:spPr>
        <p:txBody>
          <a:bodyPr/>
          <a:lstStyle/>
          <a:p>
            <a:endParaRPr lang="en-US"/>
          </a:p>
        </p:txBody>
      </p:sp>
      <p:sp>
        <p:nvSpPr>
          <p:cNvPr id="23" name="Shape 20"/>
          <p:cNvSpPr/>
          <p:nvPr/>
        </p:nvSpPr>
        <p:spPr>
          <a:xfrm>
            <a:off x="5122925" y="3641598"/>
            <a:ext cx="3257550" cy="720090"/>
          </a:xfrm>
          <a:prstGeom prst="rect">
            <a:avLst/>
          </a:prstGeom>
          <a:noFill/>
          <a:ln/>
        </p:spPr>
        <p:txBody>
          <a:bodyPr/>
          <a:lstStyle/>
          <a:p>
            <a:endParaRPr lang="en-US"/>
          </a:p>
        </p:txBody>
      </p:sp>
      <p:sp>
        <p:nvSpPr>
          <p:cNvPr id="24" name="Text 21"/>
          <p:cNvSpPr/>
          <p:nvPr/>
        </p:nvSpPr>
        <p:spPr>
          <a:xfrm>
            <a:off x="5122925"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screen shows why similar structures can behave differently.</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893815" y="1083564"/>
            <a:ext cx="3074691"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7</a:t>
            </a:r>
            <a:endParaRPr lang="en-US" sz="427" dirty="0"/>
          </a:p>
        </p:txBody>
      </p:sp>
      <p:sp>
        <p:nvSpPr>
          <p:cNvPr id="2" name="Text 12">
            <a:extLst>
              <a:ext uri="{FF2B5EF4-FFF2-40B4-BE49-F238E27FC236}">
                <a16:creationId xmlns:a16="http://schemas.microsoft.com/office/drawing/2014/main" id="{9DD86326-A36F-93AA-5775-357D8DDBAE6B}"/>
              </a:ext>
            </a:extLst>
          </p:cNvPr>
          <p:cNvSpPr/>
          <p:nvPr/>
        </p:nvSpPr>
        <p:spPr>
          <a:xfrm>
            <a:off x="5122925" y="127215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Linked Structures Written Analysis</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Explain how the written analysis connects structure behavior to shifting, endpoint work, and traversal costs.</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7"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54" y="1693926"/>
            <a:ext cx="3257550" cy="720090"/>
          </a:xfrm>
          <a:prstGeom prst="rect">
            <a:avLst/>
          </a:prstGeom>
          <a:noFill/>
          <a:ln/>
        </p:spPr>
        <p:txBody>
          <a:bodyPr/>
          <a:lstStyle/>
          <a:p>
            <a:endParaRPr lang="en-US"/>
          </a:p>
        </p:txBody>
      </p:sp>
      <p:sp>
        <p:nvSpPr>
          <p:cNvPr id="17" name="Shape 14"/>
          <p:cNvSpPr/>
          <p:nvPr/>
        </p:nvSpPr>
        <p:spPr>
          <a:xfrm>
            <a:off x="644654" y="1693926"/>
            <a:ext cx="3257550" cy="720090"/>
          </a:xfrm>
          <a:prstGeom prst="rect">
            <a:avLst/>
          </a:prstGeom>
          <a:noFill/>
          <a:ln/>
        </p:spPr>
        <p:txBody>
          <a:bodyPr/>
          <a:lstStyle/>
          <a:p>
            <a:endParaRPr lang="en-US"/>
          </a:p>
        </p:txBody>
      </p:sp>
      <p:sp>
        <p:nvSpPr>
          <p:cNvPr id="18" name="Text 15"/>
          <p:cNvSpPr/>
          <p:nvPr/>
        </p:nvSpPr>
        <p:spPr>
          <a:xfrm>
            <a:off x="644654"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Implementation details shape real performance, not just ADT names.</a:t>
            </a:r>
            <a:endParaRPr lang="en-US" sz="1568" dirty="0"/>
          </a:p>
        </p:txBody>
      </p:sp>
      <p:sp>
        <p:nvSpPr>
          <p:cNvPr id="19" name="Shape 16"/>
          <p:cNvSpPr/>
          <p:nvPr/>
        </p:nvSpPr>
        <p:spPr>
          <a:xfrm>
            <a:off x="644654" y="2667762"/>
            <a:ext cx="3257550" cy="720090"/>
          </a:xfrm>
          <a:prstGeom prst="rect">
            <a:avLst/>
          </a:prstGeom>
          <a:noFill/>
          <a:ln/>
        </p:spPr>
        <p:txBody>
          <a:bodyPr/>
          <a:lstStyle/>
          <a:p>
            <a:endParaRPr lang="en-US"/>
          </a:p>
        </p:txBody>
      </p:sp>
      <p:sp>
        <p:nvSpPr>
          <p:cNvPr id="20" name="Shape 17"/>
          <p:cNvSpPr/>
          <p:nvPr/>
        </p:nvSpPr>
        <p:spPr>
          <a:xfrm>
            <a:off x="644654" y="2667762"/>
            <a:ext cx="3257550" cy="720090"/>
          </a:xfrm>
          <a:prstGeom prst="rect">
            <a:avLst/>
          </a:prstGeom>
          <a:noFill/>
          <a:ln/>
        </p:spPr>
        <p:txBody>
          <a:bodyPr/>
          <a:lstStyle/>
          <a:p>
            <a:endParaRPr lang="en-US"/>
          </a:p>
        </p:txBody>
      </p:sp>
      <p:sp>
        <p:nvSpPr>
          <p:cNvPr id="21" name="Text 18"/>
          <p:cNvSpPr/>
          <p:nvPr/>
        </p:nvSpPr>
        <p:spPr>
          <a:xfrm>
            <a:off x="644654"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Endpoint work, shifting, and traversal carry different costs.</a:t>
            </a:r>
            <a:endParaRPr lang="en-US" sz="1568" dirty="0"/>
          </a:p>
        </p:txBody>
      </p:sp>
      <p:sp>
        <p:nvSpPr>
          <p:cNvPr id="22" name="Shape 19"/>
          <p:cNvSpPr/>
          <p:nvPr/>
        </p:nvSpPr>
        <p:spPr>
          <a:xfrm>
            <a:off x="644654" y="3641598"/>
            <a:ext cx="3257550" cy="720090"/>
          </a:xfrm>
          <a:prstGeom prst="rect">
            <a:avLst/>
          </a:prstGeom>
          <a:noFill/>
          <a:ln/>
        </p:spPr>
        <p:txBody>
          <a:bodyPr/>
          <a:lstStyle/>
          <a:p>
            <a:endParaRPr lang="en-US"/>
          </a:p>
        </p:txBody>
      </p:sp>
      <p:sp>
        <p:nvSpPr>
          <p:cNvPr id="23" name="Shape 20"/>
          <p:cNvSpPr/>
          <p:nvPr/>
        </p:nvSpPr>
        <p:spPr>
          <a:xfrm>
            <a:off x="644654" y="3641598"/>
            <a:ext cx="3257550" cy="720090"/>
          </a:xfrm>
          <a:prstGeom prst="rect">
            <a:avLst/>
          </a:prstGeom>
          <a:noFill/>
          <a:ln/>
        </p:spPr>
        <p:txBody>
          <a:bodyPr/>
          <a:lstStyle/>
          <a:p>
            <a:endParaRPr lang="en-US"/>
          </a:p>
        </p:txBody>
      </p:sp>
      <p:sp>
        <p:nvSpPr>
          <p:cNvPr id="24" name="Text 21"/>
          <p:cNvSpPr/>
          <p:nvPr/>
        </p:nvSpPr>
        <p:spPr>
          <a:xfrm>
            <a:off x="644654"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Benchmark evidence shows each structure has a best-fit workload.</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468010" y="1083564"/>
            <a:ext cx="2539947"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8</a:t>
            </a:r>
            <a:endParaRPr lang="en-US" sz="427" dirty="0"/>
          </a:p>
        </p:txBody>
      </p:sp>
      <p:sp>
        <p:nvSpPr>
          <p:cNvPr id="2" name="Text 12">
            <a:extLst>
              <a:ext uri="{FF2B5EF4-FFF2-40B4-BE49-F238E27FC236}">
                <a16:creationId xmlns:a16="http://schemas.microsoft.com/office/drawing/2014/main" id="{533C62FD-C03C-957B-11E3-C2466FC059DD}"/>
              </a:ext>
            </a:extLst>
          </p:cNvPr>
          <p:cNvSpPr/>
          <p:nvPr/>
        </p:nvSpPr>
        <p:spPr>
          <a:xfrm>
            <a:off x="617220" y="1282446"/>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Linked Structures Recommendation Guide</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Show how the module converts structure tradeoffs into workload-based recommendations.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Stack supports LIFO; Queue supports FIFO.</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Deque helps when both ends matter.</a:t>
            </a:r>
            <a:endParaRPr lang="en-US" sz="1568" dirty="0"/>
          </a:p>
        </p:txBody>
      </p:sp>
      <p:sp>
        <p:nvSpPr>
          <p:cNvPr id="22" name="Shape 19"/>
          <p:cNvSpPr/>
          <p:nvPr/>
        </p:nvSpPr>
        <p:spPr>
          <a:xfrm>
            <a:off x="5122925" y="3641598"/>
            <a:ext cx="3257550" cy="720090"/>
          </a:xfrm>
          <a:prstGeom prst="rect">
            <a:avLst/>
          </a:prstGeom>
          <a:noFill/>
          <a:ln/>
        </p:spPr>
        <p:txBody>
          <a:bodyPr/>
          <a:lstStyle/>
          <a:p>
            <a:endParaRPr lang="en-US"/>
          </a:p>
        </p:txBody>
      </p:sp>
      <p:sp>
        <p:nvSpPr>
          <p:cNvPr id="23" name="Shape 20"/>
          <p:cNvSpPr/>
          <p:nvPr/>
        </p:nvSpPr>
        <p:spPr>
          <a:xfrm>
            <a:off x="5122925" y="3641598"/>
            <a:ext cx="3257550" cy="720090"/>
          </a:xfrm>
          <a:prstGeom prst="rect">
            <a:avLst/>
          </a:prstGeom>
          <a:noFill/>
          <a:ln/>
        </p:spPr>
        <p:txBody>
          <a:bodyPr/>
          <a:lstStyle/>
          <a:p>
            <a:endParaRPr lang="en-US"/>
          </a:p>
        </p:txBody>
      </p:sp>
      <p:sp>
        <p:nvSpPr>
          <p:cNvPr id="24" name="Text 21"/>
          <p:cNvSpPr/>
          <p:nvPr/>
        </p:nvSpPr>
        <p:spPr>
          <a:xfrm>
            <a:off x="5122925"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LinkedList fits node-based insertion, deletion, and traversal cases.</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1264853" y="1083564"/>
            <a:ext cx="2332611"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9</a:t>
            </a:r>
            <a:endParaRPr lang="en-US" sz="427" dirty="0"/>
          </a:p>
        </p:txBody>
      </p:sp>
      <p:sp>
        <p:nvSpPr>
          <p:cNvPr id="2" name="Text 12">
            <a:extLst>
              <a:ext uri="{FF2B5EF4-FFF2-40B4-BE49-F238E27FC236}">
                <a16:creationId xmlns:a16="http://schemas.microsoft.com/office/drawing/2014/main" id="{7C5C4375-34BD-746D-6DA7-AB283D6B172B}"/>
              </a:ext>
            </a:extLst>
          </p:cNvPr>
          <p:cNvSpPr/>
          <p:nvPr/>
        </p:nvSpPr>
        <p:spPr>
          <a:xfrm>
            <a:off x="5054345"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Tree Map Overview</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Introduce the Tree Map module and its comparison between BST, TreeMap, and ListMap behavior.</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3"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49" y="1693926"/>
            <a:ext cx="3257550" cy="720090"/>
          </a:xfrm>
          <a:prstGeom prst="rect">
            <a:avLst/>
          </a:prstGeom>
          <a:noFill/>
          <a:ln/>
        </p:spPr>
        <p:txBody>
          <a:bodyPr/>
          <a:lstStyle/>
          <a:p>
            <a:endParaRPr lang="en-US"/>
          </a:p>
        </p:txBody>
      </p:sp>
      <p:sp>
        <p:nvSpPr>
          <p:cNvPr id="17" name="Shape 14"/>
          <p:cNvSpPr/>
          <p:nvPr/>
        </p:nvSpPr>
        <p:spPr>
          <a:xfrm>
            <a:off x="644649" y="1693926"/>
            <a:ext cx="3257550" cy="720090"/>
          </a:xfrm>
          <a:prstGeom prst="rect">
            <a:avLst/>
          </a:prstGeom>
          <a:noFill/>
          <a:ln/>
        </p:spPr>
        <p:txBody>
          <a:bodyPr/>
          <a:lstStyle/>
          <a:p>
            <a:endParaRPr lang="en-US"/>
          </a:p>
        </p:txBody>
      </p:sp>
      <p:sp>
        <p:nvSpPr>
          <p:cNvPr id="18" name="Text 15"/>
          <p:cNvSpPr/>
          <p:nvPr/>
        </p:nvSpPr>
        <p:spPr>
          <a:xfrm>
            <a:off x="644649"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BST, TreeMap, and ListMap support ordered key workflows.</a:t>
            </a:r>
            <a:endParaRPr lang="en-US" sz="1568" dirty="0"/>
          </a:p>
        </p:txBody>
      </p:sp>
      <p:sp>
        <p:nvSpPr>
          <p:cNvPr id="19" name="Shape 16"/>
          <p:cNvSpPr/>
          <p:nvPr/>
        </p:nvSpPr>
        <p:spPr>
          <a:xfrm>
            <a:off x="644649" y="2667762"/>
            <a:ext cx="3257550" cy="720090"/>
          </a:xfrm>
          <a:prstGeom prst="rect">
            <a:avLst/>
          </a:prstGeom>
          <a:noFill/>
          <a:ln/>
        </p:spPr>
        <p:txBody>
          <a:bodyPr/>
          <a:lstStyle/>
          <a:p>
            <a:endParaRPr lang="en-US"/>
          </a:p>
        </p:txBody>
      </p:sp>
      <p:sp>
        <p:nvSpPr>
          <p:cNvPr id="20" name="Shape 17"/>
          <p:cNvSpPr/>
          <p:nvPr/>
        </p:nvSpPr>
        <p:spPr>
          <a:xfrm>
            <a:off x="644649" y="2667762"/>
            <a:ext cx="3257550" cy="720090"/>
          </a:xfrm>
          <a:prstGeom prst="rect">
            <a:avLst/>
          </a:prstGeom>
          <a:noFill/>
          <a:ln/>
        </p:spPr>
        <p:txBody>
          <a:bodyPr/>
          <a:lstStyle/>
          <a:p>
            <a:endParaRPr lang="en-US"/>
          </a:p>
        </p:txBody>
      </p:sp>
      <p:sp>
        <p:nvSpPr>
          <p:cNvPr id="21" name="Text 18"/>
          <p:cNvSpPr/>
          <p:nvPr/>
        </p:nvSpPr>
        <p:spPr>
          <a:xfrm>
            <a:off x="644649"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Insertion order changes tree shape and practical performance.</a:t>
            </a:r>
            <a:endParaRPr lang="en-US" sz="1568" dirty="0"/>
          </a:p>
        </p:txBody>
      </p:sp>
      <p:sp>
        <p:nvSpPr>
          <p:cNvPr id="22" name="Shape 19"/>
          <p:cNvSpPr/>
          <p:nvPr/>
        </p:nvSpPr>
        <p:spPr>
          <a:xfrm>
            <a:off x="644649" y="3641598"/>
            <a:ext cx="3257550" cy="720090"/>
          </a:xfrm>
          <a:prstGeom prst="rect">
            <a:avLst/>
          </a:prstGeom>
          <a:noFill/>
          <a:ln/>
        </p:spPr>
        <p:txBody>
          <a:bodyPr/>
          <a:lstStyle/>
          <a:p>
            <a:endParaRPr lang="en-US"/>
          </a:p>
        </p:txBody>
      </p:sp>
      <p:sp>
        <p:nvSpPr>
          <p:cNvPr id="23" name="Shape 20"/>
          <p:cNvSpPr/>
          <p:nvPr/>
        </p:nvSpPr>
        <p:spPr>
          <a:xfrm>
            <a:off x="644649" y="3641598"/>
            <a:ext cx="3257550" cy="720090"/>
          </a:xfrm>
          <a:prstGeom prst="rect">
            <a:avLst/>
          </a:prstGeom>
          <a:noFill/>
          <a:ln/>
        </p:spPr>
        <p:txBody>
          <a:bodyPr/>
          <a:lstStyle/>
          <a:p>
            <a:endParaRPr lang="en-US"/>
          </a:p>
        </p:txBody>
      </p:sp>
      <p:sp>
        <p:nvSpPr>
          <p:cNvPr id="24" name="Text 21"/>
          <p:cNvSpPr/>
          <p:nvPr/>
        </p:nvSpPr>
        <p:spPr>
          <a:xfrm>
            <a:off x="644649"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screen introduces lookup, traversal, height, and balance evidence.</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644539" y="1083564"/>
            <a:ext cx="2186894"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10</a:t>
            </a:r>
            <a:endParaRPr lang="en-US" sz="427" dirty="0"/>
          </a:p>
        </p:txBody>
      </p:sp>
      <p:sp>
        <p:nvSpPr>
          <p:cNvPr id="2" name="Text 12">
            <a:extLst>
              <a:ext uri="{FF2B5EF4-FFF2-40B4-BE49-F238E27FC236}">
                <a16:creationId xmlns:a16="http://schemas.microsoft.com/office/drawing/2014/main" id="{B3FCDF75-95A4-CCB1-FFCA-00605EB8F635}"/>
              </a:ext>
            </a:extLst>
          </p:cNvPr>
          <p:cNvSpPr/>
          <p:nvPr/>
        </p:nvSpPr>
        <p:spPr>
          <a:xfrm>
            <a:off x="617220" y="1282446"/>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Tree Map Written Analysis</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Explain how the Tree Map analysis connects height, skew, and ordered lookup to measured behavior.</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3"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49" y="1693926"/>
            <a:ext cx="3257550" cy="720090"/>
          </a:xfrm>
          <a:prstGeom prst="rect">
            <a:avLst/>
          </a:prstGeom>
          <a:noFill/>
          <a:ln/>
        </p:spPr>
        <p:txBody>
          <a:bodyPr/>
          <a:lstStyle/>
          <a:p>
            <a:endParaRPr lang="en-US"/>
          </a:p>
        </p:txBody>
      </p:sp>
      <p:sp>
        <p:nvSpPr>
          <p:cNvPr id="17" name="Shape 14"/>
          <p:cNvSpPr/>
          <p:nvPr/>
        </p:nvSpPr>
        <p:spPr>
          <a:xfrm>
            <a:off x="644649" y="1693926"/>
            <a:ext cx="3257550" cy="720090"/>
          </a:xfrm>
          <a:prstGeom prst="rect">
            <a:avLst/>
          </a:prstGeom>
          <a:noFill/>
          <a:ln/>
        </p:spPr>
        <p:txBody>
          <a:bodyPr/>
          <a:lstStyle/>
          <a:p>
            <a:endParaRPr lang="en-US"/>
          </a:p>
        </p:txBody>
      </p:sp>
      <p:sp>
        <p:nvSpPr>
          <p:cNvPr id="18" name="Text 15"/>
          <p:cNvSpPr/>
          <p:nvPr/>
        </p:nvSpPr>
        <p:spPr>
          <a:xfrm>
            <a:off x="644649"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BST operations depend on height h.</a:t>
            </a:r>
            <a:endParaRPr lang="en-US" sz="1568" dirty="0"/>
          </a:p>
        </p:txBody>
      </p:sp>
      <p:sp>
        <p:nvSpPr>
          <p:cNvPr id="19" name="Shape 16"/>
          <p:cNvSpPr/>
          <p:nvPr/>
        </p:nvSpPr>
        <p:spPr>
          <a:xfrm>
            <a:off x="644649" y="2667762"/>
            <a:ext cx="3257550" cy="720090"/>
          </a:xfrm>
          <a:prstGeom prst="rect">
            <a:avLst/>
          </a:prstGeom>
          <a:noFill/>
          <a:ln/>
        </p:spPr>
        <p:txBody>
          <a:bodyPr/>
          <a:lstStyle/>
          <a:p>
            <a:endParaRPr lang="en-US"/>
          </a:p>
        </p:txBody>
      </p:sp>
      <p:sp>
        <p:nvSpPr>
          <p:cNvPr id="20" name="Shape 17"/>
          <p:cNvSpPr/>
          <p:nvPr/>
        </p:nvSpPr>
        <p:spPr>
          <a:xfrm>
            <a:off x="644649" y="2667762"/>
            <a:ext cx="3257550" cy="720090"/>
          </a:xfrm>
          <a:prstGeom prst="rect">
            <a:avLst/>
          </a:prstGeom>
          <a:noFill/>
          <a:ln/>
        </p:spPr>
        <p:txBody>
          <a:bodyPr/>
          <a:lstStyle/>
          <a:p>
            <a:endParaRPr lang="en-US"/>
          </a:p>
        </p:txBody>
      </p:sp>
      <p:sp>
        <p:nvSpPr>
          <p:cNvPr id="21" name="Text 18"/>
          <p:cNvSpPr/>
          <p:nvPr/>
        </p:nvSpPr>
        <p:spPr>
          <a:xfrm>
            <a:off x="644649"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Healthy trees approach O(log n); skewed trees trend toward O(n).</a:t>
            </a:r>
            <a:endParaRPr lang="en-US" sz="1568" dirty="0"/>
          </a:p>
        </p:txBody>
      </p:sp>
      <p:sp>
        <p:nvSpPr>
          <p:cNvPr id="22" name="Shape 19"/>
          <p:cNvSpPr/>
          <p:nvPr/>
        </p:nvSpPr>
        <p:spPr>
          <a:xfrm>
            <a:off x="644649" y="3641598"/>
            <a:ext cx="3257550" cy="720090"/>
          </a:xfrm>
          <a:prstGeom prst="rect">
            <a:avLst/>
          </a:prstGeom>
          <a:noFill/>
          <a:ln/>
        </p:spPr>
        <p:txBody>
          <a:bodyPr/>
          <a:lstStyle/>
          <a:p>
            <a:endParaRPr lang="en-US"/>
          </a:p>
        </p:txBody>
      </p:sp>
      <p:sp>
        <p:nvSpPr>
          <p:cNvPr id="23" name="Shape 20"/>
          <p:cNvSpPr/>
          <p:nvPr/>
        </p:nvSpPr>
        <p:spPr>
          <a:xfrm>
            <a:off x="644649" y="3641598"/>
            <a:ext cx="3257550" cy="720090"/>
          </a:xfrm>
          <a:prstGeom prst="rect">
            <a:avLst/>
          </a:prstGeom>
          <a:noFill/>
          <a:ln/>
        </p:spPr>
        <p:txBody>
          <a:bodyPr/>
          <a:lstStyle/>
          <a:p>
            <a:endParaRPr lang="en-US"/>
          </a:p>
        </p:txBody>
      </p:sp>
      <p:sp>
        <p:nvSpPr>
          <p:cNvPr id="24" name="Text 21"/>
          <p:cNvSpPr/>
          <p:nvPr/>
        </p:nvSpPr>
        <p:spPr>
          <a:xfrm>
            <a:off x="644649"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analysis ties tree shape to benchmark results.</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539560" y="1083564"/>
            <a:ext cx="2396850"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11</a:t>
            </a:r>
            <a:endParaRPr lang="en-US" sz="427" dirty="0"/>
          </a:p>
        </p:txBody>
      </p:sp>
      <p:sp>
        <p:nvSpPr>
          <p:cNvPr id="2" name="Text 12">
            <a:extLst>
              <a:ext uri="{FF2B5EF4-FFF2-40B4-BE49-F238E27FC236}">
                <a16:creationId xmlns:a16="http://schemas.microsoft.com/office/drawing/2014/main" id="{EBBB8EB2-ACB2-B237-DFF4-DD86C69619B0}"/>
              </a:ext>
            </a:extLst>
          </p:cNvPr>
          <p:cNvSpPr/>
          <p:nvPr/>
        </p:nvSpPr>
        <p:spPr>
          <a:xfrm>
            <a:off x="617220" y="1282446"/>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Tree Map Recommendation Guide</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Show when tree-backed maps are a strong fit and when simpler linear maps remain practical.</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TreeMap fits ordered traversal and repeated lookup.</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ListMap remains practical for small or simple workloads.</a:t>
            </a:r>
            <a:endParaRPr lang="en-US" sz="1568" dirty="0"/>
          </a:p>
        </p:txBody>
      </p:sp>
      <p:sp>
        <p:nvSpPr>
          <p:cNvPr id="22" name="Shape 19"/>
          <p:cNvSpPr/>
          <p:nvPr/>
        </p:nvSpPr>
        <p:spPr>
          <a:xfrm>
            <a:off x="5122925" y="3641598"/>
            <a:ext cx="3257550" cy="720090"/>
          </a:xfrm>
          <a:prstGeom prst="rect">
            <a:avLst/>
          </a:prstGeom>
          <a:noFill/>
          <a:ln/>
        </p:spPr>
        <p:txBody>
          <a:bodyPr/>
          <a:lstStyle/>
          <a:p>
            <a:endParaRPr lang="en-US"/>
          </a:p>
        </p:txBody>
      </p:sp>
      <p:sp>
        <p:nvSpPr>
          <p:cNvPr id="23" name="Shape 20"/>
          <p:cNvSpPr/>
          <p:nvPr/>
        </p:nvSpPr>
        <p:spPr>
          <a:xfrm>
            <a:off x="5122925" y="3641598"/>
            <a:ext cx="3257550" cy="720090"/>
          </a:xfrm>
          <a:prstGeom prst="rect">
            <a:avLst/>
          </a:prstGeom>
          <a:noFill/>
          <a:ln/>
        </p:spPr>
        <p:txBody>
          <a:bodyPr/>
          <a:lstStyle/>
          <a:p>
            <a:endParaRPr lang="en-US"/>
          </a:p>
        </p:txBody>
      </p:sp>
      <p:sp>
        <p:nvSpPr>
          <p:cNvPr id="24" name="Text 21"/>
          <p:cNvSpPr/>
          <p:nvPr/>
        </p:nvSpPr>
        <p:spPr>
          <a:xfrm>
            <a:off x="5122925"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guide warns that skew can erase the tree advantage.</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1240027" y="1083564"/>
            <a:ext cx="2382267"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12</a:t>
            </a:r>
            <a:endParaRPr lang="en-US" sz="427" dirty="0"/>
          </a:p>
        </p:txBody>
      </p:sp>
      <p:sp>
        <p:nvSpPr>
          <p:cNvPr id="2" name="Text 12">
            <a:extLst>
              <a:ext uri="{FF2B5EF4-FFF2-40B4-BE49-F238E27FC236}">
                <a16:creationId xmlns:a16="http://schemas.microsoft.com/office/drawing/2014/main" id="{EF73D1E4-70FC-4BDF-B273-D3984DCC782E}"/>
              </a:ext>
            </a:extLst>
          </p:cNvPr>
          <p:cNvSpPr/>
          <p:nvPr/>
        </p:nvSpPr>
        <p:spPr>
          <a:xfrm>
            <a:off x="5144768" y="1282446"/>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Hash Priority Overview</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Introduce the Hash Priority module and its comparison of key-based lookup and priority-based retrieval.</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3"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49" y="1693926"/>
            <a:ext cx="3257550" cy="720090"/>
          </a:xfrm>
          <a:prstGeom prst="rect">
            <a:avLst/>
          </a:prstGeom>
          <a:noFill/>
          <a:ln/>
        </p:spPr>
        <p:txBody>
          <a:bodyPr/>
          <a:lstStyle/>
          <a:p>
            <a:endParaRPr lang="en-US"/>
          </a:p>
        </p:txBody>
      </p:sp>
      <p:sp>
        <p:nvSpPr>
          <p:cNvPr id="17" name="Shape 14"/>
          <p:cNvSpPr/>
          <p:nvPr/>
        </p:nvSpPr>
        <p:spPr>
          <a:xfrm>
            <a:off x="644649" y="1693926"/>
            <a:ext cx="3257550" cy="720090"/>
          </a:xfrm>
          <a:prstGeom prst="rect">
            <a:avLst/>
          </a:prstGeom>
          <a:noFill/>
          <a:ln/>
        </p:spPr>
        <p:txBody>
          <a:bodyPr/>
          <a:lstStyle/>
          <a:p>
            <a:endParaRPr lang="en-US"/>
          </a:p>
        </p:txBody>
      </p:sp>
      <p:sp>
        <p:nvSpPr>
          <p:cNvPr id="18" name="Text 15"/>
          <p:cNvSpPr/>
          <p:nvPr/>
        </p:nvSpPr>
        <p:spPr>
          <a:xfrm>
            <a:off x="644649"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Hash tables optimize direct key lookup.</a:t>
            </a:r>
            <a:endParaRPr lang="en-US" sz="1568" dirty="0"/>
          </a:p>
        </p:txBody>
      </p:sp>
      <p:sp>
        <p:nvSpPr>
          <p:cNvPr id="19" name="Shape 16"/>
          <p:cNvSpPr/>
          <p:nvPr/>
        </p:nvSpPr>
        <p:spPr>
          <a:xfrm>
            <a:off x="644649" y="2667762"/>
            <a:ext cx="3257550" cy="720090"/>
          </a:xfrm>
          <a:prstGeom prst="rect">
            <a:avLst/>
          </a:prstGeom>
          <a:noFill/>
          <a:ln/>
        </p:spPr>
        <p:txBody>
          <a:bodyPr/>
          <a:lstStyle/>
          <a:p>
            <a:endParaRPr lang="en-US"/>
          </a:p>
        </p:txBody>
      </p:sp>
      <p:sp>
        <p:nvSpPr>
          <p:cNvPr id="20" name="Shape 17"/>
          <p:cNvSpPr/>
          <p:nvPr/>
        </p:nvSpPr>
        <p:spPr>
          <a:xfrm>
            <a:off x="644649" y="2667762"/>
            <a:ext cx="3257550" cy="720090"/>
          </a:xfrm>
          <a:prstGeom prst="rect">
            <a:avLst/>
          </a:prstGeom>
          <a:noFill/>
          <a:ln/>
        </p:spPr>
        <p:txBody>
          <a:bodyPr/>
          <a:lstStyle/>
          <a:p>
            <a:endParaRPr lang="en-US"/>
          </a:p>
        </p:txBody>
      </p:sp>
      <p:sp>
        <p:nvSpPr>
          <p:cNvPr id="21" name="Text 18"/>
          <p:cNvSpPr/>
          <p:nvPr/>
        </p:nvSpPr>
        <p:spPr>
          <a:xfrm>
            <a:off x="644649"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Priority queues optimize repeated highest or lowest priority retrieval.</a:t>
            </a:r>
            <a:endParaRPr lang="en-US" sz="1568" dirty="0"/>
          </a:p>
        </p:txBody>
      </p:sp>
      <p:sp>
        <p:nvSpPr>
          <p:cNvPr id="22" name="Shape 19"/>
          <p:cNvSpPr/>
          <p:nvPr/>
        </p:nvSpPr>
        <p:spPr>
          <a:xfrm>
            <a:off x="644649" y="3641598"/>
            <a:ext cx="3257550" cy="720090"/>
          </a:xfrm>
          <a:prstGeom prst="rect">
            <a:avLst/>
          </a:prstGeom>
          <a:noFill/>
          <a:ln/>
        </p:spPr>
        <p:txBody>
          <a:bodyPr/>
          <a:lstStyle/>
          <a:p>
            <a:endParaRPr lang="en-US"/>
          </a:p>
        </p:txBody>
      </p:sp>
      <p:sp>
        <p:nvSpPr>
          <p:cNvPr id="23" name="Shape 20"/>
          <p:cNvSpPr/>
          <p:nvPr/>
        </p:nvSpPr>
        <p:spPr>
          <a:xfrm>
            <a:off x="644649" y="3641598"/>
            <a:ext cx="3257550" cy="720090"/>
          </a:xfrm>
          <a:prstGeom prst="rect">
            <a:avLst/>
          </a:prstGeom>
          <a:noFill/>
          <a:ln/>
        </p:spPr>
        <p:txBody>
          <a:bodyPr/>
          <a:lstStyle/>
          <a:p>
            <a:endParaRPr lang="en-US"/>
          </a:p>
        </p:txBody>
      </p:sp>
      <p:sp>
        <p:nvSpPr>
          <p:cNvPr id="24" name="Text 21"/>
          <p:cNvSpPr/>
          <p:nvPr/>
        </p:nvSpPr>
        <p:spPr>
          <a:xfrm>
            <a:off x="644649"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module compares two different fast-access problems.</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532081" y="1083564"/>
            <a:ext cx="2411806"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13</a:t>
            </a:r>
            <a:endParaRPr lang="en-US" sz="427" dirty="0"/>
          </a:p>
        </p:txBody>
      </p:sp>
      <p:sp>
        <p:nvSpPr>
          <p:cNvPr id="2" name="Text 12">
            <a:extLst>
              <a:ext uri="{FF2B5EF4-FFF2-40B4-BE49-F238E27FC236}">
                <a16:creationId xmlns:a16="http://schemas.microsoft.com/office/drawing/2014/main" id="{704201AC-75D6-FBBF-8F1A-956018E58E8D}"/>
              </a:ext>
            </a:extLst>
          </p:cNvPr>
          <p:cNvSpPr/>
          <p:nvPr/>
        </p:nvSpPr>
        <p:spPr>
          <a:xfrm>
            <a:off x="617220" y="1282446"/>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Hash Priority Written Analysis</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Explain how the written analysis connects collision behavior, heap maintenance, and operation cost.</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Healthy hash tables support average O(1) key operations.</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Collisions still affect bucket-level search cost.</a:t>
            </a:r>
            <a:endParaRPr lang="en-US" sz="1568" dirty="0"/>
          </a:p>
        </p:txBody>
      </p:sp>
      <p:sp>
        <p:nvSpPr>
          <p:cNvPr id="22" name="Shape 19"/>
          <p:cNvSpPr/>
          <p:nvPr/>
        </p:nvSpPr>
        <p:spPr>
          <a:xfrm>
            <a:off x="5122925" y="3641598"/>
            <a:ext cx="3257550" cy="720090"/>
          </a:xfrm>
          <a:prstGeom prst="rect">
            <a:avLst/>
          </a:prstGeom>
          <a:noFill/>
          <a:ln/>
        </p:spPr>
        <p:txBody>
          <a:bodyPr/>
          <a:lstStyle/>
          <a:p>
            <a:endParaRPr lang="en-US"/>
          </a:p>
        </p:txBody>
      </p:sp>
      <p:sp>
        <p:nvSpPr>
          <p:cNvPr id="23" name="Shape 20"/>
          <p:cNvSpPr/>
          <p:nvPr/>
        </p:nvSpPr>
        <p:spPr>
          <a:xfrm>
            <a:off x="5122925" y="3641598"/>
            <a:ext cx="3257550" cy="720090"/>
          </a:xfrm>
          <a:prstGeom prst="rect">
            <a:avLst/>
          </a:prstGeom>
          <a:noFill/>
          <a:ln/>
        </p:spPr>
        <p:txBody>
          <a:bodyPr/>
          <a:lstStyle/>
          <a:p>
            <a:endParaRPr lang="en-US"/>
          </a:p>
        </p:txBody>
      </p:sp>
      <p:sp>
        <p:nvSpPr>
          <p:cNvPr id="24" name="Text 21"/>
          <p:cNvSpPr/>
          <p:nvPr/>
        </p:nvSpPr>
        <p:spPr>
          <a:xfrm>
            <a:off x="5122925"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Heap operations preserve priority order with O(log n) maintenance.</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1313306" y="1083564"/>
            <a:ext cx="2235708"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14</a:t>
            </a:r>
            <a:endParaRPr lang="en-US" sz="427" dirty="0"/>
          </a:p>
        </p:txBody>
      </p:sp>
      <p:sp>
        <p:nvSpPr>
          <p:cNvPr id="2" name="Text 12">
            <a:extLst>
              <a:ext uri="{FF2B5EF4-FFF2-40B4-BE49-F238E27FC236}">
                <a16:creationId xmlns:a16="http://schemas.microsoft.com/office/drawing/2014/main" id="{A323347A-A297-F438-0F82-E3A91F1CA335}"/>
              </a:ext>
            </a:extLst>
          </p:cNvPr>
          <p:cNvSpPr/>
          <p:nvPr/>
        </p:nvSpPr>
        <p:spPr>
          <a:xfrm>
            <a:off x="5114924"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Hash Priority Recommendation Guide</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Convert the Hash Priority evidence into practical guidance about lookup, priority access, and workload fit.</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Use hash tables for repeated key-based lookup.</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Use priority queues for repeated priority removal.</a:t>
            </a:r>
            <a:endParaRPr lang="en-US" sz="1568" dirty="0"/>
          </a:p>
        </p:txBody>
      </p:sp>
      <p:sp>
        <p:nvSpPr>
          <p:cNvPr id="22" name="Shape 19"/>
          <p:cNvSpPr/>
          <p:nvPr/>
        </p:nvSpPr>
        <p:spPr>
          <a:xfrm>
            <a:off x="5122925" y="3641598"/>
            <a:ext cx="3257550" cy="720090"/>
          </a:xfrm>
          <a:prstGeom prst="rect">
            <a:avLst/>
          </a:prstGeom>
          <a:noFill/>
          <a:ln/>
        </p:spPr>
        <p:txBody>
          <a:bodyPr/>
          <a:lstStyle/>
          <a:p>
            <a:endParaRPr lang="en-US"/>
          </a:p>
        </p:txBody>
      </p:sp>
      <p:sp>
        <p:nvSpPr>
          <p:cNvPr id="23" name="Shape 20"/>
          <p:cNvSpPr/>
          <p:nvPr/>
        </p:nvSpPr>
        <p:spPr>
          <a:xfrm>
            <a:off x="5122925" y="3641598"/>
            <a:ext cx="3257550" cy="720090"/>
          </a:xfrm>
          <a:prstGeom prst="rect">
            <a:avLst/>
          </a:prstGeom>
          <a:noFill/>
          <a:ln/>
        </p:spPr>
        <p:txBody>
          <a:bodyPr/>
          <a:lstStyle/>
          <a:p>
            <a:endParaRPr lang="en-US"/>
          </a:p>
        </p:txBody>
      </p:sp>
      <p:sp>
        <p:nvSpPr>
          <p:cNvPr id="24" name="Text 21"/>
          <p:cNvSpPr/>
          <p:nvPr/>
        </p:nvSpPr>
        <p:spPr>
          <a:xfrm>
            <a:off x="5122925"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Linear search stays useful as a baseline and teaching comparison.</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1243794" y="1083564"/>
            <a:ext cx="2374742"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15</a:t>
            </a:r>
            <a:endParaRPr lang="en-US" sz="427" dirty="0"/>
          </a:p>
        </p:txBody>
      </p:sp>
      <p:sp>
        <p:nvSpPr>
          <p:cNvPr id="2" name="Text 12">
            <a:extLst>
              <a:ext uri="{FF2B5EF4-FFF2-40B4-BE49-F238E27FC236}">
                <a16:creationId xmlns:a16="http://schemas.microsoft.com/office/drawing/2014/main" id="{AECD1DD5-2B06-DD3C-8CDD-BB2B1CC5BE3B}"/>
              </a:ext>
            </a:extLst>
          </p:cNvPr>
          <p:cNvSpPr/>
          <p:nvPr/>
        </p:nvSpPr>
        <p:spPr>
          <a:xfrm>
            <a:off x="5114924"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Graph Algorithms Overview</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Introduce the Graph Algorithms module and its workflows for representation, traversal, shortest paths, and benchmarking.</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3"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27" y="1282446"/>
            <a:ext cx="3326130" cy="192024"/>
          </a:xfrm>
          <a:prstGeom prst="rect">
            <a:avLst/>
          </a:prstGeom>
          <a:noFill/>
          <a:ln/>
        </p:spPr>
        <p:txBody>
          <a:bodyPr/>
          <a:lstStyle/>
          <a:p>
            <a:endParaRPr lang="en-US"/>
          </a:p>
        </p:txBody>
      </p:sp>
      <p:sp>
        <p:nvSpPr>
          <p:cNvPr id="14" name="Shape 11"/>
          <p:cNvSpPr/>
          <p:nvPr/>
        </p:nvSpPr>
        <p:spPr>
          <a:xfrm>
            <a:off x="617227" y="1282446"/>
            <a:ext cx="3326130" cy="192024"/>
          </a:xfrm>
          <a:prstGeom prst="rect">
            <a:avLst/>
          </a:prstGeom>
          <a:noFill/>
          <a:ln/>
        </p:spPr>
        <p:txBody>
          <a:bodyPr/>
          <a:lstStyle/>
          <a:p>
            <a:endParaRPr lang="en-US"/>
          </a:p>
        </p:txBody>
      </p:sp>
      <p:sp>
        <p:nvSpPr>
          <p:cNvPr id="16" name="Shape 13"/>
          <p:cNvSpPr/>
          <p:nvPr/>
        </p:nvSpPr>
        <p:spPr>
          <a:xfrm>
            <a:off x="644649" y="1693926"/>
            <a:ext cx="3257550" cy="720090"/>
          </a:xfrm>
          <a:prstGeom prst="rect">
            <a:avLst/>
          </a:prstGeom>
          <a:noFill/>
          <a:ln/>
        </p:spPr>
        <p:txBody>
          <a:bodyPr/>
          <a:lstStyle/>
          <a:p>
            <a:endParaRPr lang="en-US"/>
          </a:p>
        </p:txBody>
      </p:sp>
      <p:sp>
        <p:nvSpPr>
          <p:cNvPr id="17" name="Shape 14"/>
          <p:cNvSpPr/>
          <p:nvPr/>
        </p:nvSpPr>
        <p:spPr>
          <a:xfrm>
            <a:off x="644649" y="1693926"/>
            <a:ext cx="3257550" cy="720090"/>
          </a:xfrm>
          <a:prstGeom prst="rect">
            <a:avLst/>
          </a:prstGeom>
          <a:noFill/>
          <a:ln/>
        </p:spPr>
        <p:txBody>
          <a:bodyPr/>
          <a:lstStyle/>
          <a:p>
            <a:endParaRPr lang="en-US"/>
          </a:p>
        </p:txBody>
      </p:sp>
      <p:sp>
        <p:nvSpPr>
          <p:cNvPr id="18" name="Text 15"/>
          <p:cNvSpPr/>
          <p:nvPr/>
        </p:nvSpPr>
        <p:spPr>
          <a:xfrm>
            <a:off x="644649"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Graphs model relationships between objects.</a:t>
            </a:r>
            <a:endParaRPr lang="en-US" sz="1568" dirty="0"/>
          </a:p>
        </p:txBody>
      </p:sp>
      <p:sp>
        <p:nvSpPr>
          <p:cNvPr id="19" name="Shape 16"/>
          <p:cNvSpPr/>
          <p:nvPr/>
        </p:nvSpPr>
        <p:spPr>
          <a:xfrm>
            <a:off x="644649" y="2667762"/>
            <a:ext cx="3257550" cy="720090"/>
          </a:xfrm>
          <a:prstGeom prst="rect">
            <a:avLst/>
          </a:prstGeom>
          <a:noFill/>
          <a:ln/>
        </p:spPr>
        <p:txBody>
          <a:bodyPr/>
          <a:lstStyle/>
          <a:p>
            <a:endParaRPr lang="en-US"/>
          </a:p>
        </p:txBody>
      </p:sp>
      <p:sp>
        <p:nvSpPr>
          <p:cNvPr id="20" name="Shape 17"/>
          <p:cNvSpPr/>
          <p:nvPr/>
        </p:nvSpPr>
        <p:spPr>
          <a:xfrm>
            <a:off x="644649" y="2667762"/>
            <a:ext cx="3257550" cy="720090"/>
          </a:xfrm>
          <a:prstGeom prst="rect">
            <a:avLst/>
          </a:prstGeom>
          <a:noFill/>
          <a:ln/>
        </p:spPr>
        <p:txBody>
          <a:bodyPr/>
          <a:lstStyle/>
          <a:p>
            <a:endParaRPr lang="en-US"/>
          </a:p>
        </p:txBody>
      </p:sp>
      <p:sp>
        <p:nvSpPr>
          <p:cNvPr id="21" name="Text 18"/>
          <p:cNvSpPr/>
          <p:nvPr/>
        </p:nvSpPr>
        <p:spPr>
          <a:xfrm>
            <a:off x="644649"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module compares adjacency lists, matrices, traversal, and paths.</a:t>
            </a:r>
            <a:endParaRPr lang="en-US" sz="1568" dirty="0"/>
          </a:p>
        </p:txBody>
      </p:sp>
      <p:sp>
        <p:nvSpPr>
          <p:cNvPr id="22" name="Shape 19"/>
          <p:cNvSpPr/>
          <p:nvPr/>
        </p:nvSpPr>
        <p:spPr>
          <a:xfrm>
            <a:off x="644649" y="3641598"/>
            <a:ext cx="3257550" cy="720090"/>
          </a:xfrm>
          <a:prstGeom prst="rect">
            <a:avLst/>
          </a:prstGeom>
          <a:noFill/>
          <a:ln/>
        </p:spPr>
        <p:txBody>
          <a:bodyPr/>
          <a:lstStyle/>
          <a:p>
            <a:endParaRPr lang="en-US"/>
          </a:p>
        </p:txBody>
      </p:sp>
      <p:sp>
        <p:nvSpPr>
          <p:cNvPr id="23" name="Shape 20"/>
          <p:cNvSpPr/>
          <p:nvPr/>
        </p:nvSpPr>
        <p:spPr>
          <a:xfrm>
            <a:off x="644649" y="3641598"/>
            <a:ext cx="3257550" cy="720090"/>
          </a:xfrm>
          <a:prstGeom prst="rect">
            <a:avLst/>
          </a:prstGeom>
          <a:noFill/>
          <a:ln/>
        </p:spPr>
        <p:txBody>
          <a:bodyPr/>
          <a:lstStyle/>
          <a:p>
            <a:endParaRPr lang="en-US"/>
          </a:p>
        </p:txBody>
      </p:sp>
      <p:sp>
        <p:nvSpPr>
          <p:cNvPr id="24" name="Text 21"/>
          <p:cNvSpPr/>
          <p:nvPr/>
        </p:nvSpPr>
        <p:spPr>
          <a:xfrm>
            <a:off x="644649"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Benchmarks separate sparse and dense graph behavior.</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305723" y="1083564"/>
            <a:ext cx="2864514"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16</a:t>
            </a:r>
            <a:endParaRPr lang="en-US" sz="427" dirty="0"/>
          </a:p>
        </p:txBody>
      </p:sp>
      <p:sp>
        <p:nvSpPr>
          <p:cNvPr id="2" name="Text 12">
            <a:extLst>
              <a:ext uri="{FF2B5EF4-FFF2-40B4-BE49-F238E27FC236}">
                <a16:creationId xmlns:a16="http://schemas.microsoft.com/office/drawing/2014/main" id="{70DA46EA-9FE0-3906-9F53-090ADC8693BE}"/>
              </a:ext>
            </a:extLst>
          </p:cNvPr>
          <p:cNvSpPr/>
          <p:nvPr/>
        </p:nvSpPr>
        <p:spPr>
          <a:xfrm>
            <a:off x="610359" y="1344168"/>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Graph Algorithms Written Analysis</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Explain how the graph analysis connects representation choice, graph density, traversal, and shortest-path correctness.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77"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503" y="1282446"/>
            <a:ext cx="3326130" cy="192024"/>
          </a:xfrm>
          <a:prstGeom prst="rect">
            <a:avLst/>
          </a:prstGeom>
          <a:noFill/>
          <a:ln/>
        </p:spPr>
        <p:txBody>
          <a:bodyPr/>
          <a:lstStyle/>
          <a:p>
            <a:endParaRPr lang="en-US"/>
          </a:p>
        </p:txBody>
      </p:sp>
      <p:sp>
        <p:nvSpPr>
          <p:cNvPr id="14" name="Shape 11"/>
          <p:cNvSpPr/>
          <p:nvPr/>
        </p:nvSpPr>
        <p:spPr>
          <a:xfrm>
            <a:off x="5095503"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Adjacency lists are usually stronger for sparse graphs.</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Adjacency matrices support dense graphs and direct pair checks.</a:t>
            </a:r>
            <a:endParaRPr lang="en-US" sz="1568" dirty="0"/>
          </a:p>
        </p:txBody>
      </p:sp>
      <p:sp>
        <p:nvSpPr>
          <p:cNvPr id="22" name="Shape 19"/>
          <p:cNvSpPr/>
          <p:nvPr/>
        </p:nvSpPr>
        <p:spPr>
          <a:xfrm>
            <a:off x="5122925" y="3641598"/>
            <a:ext cx="3257550" cy="720090"/>
          </a:xfrm>
          <a:prstGeom prst="rect">
            <a:avLst/>
          </a:prstGeom>
          <a:noFill/>
          <a:ln/>
        </p:spPr>
        <p:txBody>
          <a:bodyPr/>
          <a:lstStyle/>
          <a:p>
            <a:endParaRPr lang="en-US"/>
          </a:p>
        </p:txBody>
      </p:sp>
      <p:sp>
        <p:nvSpPr>
          <p:cNvPr id="23" name="Shape 20"/>
          <p:cNvSpPr/>
          <p:nvPr/>
        </p:nvSpPr>
        <p:spPr>
          <a:xfrm>
            <a:off x="5122925" y="3641598"/>
            <a:ext cx="3257550" cy="720090"/>
          </a:xfrm>
          <a:prstGeom prst="rect">
            <a:avLst/>
          </a:prstGeom>
          <a:noFill/>
          <a:ln/>
        </p:spPr>
        <p:txBody>
          <a:bodyPr/>
          <a:lstStyle/>
          <a:p>
            <a:endParaRPr lang="en-US"/>
          </a:p>
        </p:txBody>
      </p:sp>
      <p:sp>
        <p:nvSpPr>
          <p:cNvPr id="24" name="Text 21"/>
          <p:cNvSpPr/>
          <p:nvPr/>
        </p:nvSpPr>
        <p:spPr>
          <a:xfrm>
            <a:off x="5122925"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Shortest-path algorithms depend on edge-weight assumptions.</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1016571" y="1083564"/>
            <a:ext cx="2829171"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17</a:t>
            </a:r>
            <a:endParaRPr lang="en-US" sz="427" dirty="0"/>
          </a:p>
        </p:txBody>
      </p:sp>
      <p:sp>
        <p:nvSpPr>
          <p:cNvPr id="30" name="Text 12">
            <a:extLst>
              <a:ext uri="{FF2B5EF4-FFF2-40B4-BE49-F238E27FC236}">
                <a16:creationId xmlns:a16="http://schemas.microsoft.com/office/drawing/2014/main" id="{F52CD00B-1757-B8A9-81D8-743D75612E66}"/>
              </a:ext>
            </a:extLst>
          </p:cNvPr>
          <p:cNvSpPr/>
          <p:nvPr/>
        </p:nvSpPr>
        <p:spPr>
          <a:xfrm>
            <a:off x="5114924"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Graph Algorithms Recommendation Guide</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Show how the graph module turns representation and algorithm tradeoffs into workload-based recommendations.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202"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27" y="1282446"/>
            <a:ext cx="3326130" cy="192024"/>
          </a:xfrm>
          <a:prstGeom prst="rect">
            <a:avLst/>
          </a:prstGeom>
          <a:noFill/>
          <a:ln/>
        </p:spPr>
        <p:txBody>
          <a:bodyPr/>
          <a:lstStyle/>
          <a:p>
            <a:endParaRPr lang="en-US"/>
          </a:p>
        </p:txBody>
      </p:sp>
      <p:sp>
        <p:nvSpPr>
          <p:cNvPr id="14" name="Shape 11"/>
          <p:cNvSpPr/>
          <p:nvPr/>
        </p:nvSpPr>
        <p:spPr>
          <a:xfrm>
            <a:off x="617227" y="1282446"/>
            <a:ext cx="3326130" cy="192024"/>
          </a:xfrm>
          <a:prstGeom prst="rect">
            <a:avLst/>
          </a:prstGeom>
          <a:noFill/>
          <a:ln/>
        </p:spPr>
        <p:txBody>
          <a:bodyPr/>
          <a:lstStyle/>
          <a:p>
            <a:endParaRPr lang="en-US"/>
          </a:p>
        </p:txBody>
      </p:sp>
      <p:sp>
        <p:nvSpPr>
          <p:cNvPr id="16" name="Shape 13"/>
          <p:cNvSpPr/>
          <p:nvPr/>
        </p:nvSpPr>
        <p:spPr>
          <a:xfrm>
            <a:off x="644649" y="1693926"/>
            <a:ext cx="3257550" cy="720090"/>
          </a:xfrm>
          <a:prstGeom prst="rect">
            <a:avLst/>
          </a:prstGeom>
          <a:noFill/>
          <a:ln/>
        </p:spPr>
        <p:txBody>
          <a:bodyPr/>
          <a:lstStyle/>
          <a:p>
            <a:endParaRPr lang="en-US"/>
          </a:p>
        </p:txBody>
      </p:sp>
      <p:sp>
        <p:nvSpPr>
          <p:cNvPr id="17" name="Shape 14"/>
          <p:cNvSpPr/>
          <p:nvPr/>
        </p:nvSpPr>
        <p:spPr>
          <a:xfrm>
            <a:off x="644649" y="1693926"/>
            <a:ext cx="3257550" cy="720090"/>
          </a:xfrm>
          <a:prstGeom prst="rect">
            <a:avLst/>
          </a:prstGeom>
          <a:noFill/>
          <a:ln/>
        </p:spPr>
        <p:txBody>
          <a:bodyPr/>
          <a:lstStyle/>
          <a:p>
            <a:endParaRPr lang="en-US"/>
          </a:p>
        </p:txBody>
      </p:sp>
      <p:sp>
        <p:nvSpPr>
          <p:cNvPr id="18" name="Text 15"/>
          <p:cNvSpPr/>
          <p:nvPr/>
        </p:nvSpPr>
        <p:spPr>
          <a:xfrm>
            <a:off x="644649"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BFS fits breadth-oriented unweighted exploration.</a:t>
            </a:r>
            <a:endParaRPr lang="en-US" sz="1568" dirty="0"/>
          </a:p>
        </p:txBody>
      </p:sp>
      <p:sp>
        <p:nvSpPr>
          <p:cNvPr id="19" name="Shape 16"/>
          <p:cNvSpPr/>
          <p:nvPr/>
        </p:nvSpPr>
        <p:spPr>
          <a:xfrm>
            <a:off x="644649" y="2667762"/>
            <a:ext cx="3257550" cy="720090"/>
          </a:xfrm>
          <a:prstGeom prst="rect">
            <a:avLst/>
          </a:prstGeom>
          <a:noFill/>
          <a:ln/>
        </p:spPr>
        <p:txBody>
          <a:bodyPr/>
          <a:lstStyle/>
          <a:p>
            <a:endParaRPr lang="en-US"/>
          </a:p>
        </p:txBody>
      </p:sp>
      <p:sp>
        <p:nvSpPr>
          <p:cNvPr id="20" name="Shape 17"/>
          <p:cNvSpPr/>
          <p:nvPr/>
        </p:nvSpPr>
        <p:spPr>
          <a:xfrm>
            <a:off x="644649" y="2667762"/>
            <a:ext cx="3257550" cy="720090"/>
          </a:xfrm>
          <a:prstGeom prst="rect">
            <a:avLst/>
          </a:prstGeom>
          <a:noFill/>
          <a:ln/>
        </p:spPr>
        <p:txBody>
          <a:bodyPr/>
          <a:lstStyle/>
          <a:p>
            <a:endParaRPr lang="en-US"/>
          </a:p>
        </p:txBody>
      </p:sp>
      <p:sp>
        <p:nvSpPr>
          <p:cNvPr id="21" name="Text 18"/>
          <p:cNvSpPr/>
          <p:nvPr/>
        </p:nvSpPr>
        <p:spPr>
          <a:xfrm>
            <a:off x="644649"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DFS fits depth-oriented traversal.</a:t>
            </a:r>
            <a:endParaRPr lang="en-US" sz="1568" dirty="0"/>
          </a:p>
        </p:txBody>
      </p:sp>
      <p:sp>
        <p:nvSpPr>
          <p:cNvPr id="22" name="Shape 19"/>
          <p:cNvSpPr/>
          <p:nvPr/>
        </p:nvSpPr>
        <p:spPr>
          <a:xfrm>
            <a:off x="644649" y="3641598"/>
            <a:ext cx="3257550" cy="720090"/>
          </a:xfrm>
          <a:prstGeom prst="rect">
            <a:avLst/>
          </a:prstGeom>
          <a:noFill/>
          <a:ln/>
        </p:spPr>
        <p:txBody>
          <a:bodyPr/>
          <a:lstStyle/>
          <a:p>
            <a:endParaRPr lang="en-US"/>
          </a:p>
        </p:txBody>
      </p:sp>
      <p:sp>
        <p:nvSpPr>
          <p:cNvPr id="23" name="Shape 20"/>
          <p:cNvSpPr/>
          <p:nvPr/>
        </p:nvSpPr>
        <p:spPr>
          <a:xfrm>
            <a:off x="644649" y="3641598"/>
            <a:ext cx="3257550" cy="720090"/>
          </a:xfrm>
          <a:prstGeom prst="rect">
            <a:avLst/>
          </a:prstGeom>
          <a:noFill/>
          <a:ln/>
        </p:spPr>
        <p:txBody>
          <a:bodyPr/>
          <a:lstStyle/>
          <a:p>
            <a:endParaRPr lang="en-US"/>
          </a:p>
        </p:txBody>
      </p:sp>
      <p:sp>
        <p:nvSpPr>
          <p:cNvPr id="24" name="Text 21"/>
          <p:cNvSpPr/>
          <p:nvPr/>
        </p:nvSpPr>
        <p:spPr>
          <a:xfrm>
            <a:off x="644649"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Dijkstra and Bellman-Ford serve different weighted-path constraints.</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600030" y="1083564"/>
            <a:ext cx="2275901"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18</a:t>
            </a:r>
            <a:endParaRPr lang="en-US" sz="427" dirty="0"/>
          </a:p>
        </p:txBody>
      </p:sp>
      <p:sp>
        <p:nvSpPr>
          <p:cNvPr id="2" name="Text 12">
            <a:extLst>
              <a:ext uri="{FF2B5EF4-FFF2-40B4-BE49-F238E27FC236}">
                <a16:creationId xmlns:a16="http://schemas.microsoft.com/office/drawing/2014/main" id="{AD5D0CBF-426B-543E-C960-1FBE26F5D3A3}"/>
              </a:ext>
            </a:extLst>
          </p:cNvPr>
          <p:cNvSpPr/>
          <p:nvPr/>
        </p:nvSpPr>
        <p:spPr>
          <a:xfrm>
            <a:off x="610359" y="1296162"/>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Bubble Quickselect Sets Overview</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Introduce the Module 8-native feature area for sets, Bubble Sort, Quickselect, benchmarks, and written analysis.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202"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27" y="1282446"/>
            <a:ext cx="3326130" cy="192024"/>
          </a:xfrm>
          <a:prstGeom prst="rect">
            <a:avLst/>
          </a:prstGeom>
          <a:noFill/>
          <a:ln/>
        </p:spPr>
        <p:txBody>
          <a:bodyPr/>
          <a:lstStyle/>
          <a:p>
            <a:endParaRPr lang="en-US"/>
          </a:p>
        </p:txBody>
      </p:sp>
      <p:sp>
        <p:nvSpPr>
          <p:cNvPr id="14" name="Shape 11"/>
          <p:cNvSpPr/>
          <p:nvPr/>
        </p:nvSpPr>
        <p:spPr>
          <a:xfrm>
            <a:off x="617227" y="1282446"/>
            <a:ext cx="3326130" cy="192024"/>
          </a:xfrm>
          <a:prstGeom prst="rect">
            <a:avLst/>
          </a:prstGeom>
          <a:noFill/>
          <a:ln/>
        </p:spPr>
        <p:txBody>
          <a:bodyPr/>
          <a:lstStyle/>
          <a:p>
            <a:endParaRPr lang="en-US"/>
          </a:p>
        </p:txBody>
      </p:sp>
      <p:sp>
        <p:nvSpPr>
          <p:cNvPr id="16" name="Shape 13"/>
          <p:cNvSpPr/>
          <p:nvPr/>
        </p:nvSpPr>
        <p:spPr>
          <a:xfrm>
            <a:off x="644649" y="1693926"/>
            <a:ext cx="3257550" cy="720090"/>
          </a:xfrm>
          <a:prstGeom prst="rect">
            <a:avLst/>
          </a:prstGeom>
          <a:noFill/>
          <a:ln/>
        </p:spPr>
        <p:txBody>
          <a:bodyPr/>
          <a:lstStyle/>
          <a:p>
            <a:endParaRPr lang="en-US"/>
          </a:p>
        </p:txBody>
      </p:sp>
      <p:sp>
        <p:nvSpPr>
          <p:cNvPr id="17" name="Shape 14"/>
          <p:cNvSpPr/>
          <p:nvPr/>
        </p:nvSpPr>
        <p:spPr>
          <a:xfrm>
            <a:off x="644649" y="1693926"/>
            <a:ext cx="3257550" cy="720090"/>
          </a:xfrm>
          <a:prstGeom prst="rect">
            <a:avLst/>
          </a:prstGeom>
          <a:noFill/>
          <a:ln/>
        </p:spPr>
        <p:txBody>
          <a:bodyPr/>
          <a:lstStyle/>
          <a:p>
            <a:endParaRPr lang="en-US"/>
          </a:p>
        </p:txBody>
      </p:sp>
      <p:sp>
        <p:nvSpPr>
          <p:cNvPr id="18" name="Text 15"/>
          <p:cNvSpPr/>
          <p:nvPr/>
        </p:nvSpPr>
        <p:spPr>
          <a:xfrm>
            <a:off x="644649"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Module 8 adds sets, Bubble Sort, and Quickselect.</a:t>
            </a:r>
            <a:endParaRPr lang="en-US" sz="1568" dirty="0"/>
          </a:p>
        </p:txBody>
      </p:sp>
      <p:sp>
        <p:nvSpPr>
          <p:cNvPr id="19" name="Shape 16"/>
          <p:cNvSpPr/>
          <p:nvPr/>
        </p:nvSpPr>
        <p:spPr>
          <a:xfrm>
            <a:off x="644649" y="2667762"/>
            <a:ext cx="3257550" cy="720090"/>
          </a:xfrm>
          <a:prstGeom prst="rect">
            <a:avLst/>
          </a:prstGeom>
          <a:noFill/>
          <a:ln/>
        </p:spPr>
        <p:txBody>
          <a:bodyPr/>
          <a:lstStyle/>
          <a:p>
            <a:endParaRPr lang="en-US"/>
          </a:p>
        </p:txBody>
      </p:sp>
      <p:sp>
        <p:nvSpPr>
          <p:cNvPr id="20" name="Shape 17"/>
          <p:cNvSpPr/>
          <p:nvPr/>
        </p:nvSpPr>
        <p:spPr>
          <a:xfrm>
            <a:off x="644649" y="2667762"/>
            <a:ext cx="3257550" cy="720090"/>
          </a:xfrm>
          <a:prstGeom prst="rect">
            <a:avLst/>
          </a:prstGeom>
          <a:noFill/>
          <a:ln/>
        </p:spPr>
        <p:txBody>
          <a:bodyPr/>
          <a:lstStyle/>
          <a:p>
            <a:endParaRPr lang="en-US"/>
          </a:p>
        </p:txBody>
      </p:sp>
      <p:sp>
        <p:nvSpPr>
          <p:cNvPr id="21" name="Text 18"/>
          <p:cNvSpPr/>
          <p:nvPr/>
        </p:nvSpPr>
        <p:spPr>
          <a:xfrm>
            <a:off x="644649"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Sets answer membership; sorting answers full order.</a:t>
            </a:r>
            <a:endParaRPr lang="en-US" sz="1568" dirty="0"/>
          </a:p>
        </p:txBody>
      </p:sp>
      <p:sp>
        <p:nvSpPr>
          <p:cNvPr id="22" name="Shape 19"/>
          <p:cNvSpPr/>
          <p:nvPr/>
        </p:nvSpPr>
        <p:spPr>
          <a:xfrm>
            <a:off x="644649" y="3641598"/>
            <a:ext cx="3257550" cy="720090"/>
          </a:xfrm>
          <a:prstGeom prst="rect">
            <a:avLst/>
          </a:prstGeom>
          <a:noFill/>
          <a:ln/>
        </p:spPr>
        <p:txBody>
          <a:bodyPr/>
          <a:lstStyle/>
          <a:p>
            <a:endParaRPr lang="en-US"/>
          </a:p>
        </p:txBody>
      </p:sp>
      <p:sp>
        <p:nvSpPr>
          <p:cNvPr id="23" name="Shape 20"/>
          <p:cNvSpPr/>
          <p:nvPr/>
        </p:nvSpPr>
        <p:spPr>
          <a:xfrm>
            <a:off x="644649" y="3641598"/>
            <a:ext cx="3257550" cy="720090"/>
          </a:xfrm>
          <a:prstGeom prst="rect">
            <a:avLst/>
          </a:prstGeom>
          <a:noFill/>
          <a:ln/>
        </p:spPr>
        <p:txBody>
          <a:bodyPr/>
          <a:lstStyle/>
          <a:p>
            <a:endParaRPr lang="en-US"/>
          </a:p>
        </p:txBody>
      </p:sp>
      <p:sp>
        <p:nvSpPr>
          <p:cNvPr id="24" name="Text 21"/>
          <p:cNvSpPr/>
          <p:nvPr/>
        </p:nvSpPr>
        <p:spPr>
          <a:xfrm>
            <a:off x="644649"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Quickselect answers one rank without fully sorting everything.</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087894" y="1083564"/>
            <a:ext cx="3300191"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19</a:t>
            </a:r>
            <a:endParaRPr lang="en-US" sz="427" dirty="0"/>
          </a:p>
        </p:txBody>
      </p:sp>
      <p:sp>
        <p:nvSpPr>
          <p:cNvPr id="2" name="Text 12">
            <a:extLst>
              <a:ext uri="{FF2B5EF4-FFF2-40B4-BE49-F238E27FC236}">
                <a16:creationId xmlns:a16="http://schemas.microsoft.com/office/drawing/2014/main" id="{69F4C45D-9BA3-E395-1F4E-B3C44FA8E73C}"/>
              </a:ext>
            </a:extLst>
          </p:cNvPr>
          <p:cNvSpPr/>
          <p:nvPr/>
        </p:nvSpPr>
        <p:spPr>
          <a:xfrm>
            <a:off x="576069" y="1344168"/>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Build Set Lab: Initial Sets</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Show the initial Set A and Set B workflow used to prepare the set demonstrations.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77"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503" y="1282446"/>
            <a:ext cx="3326130" cy="192024"/>
          </a:xfrm>
          <a:prstGeom prst="rect">
            <a:avLst/>
          </a:prstGeom>
          <a:noFill/>
          <a:ln/>
        </p:spPr>
        <p:txBody>
          <a:bodyPr/>
          <a:lstStyle/>
          <a:p>
            <a:endParaRPr lang="en-US"/>
          </a:p>
        </p:txBody>
      </p:sp>
      <p:sp>
        <p:nvSpPr>
          <p:cNvPr id="14" name="Shape 11"/>
          <p:cNvSpPr/>
          <p:nvPr/>
        </p:nvSpPr>
        <p:spPr>
          <a:xfrm>
            <a:off x="5095503"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Set A and Set B establish the demonstration data.</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Uniqueness matters more than item position.</a:t>
            </a:r>
            <a:endParaRPr lang="en-US" sz="1568" dirty="0"/>
          </a:p>
        </p:txBody>
      </p:sp>
      <p:sp>
        <p:nvSpPr>
          <p:cNvPr id="22" name="Shape 19"/>
          <p:cNvSpPr/>
          <p:nvPr/>
        </p:nvSpPr>
        <p:spPr>
          <a:xfrm>
            <a:off x="5122925" y="3641598"/>
            <a:ext cx="3257550" cy="720090"/>
          </a:xfrm>
          <a:prstGeom prst="rect">
            <a:avLst/>
          </a:prstGeom>
          <a:noFill/>
          <a:ln/>
        </p:spPr>
        <p:txBody>
          <a:bodyPr/>
          <a:lstStyle/>
          <a:p>
            <a:endParaRPr lang="en-US"/>
          </a:p>
        </p:txBody>
      </p:sp>
      <p:sp>
        <p:nvSpPr>
          <p:cNvPr id="23" name="Shape 20"/>
          <p:cNvSpPr/>
          <p:nvPr/>
        </p:nvSpPr>
        <p:spPr>
          <a:xfrm>
            <a:off x="5122925" y="3641598"/>
            <a:ext cx="3257550" cy="720090"/>
          </a:xfrm>
          <a:prstGeom prst="rect">
            <a:avLst/>
          </a:prstGeom>
          <a:noFill/>
          <a:ln/>
        </p:spPr>
        <p:txBody>
          <a:bodyPr/>
          <a:lstStyle/>
          <a:p>
            <a:endParaRPr lang="en-US"/>
          </a:p>
        </p:txBody>
      </p:sp>
      <p:sp>
        <p:nvSpPr>
          <p:cNvPr id="24" name="Text 21"/>
          <p:cNvSpPr/>
          <p:nvPr/>
        </p:nvSpPr>
        <p:spPr>
          <a:xfrm>
            <a:off x="5122925" y="3641598"/>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screen prepares the static and dynamic set operations.</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1351211" y="1083564"/>
            <a:ext cx="2159892"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20</a:t>
            </a:r>
            <a:endParaRPr lang="en-US" sz="427" dirty="0"/>
          </a:p>
        </p:txBody>
      </p:sp>
      <p:sp>
        <p:nvSpPr>
          <p:cNvPr id="2" name="Text 12">
            <a:extLst>
              <a:ext uri="{FF2B5EF4-FFF2-40B4-BE49-F238E27FC236}">
                <a16:creationId xmlns:a16="http://schemas.microsoft.com/office/drawing/2014/main" id="{F351BE86-B7DC-2C26-B10C-11E5D0322E7B}"/>
              </a:ext>
            </a:extLst>
          </p:cNvPr>
          <p:cNvSpPr/>
          <p:nvPr/>
        </p:nvSpPr>
        <p:spPr>
          <a:xfrm>
            <a:off x="5114924"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0" y="288036"/>
            <a:ext cx="8263890" cy="301752"/>
          </a:xfrm>
          <a:prstGeom prst="rect">
            <a:avLst/>
          </a:prstGeom>
          <a:noFill/>
          <a:ln/>
        </p:spPr>
        <p:txBody>
          <a:bodyPr/>
          <a:lstStyle/>
          <a:p>
            <a:endParaRPr lang="en-US"/>
          </a:p>
        </p:txBody>
      </p:sp>
      <p:sp>
        <p:nvSpPr>
          <p:cNvPr id="6" name="Shape 3"/>
          <p:cNvSpPr/>
          <p:nvPr/>
        </p:nvSpPr>
        <p:spPr>
          <a:xfrm>
            <a:off x="377190" y="288036"/>
            <a:ext cx="8263890" cy="301752"/>
          </a:xfrm>
          <a:prstGeom prst="rect">
            <a:avLst/>
          </a:prstGeom>
          <a:noFill/>
          <a:ln/>
        </p:spPr>
        <p:txBody>
          <a:bodyPr/>
          <a:lstStyle/>
          <a:p>
            <a:endParaRPr lang="en-US"/>
          </a:p>
        </p:txBody>
      </p:sp>
      <p:sp>
        <p:nvSpPr>
          <p:cNvPr id="7" name="Text 4"/>
          <p:cNvSpPr/>
          <p:nvPr/>
        </p:nvSpPr>
        <p:spPr>
          <a:xfrm>
            <a:off x="377190"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Build Set Lab: Dynamic Operations</a:t>
            </a:r>
            <a:endParaRPr lang="en-US" sz="1710" dirty="0"/>
          </a:p>
        </p:txBody>
      </p:sp>
      <p:sp>
        <p:nvSpPr>
          <p:cNvPr id="8" name="Shape 5"/>
          <p:cNvSpPr/>
          <p:nvPr/>
        </p:nvSpPr>
        <p:spPr>
          <a:xfrm>
            <a:off x="377190" y="630936"/>
            <a:ext cx="8263890" cy="192024"/>
          </a:xfrm>
          <a:prstGeom prst="rect">
            <a:avLst/>
          </a:prstGeom>
          <a:noFill/>
          <a:ln/>
        </p:spPr>
        <p:txBody>
          <a:bodyPr/>
          <a:lstStyle/>
          <a:p>
            <a:endParaRPr lang="en-US"/>
          </a:p>
        </p:txBody>
      </p:sp>
      <p:sp>
        <p:nvSpPr>
          <p:cNvPr id="9" name="Shape 6"/>
          <p:cNvSpPr/>
          <p:nvPr/>
        </p:nvSpPr>
        <p:spPr>
          <a:xfrm>
            <a:off x="377190" y="630936"/>
            <a:ext cx="8263890" cy="192024"/>
          </a:xfrm>
          <a:prstGeom prst="rect">
            <a:avLst/>
          </a:prstGeom>
          <a:noFill/>
          <a:ln/>
        </p:spPr>
        <p:txBody>
          <a:bodyPr/>
          <a:lstStyle/>
          <a:p>
            <a:endParaRPr lang="en-US"/>
          </a:p>
        </p:txBody>
      </p:sp>
      <p:sp>
        <p:nvSpPr>
          <p:cNvPr id="10" name="Text 7"/>
          <p:cNvSpPr/>
          <p:nvPr/>
        </p:nvSpPr>
        <p:spPr>
          <a:xfrm>
            <a:off x="377190"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Demonstrate dynamic set operations such as add, remove, and membership checks on a selected target set.</a:t>
            </a:r>
            <a:endParaRPr lang="en-US" sz="819" dirty="0"/>
          </a:p>
        </p:txBody>
      </p:sp>
      <p:sp>
        <p:nvSpPr>
          <p:cNvPr id="11" name="Shape 8"/>
          <p:cNvSpPr/>
          <p:nvPr/>
        </p:nvSpPr>
        <p:spPr>
          <a:xfrm>
            <a:off x="377190"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6"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20" y="1282446"/>
            <a:ext cx="3326130" cy="192024"/>
          </a:xfrm>
          <a:prstGeom prst="rect">
            <a:avLst/>
          </a:prstGeom>
          <a:noFill/>
          <a:ln/>
        </p:spPr>
        <p:txBody>
          <a:bodyPr/>
          <a:lstStyle/>
          <a:p>
            <a:endParaRPr lang="en-US"/>
          </a:p>
        </p:txBody>
      </p:sp>
      <p:sp>
        <p:nvSpPr>
          <p:cNvPr id="14" name="Shape 11"/>
          <p:cNvSpPr/>
          <p:nvPr/>
        </p:nvSpPr>
        <p:spPr>
          <a:xfrm>
            <a:off x="617220" y="1282446"/>
            <a:ext cx="3326130" cy="192024"/>
          </a:xfrm>
          <a:prstGeom prst="rect">
            <a:avLst/>
          </a:prstGeom>
          <a:noFill/>
          <a:ln/>
        </p:spPr>
        <p:txBody>
          <a:bodyPr/>
          <a:lstStyle/>
          <a:p>
            <a:endParaRPr lang="en-US"/>
          </a:p>
        </p:txBody>
      </p:sp>
      <p:sp>
        <p:nvSpPr>
          <p:cNvPr id="16" name="Shape 13"/>
          <p:cNvSpPr/>
          <p:nvPr/>
        </p:nvSpPr>
        <p:spPr>
          <a:xfrm>
            <a:off x="644652" y="1693926"/>
            <a:ext cx="3257550" cy="720090"/>
          </a:xfrm>
          <a:prstGeom prst="rect">
            <a:avLst/>
          </a:prstGeom>
          <a:noFill/>
          <a:ln/>
        </p:spPr>
        <p:txBody>
          <a:bodyPr/>
          <a:lstStyle/>
          <a:p>
            <a:endParaRPr lang="en-US"/>
          </a:p>
        </p:txBody>
      </p:sp>
      <p:sp>
        <p:nvSpPr>
          <p:cNvPr id="17" name="Shape 14"/>
          <p:cNvSpPr/>
          <p:nvPr/>
        </p:nvSpPr>
        <p:spPr>
          <a:xfrm>
            <a:off x="644652" y="1693926"/>
            <a:ext cx="3257550" cy="720090"/>
          </a:xfrm>
          <a:prstGeom prst="rect">
            <a:avLst/>
          </a:prstGeom>
          <a:noFill/>
          <a:ln/>
        </p:spPr>
        <p:txBody>
          <a:bodyPr/>
          <a:lstStyle/>
          <a:p>
            <a:endParaRPr lang="en-US"/>
          </a:p>
        </p:txBody>
      </p:sp>
      <p:sp>
        <p:nvSpPr>
          <p:cNvPr id="18" name="Text 15"/>
          <p:cNvSpPr/>
          <p:nvPr/>
        </p:nvSpPr>
        <p:spPr>
          <a:xfrm>
            <a:off x="644652"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Dynamic operations maintain or inspect one target set.</a:t>
            </a:r>
            <a:endParaRPr lang="en-US" sz="1568" dirty="0"/>
          </a:p>
        </p:txBody>
      </p:sp>
      <p:sp>
        <p:nvSpPr>
          <p:cNvPr id="19" name="Shape 16"/>
          <p:cNvSpPr/>
          <p:nvPr/>
        </p:nvSpPr>
        <p:spPr>
          <a:xfrm>
            <a:off x="644652" y="2667762"/>
            <a:ext cx="3257550" cy="720090"/>
          </a:xfrm>
          <a:prstGeom prst="rect">
            <a:avLst/>
          </a:prstGeom>
          <a:noFill/>
          <a:ln/>
        </p:spPr>
        <p:txBody>
          <a:bodyPr/>
          <a:lstStyle/>
          <a:p>
            <a:endParaRPr lang="en-US"/>
          </a:p>
        </p:txBody>
      </p:sp>
      <p:sp>
        <p:nvSpPr>
          <p:cNvPr id="20" name="Shape 17"/>
          <p:cNvSpPr/>
          <p:nvPr/>
        </p:nvSpPr>
        <p:spPr>
          <a:xfrm>
            <a:off x="644652" y="2667762"/>
            <a:ext cx="3257550" cy="720090"/>
          </a:xfrm>
          <a:prstGeom prst="rect">
            <a:avLst/>
          </a:prstGeom>
          <a:noFill/>
          <a:ln/>
        </p:spPr>
        <p:txBody>
          <a:bodyPr/>
          <a:lstStyle/>
          <a:p>
            <a:endParaRPr lang="en-US"/>
          </a:p>
        </p:txBody>
      </p:sp>
      <p:sp>
        <p:nvSpPr>
          <p:cNvPr id="21" name="Text 18"/>
          <p:cNvSpPr/>
          <p:nvPr/>
        </p:nvSpPr>
        <p:spPr>
          <a:xfrm>
            <a:off x="644652"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Add, remove, and contains focus on membership behavior.</a:t>
            </a:r>
            <a:endParaRPr lang="en-US" sz="1568" dirty="0"/>
          </a:p>
        </p:txBody>
      </p:sp>
      <p:sp>
        <p:nvSpPr>
          <p:cNvPr id="22" name="Shape 19"/>
          <p:cNvSpPr/>
          <p:nvPr/>
        </p:nvSpPr>
        <p:spPr>
          <a:xfrm>
            <a:off x="644652" y="3641599"/>
            <a:ext cx="3257550" cy="720090"/>
          </a:xfrm>
          <a:prstGeom prst="rect">
            <a:avLst/>
          </a:prstGeom>
          <a:noFill/>
          <a:ln/>
        </p:spPr>
        <p:txBody>
          <a:bodyPr/>
          <a:lstStyle/>
          <a:p>
            <a:endParaRPr lang="en-US"/>
          </a:p>
        </p:txBody>
      </p:sp>
      <p:sp>
        <p:nvSpPr>
          <p:cNvPr id="23" name="Shape 20"/>
          <p:cNvSpPr/>
          <p:nvPr/>
        </p:nvSpPr>
        <p:spPr>
          <a:xfrm>
            <a:off x="644652" y="3641599"/>
            <a:ext cx="3257550" cy="720090"/>
          </a:xfrm>
          <a:prstGeom prst="rect">
            <a:avLst/>
          </a:prstGeom>
          <a:noFill/>
          <a:ln/>
        </p:spPr>
        <p:txBody>
          <a:bodyPr/>
          <a:lstStyle/>
          <a:p>
            <a:endParaRPr lang="en-US"/>
          </a:p>
        </p:txBody>
      </p:sp>
      <p:sp>
        <p:nvSpPr>
          <p:cNvPr id="24" name="Text 21"/>
          <p:cNvSpPr/>
          <p:nvPr/>
        </p:nvSpPr>
        <p:spPr>
          <a:xfrm>
            <a:off x="644652"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Hash-backed sets support efficient average-case checks.</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686534" y="1083564"/>
            <a:ext cx="2102901" cy="3703320"/>
          </a:xfrm>
          <a:prstGeom prst="rect">
            <a:avLst/>
          </a:prstGeom>
        </p:spPr>
      </p:pic>
      <p:sp>
        <p:nvSpPr>
          <p:cNvPr id="27" name="Shape 23"/>
          <p:cNvSpPr/>
          <p:nvPr/>
        </p:nvSpPr>
        <p:spPr>
          <a:xfrm>
            <a:off x="8606790" y="4834890"/>
            <a:ext cx="240030" cy="102870"/>
          </a:xfrm>
          <a:prstGeom prst="rect">
            <a:avLst/>
          </a:prstGeom>
          <a:noFill/>
          <a:ln/>
        </p:spPr>
        <p:txBody>
          <a:bodyPr/>
          <a:lstStyle/>
          <a:p>
            <a:endParaRPr lang="en-US"/>
          </a:p>
        </p:txBody>
      </p:sp>
      <p:sp>
        <p:nvSpPr>
          <p:cNvPr id="28" name="Shape 24"/>
          <p:cNvSpPr/>
          <p:nvPr/>
        </p:nvSpPr>
        <p:spPr>
          <a:xfrm>
            <a:off x="8606790" y="4834890"/>
            <a:ext cx="240030" cy="102870"/>
          </a:xfrm>
          <a:prstGeom prst="rect">
            <a:avLst/>
          </a:prstGeom>
          <a:noFill/>
          <a:ln/>
        </p:spPr>
        <p:txBody>
          <a:bodyPr/>
          <a:lstStyle/>
          <a:p>
            <a:endParaRPr lang="en-US"/>
          </a:p>
        </p:txBody>
      </p:sp>
      <p:sp>
        <p:nvSpPr>
          <p:cNvPr id="29" name="Text 25"/>
          <p:cNvSpPr/>
          <p:nvPr/>
        </p:nvSpPr>
        <p:spPr>
          <a:xfrm>
            <a:off x="8606790"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21</a:t>
            </a:r>
            <a:endParaRPr lang="en-US" sz="427" dirty="0"/>
          </a:p>
        </p:txBody>
      </p:sp>
      <p:sp>
        <p:nvSpPr>
          <p:cNvPr id="2" name="Text 12">
            <a:extLst>
              <a:ext uri="{FF2B5EF4-FFF2-40B4-BE49-F238E27FC236}">
                <a16:creationId xmlns:a16="http://schemas.microsoft.com/office/drawing/2014/main" id="{4267B240-4C26-B056-5618-92EE3629B6D6}"/>
              </a:ext>
            </a:extLst>
          </p:cNvPr>
          <p:cNvSpPr/>
          <p:nvPr/>
        </p:nvSpPr>
        <p:spPr>
          <a:xfrm>
            <a:off x="617220" y="1344167"/>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0" y="288036"/>
            <a:ext cx="8263890" cy="301752"/>
          </a:xfrm>
          <a:prstGeom prst="rect">
            <a:avLst/>
          </a:prstGeom>
          <a:noFill/>
          <a:ln/>
        </p:spPr>
        <p:txBody>
          <a:bodyPr/>
          <a:lstStyle/>
          <a:p>
            <a:endParaRPr lang="en-US"/>
          </a:p>
        </p:txBody>
      </p:sp>
      <p:sp>
        <p:nvSpPr>
          <p:cNvPr id="6" name="Shape 3"/>
          <p:cNvSpPr/>
          <p:nvPr/>
        </p:nvSpPr>
        <p:spPr>
          <a:xfrm>
            <a:off x="377190" y="288036"/>
            <a:ext cx="8263890" cy="301752"/>
          </a:xfrm>
          <a:prstGeom prst="rect">
            <a:avLst/>
          </a:prstGeom>
          <a:noFill/>
          <a:ln/>
        </p:spPr>
        <p:txBody>
          <a:bodyPr/>
          <a:lstStyle/>
          <a:p>
            <a:endParaRPr lang="en-US"/>
          </a:p>
        </p:txBody>
      </p:sp>
      <p:sp>
        <p:nvSpPr>
          <p:cNvPr id="7" name="Text 4"/>
          <p:cNvSpPr/>
          <p:nvPr/>
        </p:nvSpPr>
        <p:spPr>
          <a:xfrm>
            <a:off x="377190"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Build Set Lab: Static Operations</a:t>
            </a:r>
            <a:endParaRPr lang="en-US" sz="1710" dirty="0"/>
          </a:p>
        </p:txBody>
      </p:sp>
      <p:sp>
        <p:nvSpPr>
          <p:cNvPr id="8" name="Shape 5"/>
          <p:cNvSpPr/>
          <p:nvPr/>
        </p:nvSpPr>
        <p:spPr>
          <a:xfrm>
            <a:off x="377190" y="630936"/>
            <a:ext cx="8263890" cy="192024"/>
          </a:xfrm>
          <a:prstGeom prst="rect">
            <a:avLst/>
          </a:prstGeom>
          <a:noFill/>
          <a:ln/>
        </p:spPr>
        <p:txBody>
          <a:bodyPr/>
          <a:lstStyle/>
          <a:p>
            <a:endParaRPr lang="en-US"/>
          </a:p>
        </p:txBody>
      </p:sp>
      <p:sp>
        <p:nvSpPr>
          <p:cNvPr id="9" name="Shape 6"/>
          <p:cNvSpPr/>
          <p:nvPr/>
        </p:nvSpPr>
        <p:spPr>
          <a:xfrm>
            <a:off x="377190" y="630936"/>
            <a:ext cx="8263890" cy="192024"/>
          </a:xfrm>
          <a:prstGeom prst="rect">
            <a:avLst/>
          </a:prstGeom>
          <a:noFill/>
          <a:ln/>
        </p:spPr>
        <p:txBody>
          <a:bodyPr/>
          <a:lstStyle/>
          <a:p>
            <a:endParaRPr lang="en-US"/>
          </a:p>
        </p:txBody>
      </p:sp>
      <p:sp>
        <p:nvSpPr>
          <p:cNvPr id="10" name="Text 7"/>
          <p:cNvSpPr/>
          <p:nvPr/>
        </p:nvSpPr>
        <p:spPr>
          <a:xfrm>
            <a:off x="377190"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Demonstrate static set operations that derive new results from Set A and Set B.</a:t>
            </a:r>
            <a:endParaRPr lang="en-US" sz="819" dirty="0"/>
          </a:p>
        </p:txBody>
      </p:sp>
      <p:sp>
        <p:nvSpPr>
          <p:cNvPr id="11" name="Shape 8"/>
          <p:cNvSpPr/>
          <p:nvPr/>
        </p:nvSpPr>
        <p:spPr>
          <a:xfrm>
            <a:off x="377190"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70"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7" y="1693926"/>
            <a:ext cx="3257550" cy="720090"/>
          </a:xfrm>
          <a:prstGeom prst="rect">
            <a:avLst/>
          </a:prstGeom>
          <a:noFill/>
          <a:ln/>
        </p:spPr>
        <p:txBody>
          <a:bodyPr/>
          <a:lstStyle/>
          <a:p>
            <a:endParaRPr lang="en-US"/>
          </a:p>
        </p:txBody>
      </p:sp>
      <p:sp>
        <p:nvSpPr>
          <p:cNvPr id="17" name="Shape 14"/>
          <p:cNvSpPr/>
          <p:nvPr/>
        </p:nvSpPr>
        <p:spPr>
          <a:xfrm>
            <a:off x="5122927" y="1693926"/>
            <a:ext cx="3257550" cy="720090"/>
          </a:xfrm>
          <a:prstGeom prst="rect">
            <a:avLst/>
          </a:prstGeom>
          <a:noFill/>
          <a:ln/>
        </p:spPr>
        <p:txBody>
          <a:bodyPr/>
          <a:lstStyle/>
          <a:p>
            <a:endParaRPr lang="en-US"/>
          </a:p>
        </p:txBody>
      </p:sp>
      <p:sp>
        <p:nvSpPr>
          <p:cNvPr id="18" name="Text 15"/>
          <p:cNvSpPr/>
          <p:nvPr/>
        </p:nvSpPr>
        <p:spPr>
          <a:xfrm>
            <a:off x="5122927"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Static operations compare two sets at once.</a:t>
            </a:r>
            <a:endParaRPr lang="en-US" sz="1568" dirty="0"/>
          </a:p>
        </p:txBody>
      </p:sp>
      <p:sp>
        <p:nvSpPr>
          <p:cNvPr id="19" name="Shape 16"/>
          <p:cNvSpPr/>
          <p:nvPr/>
        </p:nvSpPr>
        <p:spPr>
          <a:xfrm>
            <a:off x="5122927" y="2667762"/>
            <a:ext cx="3257550" cy="720090"/>
          </a:xfrm>
          <a:prstGeom prst="rect">
            <a:avLst/>
          </a:prstGeom>
          <a:noFill/>
          <a:ln/>
        </p:spPr>
        <p:txBody>
          <a:bodyPr/>
          <a:lstStyle/>
          <a:p>
            <a:endParaRPr lang="en-US"/>
          </a:p>
        </p:txBody>
      </p:sp>
      <p:sp>
        <p:nvSpPr>
          <p:cNvPr id="20" name="Shape 17"/>
          <p:cNvSpPr/>
          <p:nvPr/>
        </p:nvSpPr>
        <p:spPr>
          <a:xfrm>
            <a:off x="5122927" y="2667762"/>
            <a:ext cx="3257550" cy="720090"/>
          </a:xfrm>
          <a:prstGeom prst="rect">
            <a:avLst/>
          </a:prstGeom>
          <a:noFill/>
          <a:ln/>
        </p:spPr>
        <p:txBody>
          <a:bodyPr/>
          <a:lstStyle/>
          <a:p>
            <a:endParaRPr lang="en-US"/>
          </a:p>
        </p:txBody>
      </p:sp>
      <p:sp>
        <p:nvSpPr>
          <p:cNvPr id="21" name="Text 18"/>
          <p:cNvSpPr/>
          <p:nvPr/>
        </p:nvSpPr>
        <p:spPr>
          <a:xfrm>
            <a:off x="5122927"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Union, intersection, difference, and symmetric difference answer relationship questions.</a:t>
            </a:r>
            <a:endParaRPr lang="en-US" sz="1568" dirty="0"/>
          </a:p>
        </p:txBody>
      </p:sp>
      <p:sp>
        <p:nvSpPr>
          <p:cNvPr id="22" name="Shape 19"/>
          <p:cNvSpPr/>
          <p:nvPr/>
        </p:nvSpPr>
        <p:spPr>
          <a:xfrm>
            <a:off x="5122927" y="3641599"/>
            <a:ext cx="3257550" cy="720090"/>
          </a:xfrm>
          <a:prstGeom prst="rect">
            <a:avLst/>
          </a:prstGeom>
          <a:noFill/>
          <a:ln/>
        </p:spPr>
        <p:txBody>
          <a:bodyPr/>
          <a:lstStyle/>
          <a:p>
            <a:endParaRPr lang="en-US"/>
          </a:p>
        </p:txBody>
      </p:sp>
      <p:sp>
        <p:nvSpPr>
          <p:cNvPr id="23" name="Shape 20"/>
          <p:cNvSpPr/>
          <p:nvPr/>
        </p:nvSpPr>
        <p:spPr>
          <a:xfrm>
            <a:off x="5122927" y="3641599"/>
            <a:ext cx="3257550" cy="720090"/>
          </a:xfrm>
          <a:prstGeom prst="rect">
            <a:avLst/>
          </a:prstGeom>
          <a:noFill/>
          <a:ln/>
        </p:spPr>
        <p:txBody>
          <a:bodyPr/>
          <a:lstStyle/>
          <a:p>
            <a:endParaRPr lang="en-US"/>
          </a:p>
        </p:txBody>
      </p:sp>
      <p:sp>
        <p:nvSpPr>
          <p:cNvPr id="24" name="Text 21"/>
          <p:cNvSpPr/>
          <p:nvPr/>
        </p:nvSpPr>
        <p:spPr>
          <a:xfrm>
            <a:off x="5122927"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screen shows membership logic rather than sequence order.</a:t>
            </a:r>
            <a:endParaRPr lang="en-US" sz="1568" dirty="0"/>
          </a:p>
        </p:txBody>
      </p:sp>
      <p:sp>
        <p:nvSpPr>
          <p:cNvPr id="25" name="Shape 22"/>
          <p:cNvSpPr/>
          <p:nvPr/>
        </p:nvSpPr>
        <p:spPr>
          <a:xfrm>
            <a:off x="493776"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1274025" y="1083564"/>
            <a:ext cx="2314272"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22</a:t>
            </a:r>
            <a:endParaRPr lang="en-US" sz="427" dirty="0"/>
          </a:p>
        </p:txBody>
      </p:sp>
      <p:sp>
        <p:nvSpPr>
          <p:cNvPr id="2" name="Text 12">
            <a:extLst>
              <a:ext uri="{FF2B5EF4-FFF2-40B4-BE49-F238E27FC236}">
                <a16:creationId xmlns:a16="http://schemas.microsoft.com/office/drawing/2014/main" id="{32C2A9DB-B616-FCD9-241D-66BB66583F83}"/>
              </a:ext>
            </a:extLst>
          </p:cNvPr>
          <p:cNvSpPr/>
          <p:nvPr/>
        </p:nvSpPr>
        <p:spPr>
          <a:xfrm>
            <a:off x="5114924"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Bubble Sort Lab: Trace Setup</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Introduce the Bubble Sort lab and its traceable workflow for sorting integer datasets.</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70"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7" y="1693926"/>
            <a:ext cx="3257550" cy="720090"/>
          </a:xfrm>
          <a:prstGeom prst="rect">
            <a:avLst/>
          </a:prstGeom>
          <a:noFill/>
          <a:ln/>
        </p:spPr>
        <p:txBody>
          <a:bodyPr/>
          <a:lstStyle/>
          <a:p>
            <a:endParaRPr lang="en-US"/>
          </a:p>
        </p:txBody>
      </p:sp>
      <p:sp>
        <p:nvSpPr>
          <p:cNvPr id="17" name="Shape 14"/>
          <p:cNvSpPr/>
          <p:nvPr/>
        </p:nvSpPr>
        <p:spPr>
          <a:xfrm>
            <a:off x="5122927" y="1693926"/>
            <a:ext cx="3257550" cy="720090"/>
          </a:xfrm>
          <a:prstGeom prst="rect">
            <a:avLst/>
          </a:prstGeom>
          <a:noFill/>
          <a:ln/>
        </p:spPr>
        <p:txBody>
          <a:bodyPr/>
          <a:lstStyle/>
          <a:p>
            <a:endParaRPr lang="en-US"/>
          </a:p>
        </p:txBody>
      </p:sp>
      <p:sp>
        <p:nvSpPr>
          <p:cNvPr id="18" name="Text 15"/>
          <p:cNvSpPr/>
          <p:nvPr/>
        </p:nvSpPr>
        <p:spPr>
          <a:xfrm>
            <a:off x="5122927"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Bubble Sort traces adjacent comparisons and swaps.</a:t>
            </a:r>
            <a:endParaRPr lang="en-US" sz="1568" dirty="0"/>
          </a:p>
        </p:txBody>
      </p:sp>
      <p:sp>
        <p:nvSpPr>
          <p:cNvPr id="19" name="Shape 16"/>
          <p:cNvSpPr/>
          <p:nvPr/>
        </p:nvSpPr>
        <p:spPr>
          <a:xfrm>
            <a:off x="5122927" y="2667762"/>
            <a:ext cx="3257550" cy="720090"/>
          </a:xfrm>
          <a:prstGeom prst="rect">
            <a:avLst/>
          </a:prstGeom>
          <a:noFill/>
          <a:ln/>
        </p:spPr>
        <p:txBody>
          <a:bodyPr/>
          <a:lstStyle/>
          <a:p>
            <a:endParaRPr lang="en-US"/>
          </a:p>
        </p:txBody>
      </p:sp>
      <p:sp>
        <p:nvSpPr>
          <p:cNvPr id="20" name="Shape 17"/>
          <p:cNvSpPr/>
          <p:nvPr/>
        </p:nvSpPr>
        <p:spPr>
          <a:xfrm>
            <a:off x="5122927" y="2667762"/>
            <a:ext cx="3257550" cy="720090"/>
          </a:xfrm>
          <a:prstGeom prst="rect">
            <a:avLst/>
          </a:prstGeom>
          <a:noFill/>
          <a:ln/>
        </p:spPr>
        <p:txBody>
          <a:bodyPr/>
          <a:lstStyle/>
          <a:p>
            <a:endParaRPr lang="en-US"/>
          </a:p>
        </p:txBody>
      </p:sp>
      <p:sp>
        <p:nvSpPr>
          <p:cNvPr id="21" name="Text 18"/>
          <p:cNvSpPr/>
          <p:nvPr/>
        </p:nvSpPr>
        <p:spPr>
          <a:xfrm>
            <a:off x="5122927"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setup makes the input and execution path visible.</a:t>
            </a:r>
            <a:endParaRPr lang="en-US" sz="1568" dirty="0"/>
          </a:p>
        </p:txBody>
      </p:sp>
      <p:sp>
        <p:nvSpPr>
          <p:cNvPr id="22" name="Shape 19"/>
          <p:cNvSpPr/>
          <p:nvPr/>
        </p:nvSpPr>
        <p:spPr>
          <a:xfrm>
            <a:off x="5122927" y="3641599"/>
            <a:ext cx="3257550" cy="720090"/>
          </a:xfrm>
          <a:prstGeom prst="rect">
            <a:avLst/>
          </a:prstGeom>
          <a:noFill/>
          <a:ln/>
        </p:spPr>
        <p:txBody>
          <a:bodyPr/>
          <a:lstStyle/>
          <a:p>
            <a:endParaRPr lang="en-US"/>
          </a:p>
        </p:txBody>
      </p:sp>
      <p:sp>
        <p:nvSpPr>
          <p:cNvPr id="23" name="Shape 20"/>
          <p:cNvSpPr/>
          <p:nvPr/>
        </p:nvSpPr>
        <p:spPr>
          <a:xfrm>
            <a:off x="5122927" y="3641599"/>
            <a:ext cx="3257550" cy="720090"/>
          </a:xfrm>
          <a:prstGeom prst="rect">
            <a:avLst/>
          </a:prstGeom>
          <a:noFill/>
          <a:ln/>
        </p:spPr>
        <p:txBody>
          <a:bodyPr/>
          <a:lstStyle/>
          <a:p>
            <a:endParaRPr lang="en-US"/>
          </a:p>
        </p:txBody>
      </p:sp>
      <p:sp>
        <p:nvSpPr>
          <p:cNvPr id="24" name="Text 21"/>
          <p:cNvSpPr/>
          <p:nvPr/>
        </p:nvSpPr>
        <p:spPr>
          <a:xfrm>
            <a:off x="5122927"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This lab favors clarity over production efficiency.</a:t>
            </a:r>
            <a:endParaRPr lang="en-US" sz="1568" dirty="0"/>
          </a:p>
        </p:txBody>
      </p:sp>
      <p:sp>
        <p:nvSpPr>
          <p:cNvPr id="25" name="Shape 22"/>
          <p:cNvSpPr/>
          <p:nvPr/>
        </p:nvSpPr>
        <p:spPr>
          <a:xfrm>
            <a:off x="493777"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637482" y="1083564"/>
            <a:ext cx="3587358"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23</a:t>
            </a:r>
            <a:endParaRPr lang="en-US" sz="427" dirty="0"/>
          </a:p>
        </p:txBody>
      </p:sp>
      <p:sp>
        <p:nvSpPr>
          <p:cNvPr id="2" name="Text 12">
            <a:extLst>
              <a:ext uri="{FF2B5EF4-FFF2-40B4-BE49-F238E27FC236}">
                <a16:creationId xmlns:a16="http://schemas.microsoft.com/office/drawing/2014/main" id="{05AE6ED0-C428-0D8B-35B9-B4424AEF0ED7}"/>
              </a:ext>
            </a:extLst>
          </p:cNvPr>
          <p:cNvSpPr/>
          <p:nvPr/>
        </p:nvSpPr>
        <p:spPr>
          <a:xfrm>
            <a:off x="5114924"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Bubble Sort Lab: Trace Results</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Show the Bubble Sort trace output and connect adjacent comparison behavior to quadratic cost.</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5"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20" y="1282446"/>
            <a:ext cx="3326130" cy="192024"/>
          </a:xfrm>
          <a:prstGeom prst="rect">
            <a:avLst/>
          </a:prstGeom>
          <a:noFill/>
          <a:ln/>
        </p:spPr>
        <p:txBody>
          <a:bodyPr/>
          <a:lstStyle/>
          <a:p>
            <a:endParaRPr lang="en-US"/>
          </a:p>
        </p:txBody>
      </p:sp>
      <p:sp>
        <p:nvSpPr>
          <p:cNvPr id="14" name="Shape 11"/>
          <p:cNvSpPr/>
          <p:nvPr/>
        </p:nvSpPr>
        <p:spPr>
          <a:xfrm>
            <a:off x="617220" y="1282446"/>
            <a:ext cx="3326130" cy="192024"/>
          </a:xfrm>
          <a:prstGeom prst="rect">
            <a:avLst/>
          </a:prstGeom>
          <a:noFill/>
          <a:ln/>
        </p:spPr>
        <p:txBody>
          <a:bodyPr/>
          <a:lstStyle/>
          <a:p>
            <a:endParaRPr lang="en-US"/>
          </a:p>
        </p:txBody>
      </p:sp>
      <p:sp>
        <p:nvSpPr>
          <p:cNvPr id="16" name="Shape 13"/>
          <p:cNvSpPr/>
          <p:nvPr/>
        </p:nvSpPr>
        <p:spPr>
          <a:xfrm>
            <a:off x="644651" y="1693926"/>
            <a:ext cx="3257550" cy="720090"/>
          </a:xfrm>
          <a:prstGeom prst="rect">
            <a:avLst/>
          </a:prstGeom>
          <a:noFill/>
          <a:ln/>
        </p:spPr>
        <p:txBody>
          <a:bodyPr/>
          <a:lstStyle/>
          <a:p>
            <a:endParaRPr lang="en-US"/>
          </a:p>
        </p:txBody>
      </p:sp>
      <p:sp>
        <p:nvSpPr>
          <p:cNvPr id="17" name="Shape 14"/>
          <p:cNvSpPr/>
          <p:nvPr/>
        </p:nvSpPr>
        <p:spPr>
          <a:xfrm>
            <a:off x="644651" y="1693926"/>
            <a:ext cx="3257550" cy="720090"/>
          </a:xfrm>
          <a:prstGeom prst="rect">
            <a:avLst/>
          </a:prstGeom>
          <a:noFill/>
          <a:ln/>
        </p:spPr>
        <p:txBody>
          <a:bodyPr/>
          <a:lstStyle/>
          <a:p>
            <a:endParaRPr lang="en-US"/>
          </a:p>
        </p:txBody>
      </p:sp>
      <p:sp>
        <p:nvSpPr>
          <p:cNvPr id="18" name="Text 15"/>
          <p:cNvSpPr/>
          <p:nvPr/>
        </p:nvSpPr>
        <p:spPr>
          <a:xfrm>
            <a:off x="644651"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Trace output exposes each pass of the algorithm.</a:t>
            </a:r>
            <a:endParaRPr lang="en-US" sz="1568" dirty="0"/>
          </a:p>
        </p:txBody>
      </p:sp>
      <p:sp>
        <p:nvSpPr>
          <p:cNvPr id="19" name="Shape 16"/>
          <p:cNvSpPr/>
          <p:nvPr/>
        </p:nvSpPr>
        <p:spPr>
          <a:xfrm>
            <a:off x="644651" y="2667762"/>
            <a:ext cx="3257550" cy="720090"/>
          </a:xfrm>
          <a:prstGeom prst="rect">
            <a:avLst/>
          </a:prstGeom>
          <a:noFill/>
          <a:ln/>
        </p:spPr>
        <p:txBody>
          <a:bodyPr/>
          <a:lstStyle/>
          <a:p>
            <a:endParaRPr lang="en-US"/>
          </a:p>
        </p:txBody>
      </p:sp>
      <p:sp>
        <p:nvSpPr>
          <p:cNvPr id="20" name="Shape 17"/>
          <p:cNvSpPr/>
          <p:nvPr/>
        </p:nvSpPr>
        <p:spPr>
          <a:xfrm>
            <a:off x="644651" y="2667762"/>
            <a:ext cx="3257550" cy="720090"/>
          </a:xfrm>
          <a:prstGeom prst="rect">
            <a:avLst/>
          </a:prstGeom>
          <a:noFill/>
          <a:ln/>
        </p:spPr>
        <p:txBody>
          <a:bodyPr/>
          <a:lstStyle/>
          <a:p>
            <a:endParaRPr lang="en-US"/>
          </a:p>
        </p:txBody>
      </p:sp>
      <p:sp>
        <p:nvSpPr>
          <p:cNvPr id="21" name="Text 18"/>
          <p:cNvSpPr/>
          <p:nvPr/>
        </p:nvSpPr>
        <p:spPr>
          <a:xfrm>
            <a:off x="644651"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result shows how local swaps produce full order.</a:t>
            </a:r>
            <a:endParaRPr lang="en-US" sz="1568" dirty="0"/>
          </a:p>
        </p:txBody>
      </p:sp>
      <p:sp>
        <p:nvSpPr>
          <p:cNvPr id="22" name="Shape 19"/>
          <p:cNvSpPr/>
          <p:nvPr/>
        </p:nvSpPr>
        <p:spPr>
          <a:xfrm>
            <a:off x="644651" y="3641599"/>
            <a:ext cx="3257550" cy="720090"/>
          </a:xfrm>
          <a:prstGeom prst="rect">
            <a:avLst/>
          </a:prstGeom>
          <a:noFill/>
          <a:ln/>
        </p:spPr>
        <p:txBody>
          <a:bodyPr/>
          <a:lstStyle/>
          <a:p>
            <a:endParaRPr lang="en-US"/>
          </a:p>
        </p:txBody>
      </p:sp>
      <p:sp>
        <p:nvSpPr>
          <p:cNvPr id="23" name="Shape 20"/>
          <p:cNvSpPr/>
          <p:nvPr/>
        </p:nvSpPr>
        <p:spPr>
          <a:xfrm>
            <a:off x="644651" y="3641599"/>
            <a:ext cx="3257550" cy="720090"/>
          </a:xfrm>
          <a:prstGeom prst="rect">
            <a:avLst/>
          </a:prstGeom>
          <a:noFill/>
          <a:ln/>
        </p:spPr>
        <p:txBody>
          <a:bodyPr/>
          <a:lstStyle/>
          <a:p>
            <a:endParaRPr lang="en-US"/>
          </a:p>
        </p:txBody>
      </p:sp>
      <p:sp>
        <p:nvSpPr>
          <p:cNvPr id="24" name="Text 21"/>
          <p:cNvSpPr/>
          <p:nvPr/>
        </p:nvSpPr>
        <p:spPr>
          <a:xfrm>
            <a:off x="644651"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Students can see why Bubble Sort grows quadratically.</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6354089" y="1083564"/>
            <a:ext cx="767793"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24</a:t>
            </a:r>
            <a:endParaRPr lang="en-US" sz="427" dirty="0"/>
          </a:p>
        </p:txBody>
      </p:sp>
      <p:sp>
        <p:nvSpPr>
          <p:cNvPr id="2" name="Text 12">
            <a:extLst>
              <a:ext uri="{FF2B5EF4-FFF2-40B4-BE49-F238E27FC236}">
                <a16:creationId xmlns:a16="http://schemas.microsoft.com/office/drawing/2014/main" id="{52EE64A9-09B7-2217-FAE3-0B0B6B398E9C}"/>
              </a:ext>
            </a:extLst>
          </p:cNvPr>
          <p:cNvSpPr/>
          <p:nvPr/>
        </p:nvSpPr>
        <p:spPr>
          <a:xfrm>
            <a:off x="630935" y="1309877"/>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Quickselect Lab: Valid Rank Selection</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Demonstrate Quickselect as a rank-selection algorithm rather than a full sorting algorithm.</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Quickselect returns the kth-smallest value.</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It avoids sorting the entire dataset when only one rank matters.</a:t>
            </a:r>
            <a:endParaRPr lang="en-US" sz="1568" dirty="0"/>
          </a:p>
        </p:txBody>
      </p:sp>
      <p:sp>
        <p:nvSpPr>
          <p:cNvPr id="22" name="Shape 19"/>
          <p:cNvSpPr/>
          <p:nvPr/>
        </p:nvSpPr>
        <p:spPr>
          <a:xfrm>
            <a:off x="5122925" y="3641599"/>
            <a:ext cx="3257550" cy="720090"/>
          </a:xfrm>
          <a:prstGeom prst="rect">
            <a:avLst/>
          </a:prstGeom>
          <a:noFill/>
          <a:ln/>
        </p:spPr>
        <p:txBody>
          <a:bodyPr/>
          <a:lstStyle/>
          <a:p>
            <a:endParaRPr lang="en-US"/>
          </a:p>
        </p:txBody>
      </p:sp>
      <p:sp>
        <p:nvSpPr>
          <p:cNvPr id="23" name="Shape 20"/>
          <p:cNvSpPr/>
          <p:nvPr/>
        </p:nvSpPr>
        <p:spPr>
          <a:xfrm>
            <a:off x="5122925" y="3641599"/>
            <a:ext cx="3257550" cy="720090"/>
          </a:xfrm>
          <a:prstGeom prst="rect">
            <a:avLst/>
          </a:prstGeom>
          <a:noFill/>
          <a:ln/>
        </p:spPr>
        <p:txBody>
          <a:bodyPr/>
          <a:lstStyle/>
          <a:p>
            <a:endParaRPr lang="en-US"/>
          </a:p>
        </p:txBody>
      </p:sp>
      <p:sp>
        <p:nvSpPr>
          <p:cNvPr id="24" name="Text 21"/>
          <p:cNvSpPr/>
          <p:nvPr/>
        </p:nvSpPr>
        <p:spPr>
          <a:xfrm>
            <a:off x="5122925"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screen demonstrates selection as a different problem from sorting.</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798054" y="1083564"/>
            <a:ext cx="3266219"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25</a:t>
            </a:r>
            <a:endParaRPr lang="en-US" sz="427" dirty="0"/>
          </a:p>
        </p:txBody>
      </p:sp>
      <p:sp>
        <p:nvSpPr>
          <p:cNvPr id="2" name="Text 12">
            <a:extLst>
              <a:ext uri="{FF2B5EF4-FFF2-40B4-BE49-F238E27FC236}">
                <a16:creationId xmlns:a16="http://schemas.microsoft.com/office/drawing/2014/main" id="{2619A440-17B7-8EC6-9C9B-2BEE60ABC01A}"/>
              </a:ext>
            </a:extLst>
          </p:cNvPr>
          <p:cNvSpPr/>
          <p:nvPr/>
        </p:nvSpPr>
        <p:spPr>
          <a:xfrm>
            <a:off x="5114924"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Quickselect Lab: Validation</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Show how the Quickselect lab validates invalid rank input and preserves correct algorithm behavior.</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7"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54" y="1693926"/>
            <a:ext cx="3257550" cy="720090"/>
          </a:xfrm>
          <a:prstGeom prst="rect">
            <a:avLst/>
          </a:prstGeom>
          <a:noFill/>
          <a:ln/>
        </p:spPr>
        <p:txBody>
          <a:bodyPr/>
          <a:lstStyle/>
          <a:p>
            <a:endParaRPr lang="en-US"/>
          </a:p>
        </p:txBody>
      </p:sp>
      <p:sp>
        <p:nvSpPr>
          <p:cNvPr id="17" name="Shape 14"/>
          <p:cNvSpPr/>
          <p:nvPr/>
        </p:nvSpPr>
        <p:spPr>
          <a:xfrm>
            <a:off x="644654" y="1693926"/>
            <a:ext cx="3257550" cy="720090"/>
          </a:xfrm>
          <a:prstGeom prst="rect">
            <a:avLst/>
          </a:prstGeom>
          <a:noFill/>
          <a:ln/>
        </p:spPr>
        <p:txBody>
          <a:bodyPr/>
          <a:lstStyle/>
          <a:p>
            <a:endParaRPr lang="en-US"/>
          </a:p>
        </p:txBody>
      </p:sp>
      <p:sp>
        <p:nvSpPr>
          <p:cNvPr id="18" name="Text 15"/>
          <p:cNvSpPr/>
          <p:nvPr/>
        </p:nvSpPr>
        <p:spPr>
          <a:xfrm>
            <a:off x="644654"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Invalid k values are handled with clear validation.</a:t>
            </a:r>
            <a:endParaRPr lang="en-US" sz="1568" dirty="0"/>
          </a:p>
        </p:txBody>
      </p:sp>
      <p:sp>
        <p:nvSpPr>
          <p:cNvPr id="19" name="Shape 16"/>
          <p:cNvSpPr/>
          <p:nvPr/>
        </p:nvSpPr>
        <p:spPr>
          <a:xfrm>
            <a:off x="644654" y="2667762"/>
            <a:ext cx="3257550" cy="720090"/>
          </a:xfrm>
          <a:prstGeom prst="rect">
            <a:avLst/>
          </a:prstGeom>
          <a:noFill/>
          <a:ln/>
        </p:spPr>
        <p:txBody>
          <a:bodyPr/>
          <a:lstStyle/>
          <a:p>
            <a:endParaRPr lang="en-US"/>
          </a:p>
        </p:txBody>
      </p:sp>
      <p:sp>
        <p:nvSpPr>
          <p:cNvPr id="20" name="Shape 17"/>
          <p:cNvSpPr/>
          <p:nvPr/>
        </p:nvSpPr>
        <p:spPr>
          <a:xfrm>
            <a:off x="644654" y="2667762"/>
            <a:ext cx="3257550" cy="720090"/>
          </a:xfrm>
          <a:prstGeom prst="rect">
            <a:avLst/>
          </a:prstGeom>
          <a:noFill/>
          <a:ln/>
        </p:spPr>
        <p:txBody>
          <a:bodyPr/>
          <a:lstStyle/>
          <a:p>
            <a:endParaRPr lang="en-US"/>
          </a:p>
        </p:txBody>
      </p:sp>
      <p:sp>
        <p:nvSpPr>
          <p:cNvPr id="21" name="Text 18"/>
          <p:cNvSpPr/>
          <p:nvPr/>
        </p:nvSpPr>
        <p:spPr>
          <a:xfrm>
            <a:off x="644654"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app protects the algorithm from impossible rank requests.</a:t>
            </a:r>
            <a:endParaRPr lang="en-US" sz="1568" dirty="0"/>
          </a:p>
        </p:txBody>
      </p:sp>
      <p:sp>
        <p:nvSpPr>
          <p:cNvPr id="22" name="Shape 19"/>
          <p:cNvSpPr/>
          <p:nvPr/>
        </p:nvSpPr>
        <p:spPr>
          <a:xfrm>
            <a:off x="644654" y="3641599"/>
            <a:ext cx="3257550" cy="720090"/>
          </a:xfrm>
          <a:prstGeom prst="rect">
            <a:avLst/>
          </a:prstGeom>
          <a:noFill/>
          <a:ln/>
        </p:spPr>
        <p:txBody>
          <a:bodyPr/>
          <a:lstStyle/>
          <a:p>
            <a:endParaRPr lang="en-US"/>
          </a:p>
        </p:txBody>
      </p:sp>
      <p:sp>
        <p:nvSpPr>
          <p:cNvPr id="23" name="Shape 20"/>
          <p:cNvSpPr/>
          <p:nvPr/>
        </p:nvSpPr>
        <p:spPr>
          <a:xfrm>
            <a:off x="644654" y="3641599"/>
            <a:ext cx="3257550" cy="720090"/>
          </a:xfrm>
          <a:prstGeom prst="rect">
            <a:avLst/>
          </a:prstGeom>
          <a:noFill/>
          <a:ln/>
        </p:spPr>
        <p:txBody>
          <a:bodyPr/>
          <a:lstStyle/>
          <a:p>
            <a:endParaRPr lang="en-US"/>
          </a:p>
        </p:txBody>
      </p:sp>
      <p:sp>
        <p:nvSpPr>
          <p:cNvPr id="24" name="Text 21"/>
          <p:cNvSpPr/>
          <p:nvPr/>
        </p:nvSpPr>
        <p:spPr>
          <a:xfrm>
            <a:off x="644654"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This screen shows user-facing robustness, not only runtime behavior.</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4882423" y="1083564"/>
            <a:ext cx="3711127"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26</a:t>
            </a:r>
            <a:endParaRPr lang="en-US" sz="427" dirty="0"/>
          </a:p>
        </p:txBody>
      </p:sp>
      <p:sp>
        <p:nvSpPr>
          <p:cNvPr id="2" name="Text 12">
            <a:extLst>
              <a:ext uri="{FF2B5EF4-FFF2-40B4-BE49-F238E27FC236}">
                <a16:creationId xmlns:a16="http://schemas.microsoft.com/office/drawing/2014/main" id="{36960FE1-9E81-F7DD-22F7-1DFFA7EC5FBE}"/>
              </a:ext>
            </a:extLst>
          </p:cNvPr>
          <p:cNvSpPr/>
          <p:nvPr/>
        </p:nvSpPr>
        <p:spPr>
          <a:xfrm>
            <a:off x="644654" y="1323594"/>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Bubble Quickselect Sets Benchmark Lab</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Compare Bubble Sort, Python `sorted`, Quickselect, and full-sort selection with saved benchmark evidence.</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7"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54" y="1693926"/>
            <a:ext cx="3257550" cy="720090"/>
          </a:xfrm>
          <a:prstGeom prst="rect">
            <a:avLst/>
          </a:prstGeom>
          <a:noFill/>
          <a:ln/>
        </p:spPr>
        <p:txBody>
          <a:bodyPr/>
          <a:lstStyle/>
          <a:p>
            <a:endParaRPr lang="en-US"/>
          </a:p>
        </p:txBody>
      </p:sp>
      <p:sp>
        <p:nvSpPr>
          <p:cNvPr id="17" name="Shape 14"/>
          <p:cNvSpPr/>
          <p:nvPr/>
        </p:nvSpPr>
        <p:spPr>
          <a:xfrm>
            <a:off x="644654" y="1693926"/>
            <a:ext cx="3257550" cy="720090"/>
          </a:xfrm>
          <a:prstGeom prst="rect">
            <a:avLst/>
          </a:prstGeom>
          <a:noFill/>
          <a:ln/>
        </p:spPr>
        <p:txBody>
          <a:bodyPr/>
          <a:lstStyle/>
          <a:p>
            <a:endParaRPr lang="en-US"/>
          </a:p>
        </p:txBody>
      </p:sp>
      <p:sp>
        <p:nvSpPr>
          <p:cNvPr id="18" name="Text 15"/>
          <p:cNvSpPr/>
          <p:nvPr/>
        </p:nvSpPr>
        <p:spPr>
          <a:xfrm>
            <a:off x="644654"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Benchmarks compare set membership, Bubble Sort, and Quickselect.</a:t>
            </a:r>
            <a:endParaRPr lang="en-US" sz="1568" dirty="0"/>
          </a:p>
        </p:txBody>
      </p:sp>
      <p:sp>
        <p:nvSpPr>
          <p:cNvPr id="19" name="Shape 16"/>
          <p:cNvSpPr/>
          <p:nvPr/>
        </p:nvSpPr>
        <p:spPr>
          <a:xfrm>
            <a:off x="644654" y="2667762"/>
            <a:ext cx="3257550" cy="720090"/>
          </a:xfrm>
          <a:prstGeom prst="rect">
            <a:avLst/>
          </a:prstGeom>
          <a:noFill/>
          <a:ln/>
        </p:spPr>
        <p:txBody>
          <a:bodyPr/>
          <a:lstStyle/>
          <a:p>
            <a:endParaRPr lang="en-US"/>
          </a:p>
        </p:txBody>
      </p:sp>
      <p:sp>
        <p:nvSpPr>
          <p:cNvPr id="20" name="Shape 17"/>
          <p:cNvSpPr/>
          <p:nvPr/>
        </p:nvSpPr>
        <p:spPr>
          <a:xfrm>
            <a:off x="644654" y="2667762"/>
            <a:ext cx="3257550" cy="720090"/>
          </a:xfrm>
          <a:prstGeom prst="rect">
            <a:avLst/>
          </a:prstGeom>
          <a:noFill/>
          <a:ln/>
        </p:spPr>
        <p:txBody>
          <a:bodyPr/>
          <a:lstStyle/>
          <a:p>
            <a:endParaRPr lang="en-US"/>
          </a:p>
        </p:txBody>
      </p:sp>
      <p:sp>
        <p:nvSpPr>
          <p:cNvPr id="21" name="Text 18"/>
          <p:cNvSpPr/>
          <p:nvPr/>
        </p:nvSpPr>
        <p:spPr>
          <a:xfrm>
            <a:off x="644654"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Different operations produce different growth patterns.</a:t>
            </a:r>
            <a:endParaRPr lang="en-US" sz="1568" dirty="0"/>
          </a:p>
        </p:txBody>
      </p:sp>
      <p:sp>
        <p:nvSpPr>
          <p:cNvPr id="22" name="Shape 19"/>
          <p:cNvSpPr/>
          <p:nvPr/>
        </p:nvSpPr>
        <p:spPr>
          <a:xfrm>
            <a:off x="644654" y="3641599"/>
            <a:ext cx="3257550" cy="720090"/>
          </a:xfrm>
          <a:prstGeom prst="rect">
            <a:avLst/>
          </a:prstGeom>
          <a:noFill/>
          <a:ln/>
        </p:spPr>
        <p:txBody>
          <a:bodyPr/>
          <a:lstStyle/>
          <a:p>
            <a:endParaRPr lang="en-US"/>
          </a:p>
        </p:txBody>
      </p:sp>
      <p:sp>
        <p:nvSpPr>
          <p:cNvPr id="23" name="Shape 20"/>
          <p:cNvSpPr/>
          <p:nvPr/>
        </p:nvSpPr>
        <p:spPr>
          <a:xfrm>
            <a:off x="644654" y="3641599"/>
            <a:ext cx="3257550" cy="720090"/>
          </a:xfrm>
          <a:prstGeom prst="rect">
            <a:avLst/>
          </a:prstGeom>
          <a:noFill/>
          <a:ln/>
        </p:spPr>
        <p:txBody>
          <a:bodyPr/>
          <a:lstStyle/>
          <a:p>
            <a:endParaRPr lang="en-US"/>
          </a:p>
        </p:txBody>
      </p:sp>
      <p:sp>
        <p:nvSpPr>
          <p:cNvPr id="24" name="Text 21"/>
          <p:cNvSpPr/>
          <p:nvPr/>
        </p:nvSpPr>
        <p:spPr>
          <a:xfrm>
            <a:off x="644654"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lab connects observed timing to Big-O expectations.</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581878" y="1083564"/>
            <a:ext cx="2312213" cy="3703320"/>
          </a:xfrm>
          <a:prstGeom prst="rect">
            <a:avLst/>
          </a:prstGeom>
        </p:spPr>
      </p:pic>
      <p:sp>
        <p:nvSpPr>
          <p:cNvPr id="27" name="Shape 23"/>
          <p:cNvSpPr/>
          <p:nvPr/>
        </p:nvSpPr>
        <p:spPr>
          <a:xfrm>
            <a:off x="8606791" y="4834890"/>
            <a:ext cx="240030" cy="102870"/>
          </a:xfrm>
          <a:prstGeom prst="rect">
            <a:avLst/>
          </a:prstGeom>
          <a:noFill/>
          <a:ln/>
        </p:spPr>
        <p:txBody>
          <a:bodyPr/>
          <a:lstStyle/>
          <a:p>
            <a:endParaRPr lang="en-US"/>
          </a:p>
        </p:txBody>
      </p:sp>
      <p:sp>
        <p:nvSpPr>
          <p:cNvPr id="28" name="Shape 24"/>
          <p:cNvSpPr/>
          <p:nvPr/>
        </p:nvSpPr>
        <p:spPr>
          <a:xfrm>
            <a:off x="8606791" y="4834890"/>
            <a:ext cx="240030" cy="102870"/>
          </a:xfrm>
          <a:prstGeom prst="rect">
            <a:avLst/>
          </a:prstGeom>
          <a:noFill/>
          <a:ln/>
        </p:spPr>
        <p:txBody>
          <a:bodyPr/>
          <a:lstStyle/>
          <a:p>
            <a:endParaRPr lang="en-US"/>
          </a:p>
        </p:txBody>
      </p:sp>
      <p:sp>
        <p:nvSpPr>
          <p:cNvPr id="29" name="Text 25"/>
          <p:cNvSpPr/>
          <p:nvPr/>
        </p:nvSpPr>
        <p:spPr>
          <a:xfrm>
            <a:off x="8606791"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27</a:t>
            </a:r>
            <a:endParaRPr lang="en-US" sz="427" dirty="0"/>
          </a:p>
        </p:txBody>
      </p:sp>
      <p:sp>
        <p:nvSpPr>
          <p:cNvPr id="2" name="Text 12">
            <a:extLst>
              <a:ext uri="{FF2B5EF4-FFF2-40B4-BE49-F238E27FC236}">
                <a16:creationId xmlns:a16="http://schemas.microsoft.com/office/drawing/2014/main" id="{70EDF526-ABB4-403E-ECCF-6BE35A1522E6}"/>
              </a:ext>
            </a:extLst>
          </p:cNvPr>
          <p:cNvSpPr/>
          <p:nvPr/>
        </p:nvSpPr>
        <p:spPr>
          <a:xfrm>
            <a:off x="610364" y="1296162"/>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91" y="288036"/>
            <a:ext cx="8263890" cy="301752"/>
          </a:xfrm>
          <a:prstGeom prst="rect">
            <a:avLst/>
          </a:prstGeom>
          <a:noFill/>
          <a:ln/>
        </p:spPr>
        <p:txBody>
          <a:bodyPr/>
          <a:lstStyle/>
          <a:p>
            <a:endParaRPr lang="en-US"/>
          </a:p>
        </p:txBody>
      </p:sp>
      <p:sp>
        <p:nvSpPr>
          <p:cNvPr id="6" name="Shape 3"/>
          <p:cNvSpPr/>
          <p:nvPr/>
        </p:nvSpPr>
        <p:spPr>
          <a:xfrm>
            <a:off x="377191" y="288036"/>
            <a:ext cx="8263890" cy="301752"/>
          </a:xfrm>
          <a:prstGeom prst="rect">
            <a:avLst/>
          </a:prstGeom>
          <a:noFill/>
          <a:ln/>
        </p:spPr>
        <p:txBody>
          <a:bodyPr/>
          <a:lstStyle/>
          <a:p>
            <a:endParaRPr lang="en-US"/>
          </a:p>
        </p:txBody>
      </p:sp>
      <p:sp>
        <p:nvSpPr>
          <p:cNvPr id="7" name="Text 4"/>
          <p:cNvSpPr/>
          <p:nvPr/>
        </p:nvSpPr>
        <p:spPr>
          <a:xfrm>
            <a:off x="377191"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Bubble Quickselect Sets Written Analysis: Sorting and Selection</a:t>
            </a:r>
            <a:endParaRPr lang="en-US" sz="1710" dirty="0"/>
          </a:p>
        </p:txBody>
      </p:sp>
      <p:sp>
        <p:nvSpPr>
          <p:cNvPr id="8" name="Shape 5"/>
          <p:cNvSpPr/>
          <p:nvPr/>
        </p:nvSpPr>
        <p:spPr>
          <a:xfrm>
            <a:off x="377191" y="630936"/>
            <a:ext cx="8263890" cy="192024"/>
          </a:xfrm>
          <a:prstGeom prst="rect">
            <a:avLst/>
          </a:prstGeom>
          <a:noFill/>
          <a:ln/>
        </p:spPr>
        <p:txBody>
          <a:bodyPr/>
          <a:lstStyle/>
          <a:p>
            <a:endParaRPr lang="en-US"/>
          </a:p>
        </p:txBody>
      </p:sp>
      <p:sp>
        <p:nvSpPr>
          <p:cNvPr id="9" name="Shape 6"/>
          <p:cNvSpPr/>
          <p:nvPr/>
        </p:nvSpPr>
        <p:spPr>
          <a:xfrm>
            <a:off x="377191" y="630936"/>
            <a:ext cx="8263890" cy="192024"/>
          </a:xfrm>
          <a:prstGeom prst="rect">
            <a:avLst/>
          </a:prstGeom>
          <a:noFill/>
          <a:ln/>
        </p:spPr>
        <p:txBody>
          <a:bodyPr/>
          <a:lstStyle/>
          <a:p>
            <a:endParaRPr lang="en-US"/>
          </a:p>
        </p:txBody>
      </p:sp>
      <p:sp>
        <p:nvSpPr>
          <p:cNvPr id="10" name="Text 7"/>
          <p:cNvSpPr/>
          <p:nvPr/>
        </p:nvSpPr>
        <p:spPr>
          <a:xfrm>
            <a:off x="377191"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Explain how the written analysis connects Bubble Sort and Quickselect to different kinds of ordering problems.</a:t>
            </a:r>
            <a:endParaRPr lang="en-US" sz="819" dirty="0"/>
          </a:p>
        </p:txBody>
      </p:sp>
      <p:sp>
        <p:nvSpPr>
          <p:cNvPr id="11" name="Shape 8"/>
          <p:cNvSpPr/>
          <p:nvPr/>
        </p:nvSpPr>
        <p:spPr>
          <a:xfrm>
            <a:off x="377191"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Bubble Sort is readable but inefficient for large input.</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Quickselect is better when only one rank is needed.</a:t>
            </a:r>
            <a:endParaRPr lang="en-US" sz="1568" dirty="0"/>
          </a:p>
        </p:txBody>
      </p:sp>
      <p:sp>
        <p:nvSpPr>
          <p:cNvPr id="22" name="Shape 19"/>
          <p:cNvSpPr/>
          <p:nvPr/>
        </p:nvSpPr>
        <p:spPr>
          <a:xfrm>
            <a:off x="5122925" y="3641599"/>
            <a:ext cx="3257550" cy="720090"/>
          </a:xfrm>
          <a:prstGeom prst="rect">
            <a:avLst/>
          </a:prstGeom>
          <a:noFill/>
          <a:ln/>
        </p:spPr>
        <p:txBody>
          <a:bodyPr/>
          <a:lstStyle/>
          <a:p>
            <a:endParaRPr lang="en-US"/>
          </a:p>
        </p:txBody>
      </p:sp>
      <p:sp>
        <p:nvSpPr>
          <p:cNvPr id="23" name="Shape 20"/>
          <p:cNvSpPr/>
          <p:nvPr/>
        </p:nvSpPr>
        <p:spPr>
          <a:xfrm>
            <a:off x="5122925" y="3641599"/>
            <a:ext cx="3257550" cy="720090"/>
          </a:xfrm>
          <a:prstGeom prst="rect">
            <a:avLst/>
          </a:prstGeom>
          <a:noFill/>
          <a:ln/>
        </p:spPr>
        <p:txBody>
          <a:bodyPr/>
          <a:lstStyle/>
          <a:p>
            <a:endParaRPr lang="en-US"/>
          </a:p>
        </p:txBody>
      </p:sp>
      <p:sp>
        <p:nvSpPr>
          <p:cNvPr id="24" name="Text 21"/>
          <p:cNvSpPr/>
          <p:nvPr/>
        </p:nvSpPr>
        <p:spPr>
          <a:xfrm>
            <a:off x="5122925"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analysis separates full ordering from targeted selection.</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1133103" y="1083564"/>
            <a:ext cx="2596114"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28</a:t>
            </a:r>
            <a:endParaRPr lang="en-US" sz="427" dirty="0"/>
          </a:p>
        </p:txBody>
      </p:sp>
      <p:sp>
        <p:nvSpPr>
          <p:cNvPr id="2" name="Text 12">
            <a:extLst>
              <a:ext uri="{FF2B5EF4-FFF2-40B4-BE49-F238E27FC236}">
                <a16:creationId xmlns:a16="http://schemas.microsoft.com/office/drawing/2014/main" id="{C9D15C0C-F289-2ADA-203A-2C206D4BCCD5}"/>
              </a:ext>
            </a:extLst>
          </p:cNvPr>
          <p:cNvSpPr/>
          <p:nvPr/>
        </p:nvSpPr>
        <p:spPr>
          <a:xfrm>
            <a:off x="5114924"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Bubble Quickselect Sets Written Analysis: Set Operations</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Explain how the written analysis places set operations beside search, sorting, and selection as a different type of data question.</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3"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49" y="1693926"/>
            <a:ext cx="3257550" cy="720090"/>
          </a:xfrm>
          <a:prstGeom prst="rect">
            <a:avLst/>
          </a:prstGeom>
          <a:noFill/>
          <a:ln/>
        </p:spPr>
        <p:txBody>
          <a:bodyPr/>
          <a:lstStyle/>
          <a:p>
            <a:endParaRPr lang="en-US"/>
          </a:p>
        </p:txBody>
      </p:sp>
      <p:sp>
        <p:nvSpPr>
          <p:cNvPr id="17" name="Shape 14"/>
          <p:cNvSpPr/>
          <p:nvPr/>
        </p:nvSpPr>
        <p:spPr>
          <a:xfrm>
            <a:off x="644649" y="1693926"/>
            <a:ext cx="3257550" cy="720090"/>
          </a:xfrm>
          <a:prstGeom prst="rect">
            <a:avLst/>
          </a:prstGeom>
          <a:noFill/>
          <a:ln/>
        </p:spPr>
        <p:txBody>
          <a:bodyPr/>
          <a:lstStyle/>
          <a:p>
            <a:endParaRPr lang="en-US"/>
          </a:p>
        </p:txBody>
      </p:sp>
      <p:sp>
        <p:nvSpPr>
          <p:cNvPr id="18" name="Text 15"/>
          <p:cNvSpPr/>
          <p:nvPr/>
        </p:nvSpPr>
        <p:spPr>
          <a:xfrm>
            <a:off x="644649"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Set operations focus on membership and uniqueness.</a:t>
            </a:r>
            <a:endParaRPr lang="en-US" sz="1568" dirty="0"/>
          </a:p>
        </p:txBody>
      </p:sp>
      <p:sp>
        <p:nvSpPr>
          <p:cNvPr id="19" name="Shape 16"/>
          <p:cNvSpPr/>
          <p:nvPr/>
        </p:nvSpPr>
        <p:spPr>
          <a:xfrm>
            <a:off x="644649" y="2667762"/>
            <a:ext cx="3257550" cy="720090"/>
          </a:xfrm>
          <a:prstGeom prst="rect">
            <a:avLst/>
          </a:prstGeom>
          <a:noFill/>
          <a:ln/>
        </p:spPr>
        <p:txBody>
          <a:bodyPr/>
          <a:lstStyle/>
          <a:p>
            <a:endParaRPr lang="en-US"/>
          </a:p>
        </p:txBody>
      </p:sp>
      <p:sp>
        <p:nvSpPr>
          <p:cNvPr id="20" name="Shape 17"/>
          <p:cNvSpPr/>
          <p:nvPr/>
        </p:nvSpPr>
        <p:spPr>
          <a:xfrm>
            <a:off x="644649" y="2667762"/>
            <a:ext cx="3257550" cy="720090"/>
          </a:xfrm>
          <a:prstGeom prst="rect">
            <a:avLst/>
          </a:prstGeom>
          <a:noFill/>
          <a:ln/>
        </p:spPr>
        <p:txBody>
          <a:bodyPr/>
          <a:lstStyle/>
          <a:p>
            <a:endParaRPr lang="en-US"/>
          </a:p>
        </p:txBody>
      </p:sp>
      <p:sp>
        <p:nvSpPr>
          <p:cNvPr id="21" name="Text 18"/>
          <p:cNvSpPr/>
          <p:nvPr/>
        </p:nvSpPr>
        <p:spPr>
          <a:xfrm>
            <a:off x="644649"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Hashing can make membership checks efficient on average.</a:t>
            </a:r>
            <a:endParaRPr lang="en-US" sz="1568" dirty="0"/>
          </a:p>
        </p:txBody>
      </p:sp>
      <p:sp>
        <p:nvSpPr>
          <p:cNvPr id="22" name="Shape 19"/>
          <p:cNvSpPr/>
          <p:nvPr/>
        </p:nvSpPr>
        <p:spPr>
          <a:xfrm>
            <a:off x="644649" y="3641599"/>
            <a:ext cx="3257550" cy="720090"/>
          </a:xfrm>
          <a:prstGeom prst="rect">
            <a:avLst/>
          </a:prstGeom>
          <a:noFill/>
          <a:ln/>
        </p:spPr>
        <p:txBody>
          <a:bodyPr/>
          <a:lstStyle/>
          <a:p>
            <a:endParaRPr lang="en-US"/>
          </a:p>
        </p:txBody>
      </p:sp>
      <p:sp>
        <p:nvSpPr>
          <p:cNvPr id="23" name="Shape 20"/>
          <p:cNvSpPr/>
          <p:nvPr/>
        </p:nvSpPr>
        <p:spPr>
          <a:xfrm>
            <a:off x="644649" y="3641599"/>
            <a:ext cx="3257550" cy="720090"/>
          </a:xfrm>
          <a:prstGeom prst="rect">
            <a:avLst/>
          </a:prstGeom>
          <a:noFill/>
          <a:ln/>
        </p:spPr>
        <p:txBody>
          <a:bodyPr/>
          <a:lstStyle/>
          <a:p>
            <a:endParaRPr lang="en-US"/>
          </a:p>
        </p:txBody>
      </p:sp>
      <p:sp>
        <p:nvSpPr>
          <p:cNvPr id="24" name="Text 21"/>
          <p:cNvSpPr/>
          <p:nvPr/>
        </p:nvSpPr>
        <p:spPr>
          <a:xfrm>
            <a:off x="644649"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analysis explains why sets differ from sequence structures.</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491376" y="1083564"/>
            <a:ext cx="2493225"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29</a:t>
            </a:r>
            <a:endParaRPr lang="en-US" sz="427" dirty="0"/>
          </a:p>
        </p:txBody>
      </p:sp>
      <p:sp>
        <p:nvSpPr>
          <p:cNvPr id="2" name="Text 12">
            <a:extLst>
              <a:ext uri="{FF2B5EF4-FFF2-40B4-BE49-F238E27FC236}">
                <a16:creationId xmlns:a16="http://schemas.microsoft.com/office/drawing/2014/main" id="{B6EBBF91-B105-2489-7549-2CB0E35ACBFB}"/>
              </a:ext>
            </a:extLst>
          </p:cNvPr>
          <p:cNvSpPr/>
          <p:nvPr/>
        </p:nvSpPr>
        <p:spPr>
          <a:xfrm>
            <a:off x="617218" y="1323594"/>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Bubble Quickselect Sets Written Analysis: Learning Outcomes</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Summarize how the Module 8-native features extend the integrated portfolio and deepen the final learning outcomes.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5" name="Text 12"/>
          <p:cNvSpPr/>
          <p:nvPr/>
        </p:nvSpPr>
        <p:spPr>
          <a:xfrm>
            <a:off x="5095494" y="1282446"/>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What this screen shows</a:t>
            </a:r>
            <a:endParaRPr lang="en-US" sz="855" dirty="0"/>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module reinforces theory through implementation and measurement.</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Traces, benchmarks, and validation make behavior inspectable.</a:t>
            </a:r>
            <a:endParaRPr lang="en-US" sz="1568" dirty="0"/>
          </a:p>
        </p:txBody>
      </p:sp>
      <p:sp>
        <p:nvSpPr>
          <p:cNvPr id="22" name="Shape 19"/>
          <p:cNvSpPr/>
          <p:nvPr/>
        </p:nvSpPr>
        <p:spPr>
          <a:xfrm>
            <a:off x="5122925" y="3641599"/>
            <a:ext cx="3257550" cy="720090"/>
          </a:xfrm>
          <a:prstGeom prst="rect">
            <a:avLst/>
          </a:prstGeom>
          <a:noFill/>
          <a:ln/>
        </p:spPr>
        <p:txBody>
          <a:bodyPr/>
          <a:lstStyle/>
          <a:p>
            <a:endParaRPr lang="en-US"/>
          </a:p>
        </p:txBody>
      </p:sp>
      <p:sp>
        <p:nvSpPr>
          <p:cNvPr id="23" name="Shape 20"/>
          <p:cNvSpPr/>
          <p:nvPr/>
        </p:nvSpPr>
        <p:spPr>
          <a:xfrm>
            <a:off x="5122925" y="3641599"/>
            <a:ext cx="3257550" cy="720090"/>
          </a:xfrm>
          <a:prstGeom prst="rect">
            <a:avLst/>
          </a:prstGeom>
          <a:noFill/>
          <a:ln/>
        </p:spPr>
        <p:txBody>
          <a:bodyPr/>
          <a:lstStyle/>
          <a:p>
            <a:endParaRPr lang="en-US"/>
          </a:p>
        </p:txBody>
      </p:sp>
      <p:sp>
        <p:nvSpPr>
          <p:cNvPr id="24" name="Text 21"/>
          <p:cNvSpPr/>
          <p:nvPr/>
        </p:nvSpPr>
        <p:spPr>
          <a:xfrm>
            <a:off x="5122925"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Learning outcomes connect algorithm choice to problem type.</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878421" y="1083564"/>
            <a:ext cx="3105489"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30</a:t>
            </a:r>
            <a:endParaRPr lang="en-US" sz="427"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Comprehensive Analysis: Executive Overview</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Introduce the comprehensive analysis as the integrated summary of the full portfolio's theory, benchmarks, and recommendations.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final analysis integrates results across all modules.</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It brings benchmarks, tradeoffs, and recommendations into one view.</a:t>
            </a:r>
            <a:endParaRPr lang="en-US" sz="1568" dirty="0"/>
          </a:p>
        </p:txBody>
      </p:sp>
      <p:sp>
        <p:nvSpPr>
          <p:cNvPr id="22" name="Shape 19"/>
          <p:cNvSpPr/>
          <p:nvPr/>
        </p:nvSpPr>
        <p:spPr>
          <a:xfrm>
            <a:off x="5122925" y="3641599"/>
            <a:ext cx="3257550" cy="720090"/>
          </a:xfrm>
          <a:prstGeom prst="rect">
            <a:avLst/>
          </a:prstGeom>
          <a:noFill/>
          <a:ln/>
        </p:spPr>
        <p:txBody>
          <a:bodyPr/>
          <a:lstStyle/>
          <a:p>
            <a:endParaRPr lang="en-US"/>
          </a:p>
        </p:txBody>
      </p:sp>
      <p:sp>
        <p:nvSpPr>
          <p:cNvPr id="23" name="Shape 20"/>
          <p:cNvSpPr/>
          <p:nvPr/>
        </p:nvSpPr>
        <p:spPr>
          <a:xfrm>
            <a:off x="5122925" y="3641599"/>
            <a:ext cx="3257550" cy="720090"/>
          </a:xfrm>
          <a:prstGeom prst="rect">
            <a:avLst/>
          </a:prstGeom>
          <a:noFill/>
          <a:ln/>
        </p:spPr>
        <p:txBody>
          <a:bodyPr/>
          <a:lstStyle/>
          <a:p>
            <a:endParaRPr lang="en-US"/>
          </a:p>
        </p:txBody>
      </p:sp>
      <p:sp>
        <p:nvSpPr>
          <p:cNvPr id="24" name="Text 21"/>
          <p:cNvSpPr/>
          <p:nvPr/>
        </p:nvSpPr>
        <p:spPr>
          <a:xfrm>
            <a:off x="5122925"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screen turns separate labs into a portfolio-level argument.</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1333323" y="1083564"/>
            <a:ext cx="2195672"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31</a:t>
            </a:r>
            <a:endParaRPr lang="en-US" sz="427" dirty="0"/>
          </a:p>
        </p:txBody>
      </p:sp>
      <p:sp>
        <p:nvSpPr>
          <p:cNvPr id="2" name="Text 12">
            <a:extLst>
              <a:ext uri="{FF2B5EF4-FFF2-40B4-BE49-F238E27FC236}">
                <a16:creationId xmlns:a16="http://schemas.microsoft.com/office/drawing/2014/main" id="{F3EE2B5D-0C8D-F1D5-DF7A-2503595A9A2E}"/>
              </a:ext>
            </a:extLst>
          </p:cNvPr>
          <p:cNvSpPr/>
          <p:nvPr/>
        </p:nvSpPr>
        <p:spPr>
          <a:xfrm>
            <a:off x="5114924"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Comprehensive Analysis: Search, Sorting, and Selection Evidence</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Show how the comprehensive analysis compares major algorithm families across different kinds of data questions.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3"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49" y="1693926"/>
            <a:ext cx="3257550" cy="720090"/>
          </a:xfrm>
          <a:prstGeom prst="rect">
            <a:avLst/>
          </a:prstGeom>
          <a:noFill/>
          <a:ln/>
        </p:spPr>
        <p:txBody>
          <a:bodyPr/>
          <a:lstStyle/>
          <a:p>
            <a:endParaRPr lang="en-US"/>
          </a:p>
        </p:txBody>
      </p:sp>
      <p:sp>
        <p:nvSpPr>
          <p:cNvPr id="17" name="Shape 14"/>
          <p:cNvSpPr/>
          <p:nvPr/>
        </p:nvSpPr>
        <p:spPr>
          <a:xfrm>
            <a:off x="644649" y="1693926"/>
            <a:ext cx="3257550" cy="720090"/>
          </a:xfrm>
          <a:prstGeom prst="rect">
            <a:avLst/>
          </a:prstGeom>
          <a:noFill/>
          <a:ln/>
        </p:spPr>
        <p:txBody>
          <a:bodyPr/>
          <a:lstStyle/>
          <a:p>
            <a:endParaRPr lang="en-US"/>
          </a:p>
        </p:txBody>
      </p:sp>
      <p:sp>
        <p:nvSpPr>
          <p:cNvPr id="18" name="Text 15"/>
          <p:cNvSpPr/>
          <p:nvPr/>
        </p:nvSpPr>
        <p:spPr>
          <a:xfrm>
            <a:off x="644649"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Search, sorting, and selection answer different data questions.</a:t>
            </a:r>
            <a:endParaRPr lang="en-US" sz="1568" dirty="0"/>
          </a:p>
        </p:txBody>
      </p:sp>
      <p:sp>
        <p:nvSpPr>
          <p:cNvPr id="19" name="Shape 16"/>
          <p:cNvSpPr/>
          <p:nvPr/>
        </p:nvSpPr>
        <p:spPr>
          <a:xfrm>
            <a:off x="644649" y="2667762"/>
            <a:ext cx="3257550" cy="720090"/>
          </a:xfrm>
          <a:prstGeom prst="rect">
            <a:avLst/>
          </a:prstGeom>
          <a:noFill/>
          <a:ln/>
        </p:spPr>
        <p:txBody>
          <a:bodyPr/>
          <a:lstStyle/>
          <a:p>
            <a:endParaRPr lang="en-US"/>
          </a:p>
        </p:txBody>
      </p:sp>
      <p:sp>
        <p:nvSpPr>
          <p:cNvPr id="20" name="Shape 17"/>
          <p:cNvSpPr/>
          <p:nvPr/>
        </p:nvSpPr>
        <p:spPr>
          <a:xfrm>
            <a:off x="644649" y="2667762"/>
            <a:ext cx="3257550" cy="720090"/>
          </a:xfrm>
          <a:prstGeom prst="rect">
            <a:avLst/>
          </a:prstGeom>
          <a:noFill/>
          <a:ln/>
        </p:spPr>
        <p:txBody>
          <a:bodyPr/>
          <a:lstStyle/>
          <a:p>
            <a:endParaRPr lang="en-US"/>
          </a:p>
        </p:txBody>
      </p:sp>
      <p:sp>
        <p:nvSpPr>
          <p:cNvPr id="21" name="Text 18"/>
          <p:cNvSpPr/>
          <p:nvPr/>
        </p:nvSpPr>
        <p:spPr>
          <a:xfrm>
            <a:off x="644649"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Growth rates explain why the same input size can behave differently.</a:t>
            </a:r>
            <a:endParaRPr lang="en-US" sz="1568" dirty="0"/>
          </a:p>
        </p:txBody>
      </p:sp>
      <p:sp>
        <p:nvSpPr>
          <p:cNvPr id="22" name="Shape 19"/>
          <p:cNvSpPr/>
          <p:nvPr/>
        </p:nvSpPr>
        <p:spPr>
          <a:xfrm>
            <a:off x="644649" y="3641599"/>
            <a:ext cx="3257550" cy="720090"/>
          </a:xfrm>
          <a:prstGeom prst="rect">
            <a:avLst/>
          </a:prstGeom>
          <a:noFill/>
          <a:ln/>
        </p:spPr>
        <p:txBody>
          <a:bodyPr/>
          <a:lstStyle/>
          <a:p>
            <a:endParaRPr lang="en-US"/>
          </a:p>
        </p:txBody>
      </p:sp>
      <p:sp>
        <p:nvSpPr>
          <p:cNvPr id="23" name="Shape 20"/>
          <p:cNvSpPr/>
          <p:nvPr/>
        </p:nvSpPr>
        <p:spPr>
          <a:xfrm>
            <a:off x="644649" y="3641599"/>
            <a:ext cx="3257550" cy="720090"/>
          </a:xfrm>
          <a:prstGeom prst="rect">
            <a:avLst/>
          </a:prstGeom>
          <a:noFill/>
          <a:ln/>
        </p:spPr>
        <p:txBody>
          <a:bodyPr/>
          <a:lstStyle/>
          <a:p>
            <a:endParaRPr lang="en-US"/>
          </a:p>
        </p:txBody>
      </p:sp>
      <p:sp>
        <p:nvSpPr>
          <p:cNvPr id="24" name="Text 21"/>
          <p:cNvSpPr/>
          <p:nvPr/>
        </p:nvSpPr>
        <p:spPr>
          <a:xfrm>
            <a:off x="644649"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evidence links measured results to algorithmic complexity.</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331712" y="1083564"/>
            <a:ext cx="2812538"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32</a:t>
            </a:r>
            <a:endParaRPr lang="en-US" sz="427" dirty="0"/>
          </a:p>
        </p:txBody>
      </p:sp>
      <p:sp>
        <p:nvSpPr>
          <p:cNvPr id="2" name="Text 12">
            <a:extLst>
              <a:ext uri="{FF2B5EF4-FFF2-40B4-BE49-F238E27FC236}">
                <a16:creationId xmlns:a16="http://schemas.microsoft.com/office/drawing/2014/main" id="{D8C85136-107A-72AD-8B5D-E9793A6D84D4}"/>
              </a:ext>
            </a:extLst>
          </p:cNvPr>
          <p:cNvSpPr/>
          <p:nvPr/>
        </p:nvSpPr>
        <p:spPr>
          <a:xfrm>
            <a:off x="617218" y="1385316"/>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Comprehensive Analysis: Data Structure Tradeoffs</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Compare the major data structure families and explain how their strengths depend on workload and implementation details.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903468"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5095494" y="1282446"/>
            <a:ext cx="3326130" cy="192024"/>
          </a:xfrm>
          <a:prstGeom prst="rect">
            <a:avLst/>
          </a:prstGeom>
          <a:noFill/>
          <a:ln/>
        </p:spPr>
        <p:txBody>
          <a:bodyPr/>
          <a:lstStyle/>
          <a:p>
            <a:endParaRPr lang="en-US"/>
          </a:p>
        </p:txBody>
      </p:sp>
      <p:sp>
        <p:nvSpPr>
          <p:cNvPr id="14" name="Shape 11"/>
          <p:cNvSpPr/>
          <p:nvPr/>
        </p:nvSpPr>
        <p:spPr>
          <a:xfrm>
            <a:off x="5095494" y="1282446"/>
            <a:ext cx="3326130" cy="192024"/>
          </a:xfrm>
          <a:prstGeom prst="rect">
            <a:avLst/>
          </a:prstGeom>
          <a:noFill/>
          <a:ln/>
        </p:spPr>
        <p:txBody>
          <a:bodyPr/>
          <a:lstStyle/>
          <a:p>
            <a:endParaRPr lang="en-US"/>
          </a:p>
        </p:txBody>
      </p:sp>
      <p:sp>
        <p:nvSpPr>
          <p:cNvPr id="16" name="Shape 13"/>
          <p:cNvSpPr/>
          <p:nvPr/>
        </p:nvSpPr>
        <p:spPr>
          <a:xfrm>
            <a:off x="5122925" y="1693926"/>
            <a:ext cx="3257550" cy="720090"/>
          </a:xfrm>
          <a:prstGeom prst="rect">
            <a:avLst/>
          </a:prstGeom>
          <a:noFill/>
          <a:ln/>
        </p:spPr>
        <p:txBody>
          <a:bodyPr/>
          <a:lstStyle/>
          <a:p>
            <a:endParaRPr lang="en-US"/>
          </a:p>
        </p:txBody>
      </p:sp>
      <p:sp>
        <p:nvSpPr>
          <p:cNvPr id="17" name="Shape 14"/>
          <p:cNvSpPr/>
          <p:nvPr/>
        </p:nvSpPr>
        <p:spPr>
          <a:xfrm>
            <a:off x="5122925" y="1693926"/>
            <a:ext cx="3257550" cy="720090"/>
          </a:xfrm>
          <a:prstGeom prst="rect">
            <a:avLst/>
          </a:prstGeom>
          <a:noFill/>
          <a:ln/>
        </p:spPr>
        <p:txBody>
          <a:bodyPr/>
          <a:lstStyle/>
          <a:p>
            <a:endParaRPr lang="en-US"/>
          </a:p>
        </p:txBody>
      </p:sp>
      <p:sp>
        <p:nvSpPr>
          <p:cNvPr id="18" name="Text 15"/>
          <p:cNvSpPr/>
          <p:nvPr/>
        </p:nvSpPr>
        <p:spPr>
          <a:xfrm>
            <a:off x="5122925"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Structures optimize access patterns, not generic speed.</a:t>
            </a:r>
            <a:endParaRPr lang="en-US" sz="1568" dirty="0"/>
          </a:p>
        </p:txBody>
      </p:sp>
      <p:sp>
        <p:nvSpPr>
          <p:cNvPr id="19" name="Shape 16"/>
          <p:cNvSpPr/>
          <p:nvPr/>
        </p:nvSpPr>
        <p:spPr>
          <a:xfrm>
            <a:off x="5122925" y="2667762"/>
            <a:ext cx="3257550" cy="720090"/>
          </a:xfrm>
          <a:prstGeom prst="rect">
            <a:avLst/>
          </a:prstGeom>
          <a:noFill/>
          <a:ln/>
        </p:spPr>
        <p:txBody>
          <a:bodyPr/>
          <a:lstStyle/>
          <a:p>
            <a:endParaRPr lang="en-US"/>
          </a:p>
        </p:txBody>
      </p:sp>
      <p:sp>
        <p:nvSpPr>
          <p:cNvPr id="20" name="Shape 17"/>
          <p:cNvSpPr/>
          <p:nvPr/>
        </p:nvSpPr>
        <p:spPr>
          <a:xfrm>
            <a:off x="5122925" y="2667762"/>
            <a:ext cx="3257550" cy="720090"/>
          </a:xfrm>
          <a:prstGeom prst="rect">
            <a:avLst/>
          </a:prstGeom>
          <a:noFill/>
          <a:ln/>
        </p:spPr>
        <p:txBody>
          <a:bodyPr/>
          <a:lstStyle/>
          <a:p>
            <a:endParaRPr lang="en-US"/>
          </a:p>
        </p:txBody>
      </p:sp>
      <p:sp>
        <p:nvSpPr>
          <p:cNvPr id="21" name="Text 18"/>
          <p:cNvSpPr/>
          <p:nvPr/>
        </p:nvSpPr>
        <p:spPr>
          <a:xfrm>
            <a:off x="5122925"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Stacks, queues, maps, hashes, heaps, and graphs serve different workloads.</a:t>
            </a:r>
            <a:endParaRPr lang="en-US" sz="1568" dirty="0"/>
          </a:p>
        </p:txBody>
      </p:sp>
      <p:sp>
        <p:nvSpPr>
          <p:cNvPr id="22" name="Shape 19"/>
          <p:cNvSpPr/>
          <p:nvPr/>
        </p:nvSpPr>
        <p:spPr>
          <a:xfrm>
            <a:off x="5122925" y="3641599"/>
            <a:ext cx="3257550" cy="720090"/>
          </a:xfrm>
          <a:prstGeom prst="rect">
            <a:avLst/>
          </a:prstGeom>
          <a:noFill/>
          <a:ln/>
        </p:spPr>
        <p:txBody>
          <a:bodyPr/>
          <a:lstStyle/>
          <a:p>
            <a:endParaRPr lang="en-US"/>
          </a:p>
        </p:txBody>
      </p:sp>
      <p:sp>
        <p:nvSpPr>
          <p:cNvPr id="23" name="Shape 20"/>
          <p:cNvSpPr/>
          <p:nvPr/>
        </p:nvSpPr>
        <p:spPr>
          <a:xfrm>
            <a:off x="5122925" y="3641599"/>
            <a:ext cx="3257550" cy="720090"/>
          </a:xfrm>
          <a:prstGeom prst="rect">
            <a:avLst/>
          </a:prstGeom>
          <a:noFill/>
          <a:ln/>
        </p:spPr>
        <p:txBody>
          <a:bodyPr/>
          <a:lstStyle/>
          <a:p>
            <a:endParaRPr lang="en-US"/>
          </a:p>
        </p:txBody>
      </p:sp>
      <p:sp>
        <p:nvSpPr>
          <p:cNvPr id="24" name="Text 21"/>
          <p:cNvSpPr/>
          <p:nvPr/>
        </p:nvSpPr>
        <p:spPr>
          <a:xfrm>
            <a:off x="5122925"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table supports comparison across the whole course.</a:t>
            </a:r>
            <a:endParaRPr lang="en-US" sz="1568" dirty="0"/>
          </a:p>
        </p:txBody>
      </p:sp>
      <p:sp>
        <p:nvSpPr>
          <p:cNvPr id="25" name="Shape 22"/>
          <p:cNvSpPr/>
          <p:nvPr/>
        </p:nvSpPr>
        <p:spPr>
          <a:xfrm>
            <a:off x="493775"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493775" y="1118926"/>
            <a:ext cx="3874770" cy="3632597"/>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33</a:t>
            </a:r>
            <a:endParaRPr lang="en-US" sz="427" dirty="0"/>
          </a:p>
        </p:txBody>
      </p:sp>
      <p:sp>
        <p:nvSpPr>
          <p:cNvPr id="2" name="Text 12">
            <a:extLst>
              <a:ext uri="{FF2B5EF4-FFF2-40B4-BE49-F238E27FC236}">
                <a16:creationId xmlns:a16="http://schemas.microsoft.com/office/drawing/2014/main" id="{1B665169-D00A-9026-D41F-92127D915F3B}"/>
              </a:ext>
            </a:extLst>
          </p:cNvPr>
          <p:cNvSpPr/>
          <p:nvPr/>
        </p:nvSpPr>
        <p:spPr>
          <a:xfrm>
            <a:off x="5114924" y="137502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88036"/>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Comprehensive Analysis: Recommendation Matrix</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Present the recommendation matrix that converts the full portfolio evidence into actionable algorithm and data structure choices.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3"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49" y="1693926"/>
            <a:ext cx="3257550" cy="720090"/>
          </a:xfrm>
          <a:prstGeom prst="rect">
            <a:avLst/>
          </a:prstGeom>
          <a:noFill/>
          <a:ln/>
        </p:spPr>
        <p:txBody>
          <a:bodyPr/>
          <a:lstStyle/>
          <a:p>
            <a:endParaRPr lang="en-US"/>
          </a:p>
        </p:txBody>
      </p:sp>
      <p:sp>
        <p:nvSpPr>
          <p:cNvPr id="17" name="Shape 14"/>
          <p:cNvSpPr/>
          <p:nvPr/>
        </p:nvSpPr>
        <p:spPr>
          <a:xfrm>
            <a:off x="644649" y="1693926"/>
            <a:ext cx="3257550" cy="720090"/>
          </a:xfrm>
          <a:prstGeom prst="rect">
            <a:avLst/>
          </a:prstGeom>
          <a:noFill/>
          <a:ln/>
        </p:spPr>
        <p:txBody>
          <a:bodyPr/>
          <a:lstStyle/>
          <a:p>
            <a:endParaRPr lang="en-US"/>
          </a:p>
        </p:txBody>
      </p:sp>
      <p:sp>
        <p:nvSpPr>
          <p:cNvPr id="18" name="Text 15"/>
          <p:cNvSpPr/>
          <p:nvPr/>
        </p:nvSpPr>
        <p:spPr>
          <a:xfrm>
            <a:off x="644649"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recommendation matrix converts evidence into decisions.</a:t>
            </a:r>
            <a:endParaRPr lang="en-US" sz="1568" dirty="0"/>
          </a:p>
        </p:txBody>
      </p:sp>
      <p:sp>
        <p:nvSpPr>
          <p:cNvPr id="19" name="Shape 16"/>
          <p:cNvSpPr/>
          <p:nvPr/>
        </p:nvSpPr>
        <p:spPr>
          <a:xfrm>
            <a:off x="644649" y="2667762"/>
            <a:ext cx="3257550" cy="720090"/>
          </a:xfrm>
          <a:prstGeom prst="rect">
            <a:avLst/>
          </a:prstGeom>
          <a:noFill/>
          <a:ln/>
        </p:spPr>
        <p:txBody>
          <a:bodyPr/>
          <a:lstStyle/>
          <a:p>
            <a:endParaRPr lang="en-US"/>
          </a:p>
        </p:txBody>
      </p:sp>
      <p:sp>
        <p:nvSpPr>
          <p:cNvPr id="20" name="Shape 17"/>
          <p:cNvSpPr/>
          <p:nvPr/>
        </p:nvSpPr>
        <p:spPr>
          <a:xfrm>
            <a:off x="644649" y="2667762"/>
            <a:ext cx="3257550" cy="720090"/>
          </a:xfrm>
          <a:prstGeom prst="rect">
            <a:avLst/>
          </a:prstGeom>
          <a:noFill/>
          <a:ln/>
        </p:spPr>
        <p:txBody>
          <a:bodyPr/>
          <a:lstStyle/>
          <a:p>
            <a:endParaRPr lang="en-US"/>
          </a:p>
        </p:txBody>
      </p:sp>
      <p:sp>
        <p:nvSpPr>
          <p:cNvPr id="21" name="Text 18"/>
          <p:cNvSpPr/>
          <p:nvPr/>
        </p:nvSpPr>
        <p:spPr>
          <a:xfrm>
            <a:off x="644649"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Each row maps a workload to a preferred structure or algorithm.</a:t>
            </a:r>
            <a:endParaRPr lang="en-US" sz="1568" dirty="0"/>
          </a:p>
        </p:txBody>
      </p:sp>
      <p:sp>
        <p:nvSpPr>
          <p:cNvPr id="22" name="Shape 19"/>
          <p:cNvSpPr/>
          <p:nvPr/>
        </p:nvSpPr>
        <p:spPr>
          <a:xfrm>
            <a:off x="644649" y="3641599"/>
            <a:ext cx="3257550" cy="720090"/>
          </a:xfrm>
          <a:prstGeom prst="rect">
            <a:avLst/>
          </a:prstGeom>
          <a:noFill/>
          <a:ln/>
        </p:spPr>
        <p:txBody>
          <a:bodyPr/>
          <a:lstStyle/>
          <a:p>
            <a:endParaRPr lang="en-US"/>
          </a:p>
        </p:txBody>
      </p:sp>
      <p:sp>
        <p:nvSpPr>
          <p:cNvPr id="23" name="Shape 20"/>
          <p:cNvSpPr/>
          <p:nvPr/>
        </p:nvSpPr>
        <p:spPr>
          <a:xfrm>
            <a:off x="644649" y="3641599"/>
            <a:ext cx="3257550" cy="720090"/>
          </a:xfrm>
          <a:prstGeom prst="rect">
            <a:avLst/>
          </a:prstGeom>
          <a:noFill/>
          <a:ln/>
        </p:spPr>
        <p:txBody>
          <a:bodyPr/>
          <a:lstStyle/>
          <a:p>
            <a:endParaRPr lang="en-US"/>
          </a:p>
        </p:txBody>
      </p:sp>
      <p:sp>
        <p:nvSpPr>
          <p:cNvPr id="24" name="Text 21"/>
          <p:cNvSpPr/>
          <p:nvPr/>
        </p:nvSpPr>
        <p:spPr>
          <a:xfrm>
            <a:off x="644649"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matrix makes tradeoffs usable beyond the demo app.</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225607" y="1083564"/>
            <a:ext cx="3024755"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34</a:t>
            </a:r>
            <a:endParaRPr lang="en-US" sz="427" dirty="0"/>
          </a:p>
        </p:txBody>
      </p:sp>
      <p:sp>
        <p:nvSpPr>
          <p:cNvPr id="2" name="Text 12">
            <a:extLst>
              <a:ext uri="{FF2B5EF4-FFF2-40B4-BE49-F238E27FC236}">
                <a16:creationId xmlns:a16="http://schemas.microsoft.com/office/drawing/2014/main" id="{BB60A822-F238-E75D-B0BB-F6E41A5F95EF}"/>
              </a:ext>
            </a:extLst>
          </p:cNvPr>
          <p:cNvSpPr/>
          <p:nvPr/>
        </p:nvSpPr>
        <p:spPr>
          <a:xfrm>
            <a:off x="692661" y="1371601"/>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8FAF7"/>
        </a:solidFill>
        <a:effectLst/>
      </p:bgPr>
    </p:bg>
    <p:spTree>
      <p:nvGrpSpPr>
        <p:cNvPr id="1" name=""/>
        <p:cNvGrpSpPr/>
        <p:nvPr/>
      </p:nvGrpSpPr>
      <p:grpSpPr>
        <a:xfrm>
          <a:off x="0" y="0"/>
          <a:ext cx="0" cy="0"/>
          <a:chOff x="0" y="0"/>
          <a:chExt cx="0" cy="0"/>
        </a:xfrm>
      </p:grpSpPr>
      <p:sp>
        <p:nvSpPr>
          <p:cNvPr id="3" name="Shape 0"/>
          <p:cNvSpPr/>
          <p:nvPr/>
        </p:nvSpPr>
        <p:spPr>
          <a:xfrm>
            <a:off x="0" y="0"/>
            <a:ext cx="9143772" cy="54864"/>
          </a:xfrm>
          <a:prstGeom prst="rect">
            <a:avLst/>
          </a:prstGeom>
          <a:solidFill>
            <a:srgbClr val="D3A93A"/>
          </a:solidFill>
          <a:ln w="4524">
            <a:solidFill>
              <a:srgbClr val="D3A93A">
                <a:alpha val="0"/>
              </a:srgbClr>
            </a:solidFill>
            <a:prstDash val="solid"/>
          </a:ln>
        </p:spPr>
        <p:txBody>
          <a:bodyPr/>
          <a:lstStyle/>
          <a:p>
            <a:endParaRPr lang="en-US"/>
          </a:p>
        </p:txBody>
      </p:sp>
      <p:sp>
        <p:nvSpPr>
          <p:cNvPr id="4" name="Shape 1"/>
          <p:cNvSpPr/>
          <p:nvPr/>
        </p:nvSpPr>
        <p:spPr>
          <a:xfrm>
            <a:off x="0" y="0"/>
            <a:ext cx="54864" cy="5143500"/>
          </a:xfrm>
          <a:prstGeom prst="rect">
            <a:avLst/>
          </a:prstGeom>
          <a:solidFill>
            <a:srgbClr val="2F7D59"/>
          </a:solidFill>
          <a:ln w="4524">
            <a:solidFill>
              <a:srgbClr val="2F7D59">
                <a:alpha val="0"/>
              </a:srgbClr>
            </a:solidFill>
            <a:prstDash val="solid"/>
          </a:ln>
        </p:spPr>
        <p:txBody>
          <a:bodyPr/>
          <a:lstStyle/>
          <a:p>
            <a:endParaRPr lang="en-US"/>
          </a:p>
        </p:txBody>
      </p:sp>
      <p:sp>
        <p:nvSpPr>
          <p:cNvPr id="5" name="Shape 2"/>
          <p:cNvSpPr/>
          <p:nvPr/>
        </p:nvSpPr>
        <p:spPr>
          <a:xfrm>
            <a:off x="377186" y="288036"/>
            <a:ext cx="8263890" cy="301752"/>
          </a:xfrm>
          <a:prstGeom prst="rect">
            <a:avLst/>
          </a:prstGeom>
          <a:noFill/>
          <a:ln/>
        </p:spPr>
        <p:txBody>
          <a:bodyPr/>
          <a:lstStyle/>
          <a:p>
            <a:endParaRPr lang="en-US"/>
          </a:p>
        </p:txBody>
      </p:sp>
      <p:sp>
        <p:nvSpPr>
          <p:cNvPr id="6" name="Shape 3"/>
          <p:cNvSpPr/>
          <p:nvPr/>
        </p:nvSpPr>
        <p:spPr>
          <a:xfrm>
            <a:off x="377186" y="288036"/>
            <a:ext cx="8263890" cy="301752"/>
          </a:xfrm>
          <a:prstGeom prst="rect">
            <a:avLst/>
          </a:prstGeom>
          <a:noFill/>
          <a:ln/>
        </p:spPr>
        <p:txBody>
          <a:bodyPr/>
          <a:lstStyle/>
          <a:p>
            <a:endParaRPr lang="en-US"/>
          </a:p>
        </p:txBody>
      </p:sp>
      <p:sp>
        <p:nvSpPr>
          <p:cNvPr id="7" name="Text 4"/>
          <p:cNvSpPr/>
          <p:nvPr/>
        </p:nvSpPr>
        <p:spPr>
          <a:xfrm>
            <a:off x="377186" y="278892"/>
            <a:ext cx="8263890" cy="301752"/>
          </a:xfrm>
          <a:prstGeom prst="rect">
            <a:avLst/>
          </a:prstGeom>
          <a:noFill/>
          <a:ln/>
        </p:spPr>
        <p:txBody>
          <a:bodyPr wrap="square" lIns="0" tIns="0" rIns="0" bIns="0" rtlCol="0" anchor="ctr"/>
          <a:lstStyle/>
          <a:p>
            <a:pPr marL="0" indent="0" algn="l">
              <a:lnSpc>
                <a:spcPts val="2069"/>
              </a:lnSpc>
              <a:buNone/>
            </a:pPr>
            <a:r>
              <a:rPr lang="en-US" sz="1710" b="1" dirty="0">
                <a:solidFill>
                  <a:srgbClr val="213A31">
                    <a:alpha val="99000"/>
                  </a:srgbClr>
                </a:solidFill>
                <a:latin typeface="Inter" pitchFamily="34" charset="0"/>
                <a:ea typeface="Inter" pitchFamily="34" charset="-122"/>
                <a:cs typeface="Inter" pitchFamily="34" charset="-120"/>
              </a:rPr>
              <a:t>Comprehensive Analysis: Technical Achievements and Course Learning</a:t>
            </a:r>
            <a:endParaRPr lang="en-US" sz="1710" dirty="0"/>
          </a:p>
        </p:txBody>
      </p:sp>
      <p:sp>
        <p:nvSpPr>
          <p:cNvPr id="8" name="Shape 5"/>
          <p:cNvSpPr/>
          <p:nvPr/>
        </p:nvSpPr>
        <p:spPr>
          <a:xfrm>
            <a:off x="377186" y="630936"/>
            <a:ext cx="8263890" cy="192024"/>
          </a:xfrm>
          <a:prstGeom prst="rect">
            <a:avLst/>
          </a:prstGeom>
          <a:noFill/>
          <a:ln/>
        </p:spPr>
        <p:txBody>
          <a:bodyPr/>
          <a:lstStyle/>
          <a:p>
            <a:endParaRPr lang="en-US"/>
          </a:p>
        </p:txBody>
      </p:sp>
      <p:sp>
        <p:nvSpPr>
          <p:cNvPr id="9" name="Shape 6"/>
          <p:cNvSpPr/>
          <p:nvPr/>
        </p:nvSpPr>
        <p:spPr>
          <a:xfrm>
            <a:off x="377186" y="630936"/>
            <a:ext cx="8263890" cy="192024"/>
          </a:xfrm>
          <a:prstGeom prst="rect">
            <a:avLst/>
          </a:prstGeom>
          <a:noFill/>
          <a:ln/>
        </p:spPr>
        <p:txBody>
          <a:bodyPr/>
          <a:lstStyle/>
          <a:p>
            <a:endParaRPr lang="en-US"/>
          </a:p>
        </p:txBody>
      </p:sp>
      <p:sp>
        <p:nvSpPr>
          <p:cNvPr id="10" name="Text 7"/>
          <p:cNvSpPr/>
          <p:nvPr/>
        </p:nvSpPr>
        <p:spPr>
          <a:xfrm>
            <a:off x="377186" y="630936"/>
            <a:ext cx="8263890" cy="192024"/>
          </a:xfrm>
          <a:prstGeom prst="rect">
            <a:avLst/>
          </a:prstGeom>
          <a:noFill/>
          <a:ln/>
        </p:spPr>
        <p:txBody>
          <a:bodyPr wrap="square" lIns="0" tIns="0" rIns="0" bIns="0" rtlCol="0" anchor="ctr"/>
          <a:lstStyle/>
          <a:p>
            <a:pPr marL="0" indent="0" algn="l">
              <a:lnSpc>
                <a:spcPts val="992"/>
              </a:lnSpc>
              <a:buNone/>
            </a:pPr>
            <a:r>
              <a:rPr lang="en-US" sz="819" i="1" dirty="0">
                <a:solidFill>
                  <a:srgbClr val="66746E">
                    <a:alpha val="99000"/>
                  </a:srgbClr>
                </a:solidFill>
                <a:latin typeface="Inter" pitchFamily="34" charset="0"/>
                <a:ea typeface="Inter" pitchFamily="34" charset="-122"/>
                <a:cs typeface="Inter" pitchFamily="34" charset="-120"/>
              </a:rPr>
              <a:t>Close the presentation by summarizing the technical achievements, integration work, and final CSC506 learning outcomes.</a:t>
            </a:r>
            <a:endParaRPr lang="en-US" sz="819" dirty="0"/>
          </a:p>
        </p:txBody>
      </p:sp>
      <p:sp>
        <p:nvSpPr>
          <p:cNvPr id="11" name="Shape 8"/>
          <p:cNvSpPr/>
          <p:nvPr/>
        </p:nvSpPr>
        <p:spPr>
          <a:xfrm>
            <a:off x="377186" y="870966"/>
            <a:ext cx="8263890" cy="0"/>
          </a:xfrm>
          <a:prstGeom prst="rect">
            <a:avLst/>
          </a:prstGeom>
          <a:noFill/>
          <a:ln w="4524">
            <a:solidFill>
              <a:srgbClr val="D3A93A"/>
            </a:solidFill>
            <a:prstDash val="solid"/>
          </a:ln>
        </p:spPr>
        <p:txBody>
          <a:bodyPr/>
          <a:lstStyle/>
          <a:p>
            <a:endParaRPr lang="en-US"/>
          </a:p>
        </p:txBody>
      </p:sp>
      <p:sp>
        <p:nvSpPr>
          <p:cNvPr id="12" name="Shape 9"/>
          <p:cNvSpPr/>
          <p:nvPr/>
        </p:nvSpPr>
        <p:spPr>
          <a:xfrm>
            <a:off x="425193" y="1110996"/>
            <a:ext cx="3737610" cy="3737610"/>
          </a:xfrm>
          <a:prstGeom prst="rect">
            <a:avLst/>
          </a:prstGeom>
          <a:solidFill>
            <a:srgbClr val="FFFFFF">
              <a:alpha val="97000"/>
            </a:srgbClr>
          </a:solidFill>
          <a:ln w="3620">
            <a:solidFill>
              <a:srgbClr val="D8DFDA">
                <a:alpha val="80000"/>
              </a:srgbClr>
            </a:solidFill>
            <a:prstDash val="solid"/>
          </a:ln>
        </p:spPr>
        <p:txBody>
          <a:bodyPr/>
          <a:lstStyle/>
          <a:p>
            <a:endParaRPr lang="en-US"/>
          </a:p>
        </p:txBody>
      </p:sp>
      <p:sp>
        <p:nvSpPr>
          <p:cNvPr id="13" name="Shape 10"/>
          <p:cNvSpPr/>
          <p:nvPr/>
        </p:nvSpPr>
        <p:spPr>
          <a:xfrm>
            <a:off x="617218" y="1282446"/>
            <a:ext cx="3326130" cy="192024"/>
          </a:xfrm>
          <a:prstGeom prst="rect">
            <a:avLst/>
          </a:prstGeom>
          <a:noFill/>
          <a:ln/>
        </p:spPr>
        <p:txBody>
          <a:bodyPr/>
          <a:lstStyle/>
          <a:p>
            <a:endParaRPr lang="en-US"/>
          </a:p>
        </p:txBody>
      </p:sp>
      <p:sp>
        <p:nvSpPr>
          <p:cNvPr id="14" name="Shape 11"/>
          <p:cNvSpPr/>
          <p:nvPr/>
        </p:nvSpPr>
        <p:spPr>
          <a:xfrm>
            <a:off x="617218" y="1282446"/>
            <a:ext cx="3326130" cy="192024"/>
          </a:xfrm>
          <a:prstGeom prst="rect">
            <a:avLst/>
          </a:prstGeom>
          <a:noFill/>
          <a:ln/>
        </p:spPr>
        <p:txBody>
          <a:bodyPr/>
          <a:lstStyle/>
          <a:p>
            <a:endParaRPr lang="en-US"/>
          </a:p>
        </p:txBody>
      </p:sp>
      <p:sp>
        <p:nvSpPr>
          <p:cNvPr id="16" name="Shape 13"/>
          <p:cNvSpPr/>
          <p:nvPr/>
        </p:nvSpPr>
        <p:spPr>
          <a:xfrm>
            <a:off x="644649" y="1693926"/>
            <a:ext cx="3257550" cy="720090"/>
          </a:xfrm>
          <a:prstGeom prst="rect">
            <a:avLst/>
          </a:prstGeom>
          <a:noFill/>
          <a:ln/>
        </p:spPr>
        <p:txBody>
          <a:bodyPr/>
          <a:lstStyle/>
          <a:p>
            <a:endParaRPr lang="en-US"/>
          </a:p>
        </p:txBody>
      </p:sp>
      <p:sp>
        <p:nvSpPr>
          <p:cNvPr id="17" name="Shape 14"/>
          <p:cNvSpPr/>
          <p:nvPr/>
        </p:nvSpPr>
        <p:spPr>
          <a:xfrm>
            <a:off x="644649" y="1693926"/>
            <a:ext cx="3257550" cy="720090"/>
          </a:xfrm>
          <a:prstGeom prst="rect">
            <a:avLst/>
          </a:prstGeom>
          <a:noFill/>
          <a:ln/>
        </p:spPr>
        <p:txBody>
          <a:bodyPr/>
          <a:lstStyle/>
          <a:p>
            <a:endParaRPr lang="en-US"/>
          </a:p>
        </p:txBody>
      </p:sp>
      <p:sp>
        <p:nvSpPr>
          <p:cNvPr id="18" name="Text 15"/>
          <p:cNvSpPr/>
          <p:nvPr/>
        </p:nvSpPr>
        <p:spPr>
          <a:xfrm>
            <a:off x="644649" y="1693926"/>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final summary of the complete technical achievement.</a:t>
            </a:r>
            <a:endParaRPr lang="en-US" sz="1568" dirty="0"/>
          </a:p>
        </p:txBody>
      </p:sp>
      <p:sp>
        <p:nvSpPr>
          <p:cNvPr id="19" name="Shape 16"/>
          <p:cNvSpPr/>
          <p:nvPr/>
        </p:nvSpPr>
        <p:spPr>
          <a:xfrm>
            <a:off x="644649" y="2667762"/>
            <a:ext cx="3257550" cy="720090"/>
          </a:xfrm>
          <a:prstGeom prst="rect">
            <a:avLst/>
          </a:prstGeom>
          <a:noFill/>
          <a:ln/>
        </p:spPr>
        <p:txBody>
          <a:bodyPr/>
          <a:lstStyle/>
          <a:p>
            <a:endParaRPr lang="en-US"/>
          </a:p>
        </p:txBody>
      </p:sp>
      <p:sp>
        <p:nvSpPr>
          <p:cNvPr id="20" name="Shape 17"/>
          <p:cNvSpPr/>
          <p:nvPr/>
        </p:nvSpPr>
        <p:spPr>
          <a:xfrm>
            <a:off x="644649" y="2667762"/>
            <a:ext cx="3257550" cy="720090"/>
          </a:xfrm>
          <a:prstGeom prst="rect">
            <a:avLst/>
          </a:prstGeom>
          <a:noFill/>
          <a:ln/>
        </p:spPr>
        <p:txBody>
          <a:bodyPr/>
          <a:lstStyle/>
          <a:p>
            <a:endParaRPr lang="en-US"/>
          </a:p>
        </p:txBody>
      </p:sp>
      <p:sp>
        <p:nvSpPr>
          <p:cNvPr id="21" name="Text 18"/>
          <p:cNvSpPr/>
          <p:nvPr/>
        </p:nvSpPr>
        <p:spPr>
          <a:xfrm>
            <a:off x="644649" y="2667762"/>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project combines implementation, testing, visualization, and analysis.</a:t>
            </a:r>
            <a:endParaRPr lang="en-US" sz="1568" dirty="0"/>
          </a:p>
        </p:txBody>
      </p:sp>
      <p:sp>
        <p:nvSpPr>
          <p:cNvPr id="22" name="Shape 19"/>
          <p:cNvSpPr/>
          <p:nvPr/>
        </p:nvSpPr>
        <p:spPr>
          <a:xfrm>
            <a:off x="644649" y="3641599"/>
            <a:ext cx="3257550" cy="720090"/>
          </a:xfrm>
          <a:prstGeom prst="rect">
            <a:avLst/>
          </a:prstGeom>
          <a:noFill/>
          <a:ln/>
        </p:spPr>
        <p:txBody>
          <a:bodyPr/>
          <a:lstStyle/>
          <a:p>
            <a:endParaRPr lang="en-US"/>
          </a:p>
        </p:txBody>
      </p:sp>
      <p:sp>
        <p:nvSpPr>
          <p:cNvPr id="23" name="Shape 20"/>
          <p:cNvSpPr/>
          <p:nvPr/>
        </p:nvSpPr>
        <p:spPr>
          <a:xfrm>
            <a:off x="644649" y="3641599"/>
            <a:ext cx="3257550" cy="720090"/>
          </a:xfrm>
          <a:prstGeom prst="rect">
            <a:avLst/>
          </a:prstGeom>
          <a:noFill/>
          <a:ln/>
        </p:spPr>
        <p:txBody>
          <a:bodyPr/>
          <a:lstStyle/>
          <a:p>
            <a:endParaRPr lang="en-US"/>
          </a:p>
        </p:txBody>
      </p:sp>
      <p:sp>
        <p:nvSpPr>
          <p:cNvPr id="24" name="Text 21"/>
          <p:cNvSpPr/>
          <p:nvPr/>
        </p:nvSpPr>
        <p:spPr>
          <a:xfrm>
            <a:off x="644649" y="3641599"/>
            <a:ext cx="3257550" cy="720090"/>
          </a:xfrm>
          <a:prstGeom prst="rect">
            <a:avLst/>
          </a:prstGeom>
          <a:noFill/>
          <a:ln/>
        </p:spPr>
        <p:txBody>
          <a:bodyPr wrap="square" lIns="0" tIns="0" rIns="0" bIns="0" rtlCol="0" anchor="ctr"/>
          <a:lstStyle/>
          <a:p>
            <a:pPr marL="0" indent="0" algn="l">
              <a:lnSpc>
                <a:spcPts val="1897"/>
              </a:lnSpc>
              <a:buNone/>
            </a:pPr>
            <a:r>
              <a:rPr lang="en-US" sz="1568" dirty="0">
                <a:solidFill>
                  <a:srgbClr val="34423D">
                    <a:alpha val="99000"/>
                  </a:srgbClr>
                </a:solidFill>
                <a:latin typeface="Inter" pitchFamily="34" charset="0"/>
                <a:ea typeface="Inter" pitchFamily="34" charset="-122"/>
                <a:cs typeface="Inter" pitchFamily="34" charset="-120"/>
              </a:rPr>
              <a:t>- The portfolio demonstrates theory, measurement, and recommendation together.</a:t>
            </a:r>
            <a:endParaRPr lang="en-US" sz="1568" dirty="0"/>
          </a:p>
        </p:txBody>
      </p:sp>
      <p:sp>
        <p:nvSpPr>
          <p:cNvPr id="25" name="Shape 22"/>
          <p:cNvSpPr/>
          <p:nvPr/>
        </p:nvSpPr>
        <p:spPr>
          <a:xfrm>
            <a:off x="4800600" y="1083564"/>
            <a:ext cx="3874770" cy="3703320"/>
          </a:xfrm>
          <a:prstGeom prst="rect">
            <a:avLst/>
          </a:prstGeom>
          <a:solidFill>
            <a:srgbClr val="FFFFFF"/>
          </a:solidFill>
          <a:ln w="3620">
            <a:solidFill>
              <a:srgbClr val="D8DFDA">
                <a:alpha val="95000"/>
              </a:srgbClr>
            </a:solidFill>
            <a:prstDash val="solid"/>
          </a:ln>
        </p:spPr>
        <p:txBody>
          <a:bodyPr/>
          <a:lstStyle/>
          <a:p>
            <a:endParaRPr lang="en-US"/>
          </a:p>
        </p:txBody>
      </p:sp>
      <p:pic>
        <p:nvPicPr>
          <p:cNvPr id="26" name="Image 0" descr="preencoded.png"/>
          <p:cNvPicPr>
            <a:picLocks noChangeAspect="1"/>
          </p:cNvPicPr>
          <p:nvPr/>
        </p:nvPicPr>
        <p:blipFill>
          <a:blip r:embed="rId3"/>
          <a:srcRect/>
          <a:stretch/>
        </p:blipFill>
        <p:spPr>
          <a:xfrm>
            <a:off x="5680677" y="1083564"/>
            <a:ext cx="2114624" cy="3703320"/>
          </a:xfrm>
          <a:prstGeom prst="rect">
            <a:avLst/>
          </a:prstGeom>
        </p:spPr>
      </p:pic>
      <p:sp>
        <p:nvSpPr>
          <p:cNvPr id="27" name="Shape 23"/>
          <p:cNvSpPr/>
          <p:nvPr/>
        </p:nvSpPr>
        <p:spPr>
          <a:xfrm>
            <a:off x="8606786" y="4834890"/>
            <a:ext cx="240030" cy="102870"/>
          </a:xfrm>
          <a:prstGeom prst="rect">
            <a:avLst/>
          </a:prstGeom>
          <a:noFill/>
          <a:ln/>
        </p:spPr>
        <p:txBody>
          <a:bodyPr/>
          <a:lstStyle/>
          <a:p>
            <a:endParaRPr lang="en-US"/>
          </a:p>
        </p:txBody>
      </p:sp>
      <p:sp>
        <p:nvSpPr>
          <p:cNvPr id="28" name="Shape 24"/>
          <p:cNvSpPr/>
          <p:nvPr/>
        </p:nvSpPr>
        <p:spPr>
          <a:xfrm>
            <a:off x="8606786" y="4834890"/>
            <a:ext cx="240030" cy="102870"/>
          </a:xfrm>
          <a:prstGeom prst="rect">
            <a:avLst/>
          </a:prstGeom>
          <a:noFill/>
          <a:ln/>
        </p:spPr>
        <p:txBody>
          <a:bodyPr/>
          <a:lstStyle/>
          <a:p>
            <a:endParaRPr lang="en-US"/>
          </a:p>
        </p:txBody>
      </p:sp>
      <p:sp>
        <p:nvSpPr>
          <p:cNvPr id="29" name="Text 25"/>
          <p:cNvSpPr/>
          <p:nvPr/>
        </p:nvSpPr>
        <p:spPr>
          <a:xfrm>
            <a:off x="8606786" y="4834890"/>
            <a:ext cx="240030" cy="102870"/>
          </a:xfrm>
          <a:prstGeom prst="rect">
            <a:avLst/>
          </a:prstGeom>
          <a:noFill/>
          <a:ln/>
        </p:spPr>
        <p:txBody>
          <a:bodyPr wrap="square" lIns="0" tIns="0" rIns="0" bIns="0" rtlCol="0" anchor="ctr"/>
          <a:lstStyle/>
          <a:p>
            <a:pPr marL="0" indent="0" algn="l">
              <a:lnSpc>
                <a:spcPts val="517"/>
              </a:lnSpc>
              <a:buNone/>
            </a:pPr>
            <a:r>
              <a:rPr lang="en-US" sz="427" dirty="0">
                <a:solidFill>
                  <a:srgbClr val="66746E">
                    <a:alpha val="99000"/>
                  </a:srgbClr>
                </a:solidFill>
                <a:latin typeface="Inter" pitchFamily="34" charset="0"/>
                <a:ea typeface="Inter" pitchFamily="34" charset="-122"/>
                <a:cs typeface="Inter" pitchFamily="34" charset="-120"/>
              </a:rPr>
              <a:t>35</a:t>
            </a:r>
            <a:endParaRPr lang="en-US" sz="427" dirty="0"/>
          </a:p>
        </p:txBody>
      </p:sp>
      <p:sp>
        <p:nvSpPr>
          <p:cNvPr id="2" name="Text 12">
            <a:extLst>
              <a:ext uri="{FF2B5EF4-FFF2-40B4-BE49-F238E27FC236}">
                <a16:creationId xmlns:a16="http://schemas.microsoft.com/office/drawing/2014/main" id="{EE48E140-CF77-A1BA-20EF-C65E3DAE57F1}"/>
              </a:ext>
            </a:extLst>
          </p:cNvPr>
          <p:cNvSpPr/>
          <p:nvPr/>
        </p:nvSpPr>
        <p:spPr>
          <a:xfrm>
            <a:off x="644649" y="1405889"/>
            <a:ext cx="3326130" cy="192024"/>
          </a:xfrm>
          <a:prstGeom prst="rect">
            <a:avLst/>
          </a:prstGeom>
          <a:noFill/>
          <a:ln/>
        </p:spPr>
        <p:txBody>
          <a:bodyPr wrap="square" lIns="0" tIns="0" rIns="0" bIns="0" rtlCol="0" anchor="ctr"/>
          <a:lstStyle/>
          <a:p>
            <a:pPr marL="0" indent="0" algn="l">
              <a:lnSpc>
                <a:spcPts val="1035"/>
              </a:lnSpc>
              <a:buNone/>
            </a:pPr>
            <a:r>
              <a:rPr lang="en-US" sz="855" b="1" dirty="0">
                <a:solidFill>
                  <a:srgbClr val="2F7D59">
                    <a:alpha val="99000"/>
                  </a:srgbClr>
                </a:solidFill>
                <a:latin typeface="Inter" pitchFamily="34" charset="0"/>
                <a:ea typeface="Inter" pitchFamily="34" charset="-122"/>
                <a:cs typeface="Inter" pitchFamily="34" charset="-120"/>
              </a:rPr>
              <a:t>Key Takeaway</a:t>
            </a:r>
            <a:endParaRPr lang="en-US" sz="85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core.xml><?xml version="1.0" encoding="utf-8"?>
<cp:coreProperties xmlns:cp="http://schemas.openxmlformats.org/package/2006/metadata/core-properties" xmlns:dc="http://purl.org/dc/elements/1.1/">
  <dc:creator>Alexander S. Ricciardi</dc:creator>
</cp:coreProperties>
</file>